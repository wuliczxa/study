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58.xml" ContentType="application/vnd.openxmlformats-officedocument.presentationml.tags+xml"/>
  <Override PartName="/ppt/charts/chart4.xml" ContentType="application/vnd.openxmlformats-officedocument.drawingml.chart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99" r:id="rId2"/>
    <p:sldId id="300" r:id="rId3"/>
    <p:sldId id="301" r:id="rId4"/>
    <p:sldId id="308" r:id="rId5"/>
    <p:sldId id="325" r:id="rId6"/>
    <p:sldId id="303" r:id="rId7"/>
    <p:sldId id="310" r:id="rId8"/>
    <p:sldId id="304" r:id="rId9"/>
    <p:sldId id="311" r:id="rId10"/>
    <p:sldId id="307" r:id="rId11"/>
    <p:sldId id="326" r:id="rId12"/>
    <p:sldId id="305" r:id="rId13"/>
    <p:sldId id="315" r:id="rId14"/>
    <p:sldId id="316" r:id="rId15"/>
    <p:sldId id="317" r:id="rId16"/>
    <p:sldId id="319" r:id="rId17"/>
    <p:sldId id="323" r:id="rId18"/>
    <p:sldId id="324" r:id="rId19"/>
    <p:sldId id="320" r:id="rId20"/>
    <p:sldId id="322" r:id="rId21"/>
    <p:sldId id="321" r:id="rId22"/>
    <p:sldId id="302" r:id="rId23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38" userDrawn="1">
          <p15:clr>
            <a:srgbClr val="A4A3A4"/>
          </p15:clr>
        </p15:guide>
        <p15:guide id="2" pos="7229" userDrawn="1">
          <p15:clr>
            <a:srgbClr val="A4A3A4"/>
          </p15:clr>
        </p15:guide>
        <p15:guide id="3" orient="horz" pos="666" userDrawn="1">
          <p15:clr>
            <a:srgbClr val="A4A3A4"/>
          </p15:clr>
        </p15:guide>
        <p15:guide id="4" orient="horz" pos="728" userDrawn="1">
          <p15:clr>
            <a:srgbClr val="A4A3A4"/>
          </p15:clr>
        </p15:guide>
        <p15:guide id="5" orient="horz" pos="3922" userDrawn="1">
          <p15:clr>
            <a:srgbClr val="A4A3A4"/>
          </p15:clr>
        </p15:guide>
        <p15:guide id="6" orient="horz" pos="386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8" y="408"/>
      </p:cViewPr>
      <p:guideLst>
        <p:guide pos="438"/>
        <p:guide pos="7229"/>
        <p:guide orient="horz" pos="666"/>
        <p:guide orient="horz" pos="728"/>
        <p:guide orient="horz" pos="3922"/>
        <p:guide orient="horz" pos="386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4FE-4D83-A608-B42218726F7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4FE-4D83-A608-B42218726F7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4FE-4D83-A608-B42218726F7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4FE-4D83-A608-B42218726F73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4FE-4D83-A608-B42218726F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15cbee3-966d-49f0-b69b-a8f2ada96c48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</a:defRPr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80C2-47C3-938A-69775CF0CB3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80C2-47C3-938A-69775CF0CB3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80C2-47C3-938A-69775CF0CB3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80C2-47C3-938A-69775CF0CB36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0C2-47C3-938A-69775CF0CB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2acac4bc-f55a-43e1-a1da-daa5b1806ddf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</a:defRPr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B896-4594-9C73-9F5F2BBDC2C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B896-4594-9C73-9F5F2BBDC2CC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B896-4594-9C73-9F5F2BBDC2CC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B896-4594-9C73-9F5F2BBDC2CC}"/>
              </c:ext>
            </c:extLst>
          </c:dPt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896-4594-9C73-9F5F2BBDC2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9361d91-fe48-42ea-8599-ad1e92097c96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</a:defRPr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AF-4D07-B495-2AE9A33697C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AF-4D07-B495-2AE9A33697CA}"/>
              </c:ext>
            </c:extLst>
          </c:dPt>
          <c:cat>
            <c:strRef>
              <c:f>Sheet1!$A$2:$A$3</c:f>
              <c:strCache>
                <c:ptCount val="2"/>
                <c:pt idx="0">
                  <c:v>第一季度</c:v>
                </c:pt>
                <c:pt idx="1">
                  <c:v>第二季度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AF-4D07-B495-2AE9A3369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9d7ecb4-ae37-4c8a-b365-330690900b97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  <a:latin typeface="OPPOSans R" panose="00020600040101010101" pitchFamily="18" charset="-122"/>
          <a:ea typeface="OPPOSans R" panose="00020600040101010101" pitchFamily="18" charset="-122"/>
          <a:cs typeface="OPPOSans R" panose="00020600040101010101" pitchFamily="18" charset="-122"/>
        </a:defRPr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5640975C-B837-4D6E-844D-7C645303B726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fld id="{56E84C2C-40E2-4F7A-AD16-1F4FF2C99AF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Normal" panose="020B0400000000000000" pitchFamily="34" charset="-122"/>
        <a:ea typeface="思源黑体 CN Normal" panose="020B0400000000000000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image" Target="../media/image2.png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5" Type="http://schemas.openxmlformats.org/officeDocument/2006/relationships/tags" Target="../tags/tag34.xml"/><Relationship Id="rId10" Type="http://schemas.openxmlformats.org/officeDocument/2006/relationships/tags" Target="../tags/tag39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9.sv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image" Target="../media/image8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7.svg"/><Relationship Id="rId5" Type="http://schemas.openxmlformats.org/officeDocument/2006/relationships/tags" Target="../tags/tag47.xml"/><Relationship Id="rId10" Type="http://schemas.openxmlformats.org/officeDocument/2006/relationships/image" Target="../media/image6.png"/><Relationship Id="rId4" Type="http://schemas.openxmlformats.org/officeDocument/2006/relationships/tags" Target="../tags/tag46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image" Target="../media/image13.png"/><Relationship Id="rId3" Type="http://schemas.openxmlformats.org/officeDocument/2006/relationships/tags" Target="../tags/tag54.xml"/><Relationship Id="rId7" Type="http://schemas.openxmlformats.org/officeDocument/2006/relationships/slideLayout" Target="../slideLayouts/slideLayout1.xml"/><Relationship Id="rId12" Type="http://schemas.openxmlformats.org/officeDocument/2006/relationships/image" Target="../media/image12.jpe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image" Target="../media/image11.jpeg"/><Relationship Id="rId5" Type="http://schemas.openxmlformats.org/officeDocument/2006/relationships/tags" Target="../tags/tag56.xml"/><Relationship Id="rId10" Type="http://schemas.openxmlformats.org/officeDocument/2006/relationships/chart" Target="../charts/chart3.xml"/><Relationship Id="rId4" Type="http://schemas.openxmlformats.org/officeDocument/2006/relationships/tags" Target="../tags/tag55.xml"/><Relationship Id="rId9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svg"/><Relationship Id="rId7" Type="http://schemas.openxmlformats.org/officeDocument/2006/relationships/image" Target="../media/image41.svg"/><Relationship Id="rId12" Type="http://schemas.openxmlformats.org/officeDocument/2006/relationships/chart" Target="../charts/chart4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5.svg"/><Relationship Id="rId5" Type="http://schemas.openxmlformats.org/officeDocument/2006/relationships/image" Target="../media/image39.sv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9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sv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sv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0" Type="http://schemas.openxmlformats.org/officeDocument/2006/relationships/image" Target="../media/image56.svg"/><Relationship Id="rId4" Type="http://schemas.openxmlformats.org/officeDocument/2006/relationships/image" Target="../media/image50.svg"/><Relationship Id="rId9" Type="http://schemas.openxmlformats.org/officeDocument/2006/relationships/image" Target="../media/image55.png"/><Relationship Id="rId14" Type="http://schemas.openxmlformats.org/officeDocument/2006/relationships/image" Target="../media/image60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5.sv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svg"/><Relationship Id="rId7" Type="http://schemas.openxmlformats.org/officeDocument/2006/relationships/image" Target="../media/image72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svg"/><Relationship Id="rId5" Type="http://schemas.openxmlformats.org/officeDocument/2006/relationships/image" Target="../media/image70.sv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image" Target="../media/image35.png"/><Relationship Id="rId4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588925" y="1068003"/>
            <a:ext cx="10053675" cy="13875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500" b="1" kern="100" dirty="0">
                <a:ln w="12700">
                  <a:solidFill>
                    <a:schemeClr val="accent1">
                      <a:alpha val="13000"/>
                    </a:schemeClr>
                  </a:solidFill>
                </a:ln>
                <a:noFill/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PROGRAM</a:t>
            </a:r>
          </a:p>
        </p:txBody>
      </p:sp>
      <p:sp>
        <p:nvSpPr>
          <p:cNvPr id="2" name="椭圆 1"/>
          <p:cNvSpPr/>
          <p:nvPr/>
        </p:nvSpPr>
        <p:spPr>
          <a:xfrm>
            <a:off x="11224249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87055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516863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163171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17669" y="792480"/>
            <a:ext cx="66707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538476" y="545737"/>
            <a:ext cx="2638145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18" name="矩形: 圆角 17"/>
          <p:cNvSpPr/>
          <p:nvPr/>
        </p:nvSpPr>
        <p:spPr>
          <a:xfrm>
            <a:off x="695325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850394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987723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TEMPERATURE</a:t>
            </a:r>
          </a:p>
        </p:txBody>
      </p:sp>
      <p:sp>
        <p:nvSpPr>
          <p:cNvPr id="37" name="矩形: 圆角 36"/>
          <p:cNvSpPr/>
          <p:nvPr/>
        </p:nvSpPr>
        <p:spPr>
          <a:xfrm>
            <a:off x="3539066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3694135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3831464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HUMIDITY</a:t>
            </a:r>
          </a:p>
        </p:txBody>
      </p:sp>
      <p:sp>
        <p:nvSpPr>
          <p:cNvPr id="41" name="矩形: 圆角 40"/>
          <p:cNvSpPr/>
          <p:nvPr/>
        </p:nvSpPr>
        <p:spPr>
          <a:xfrm>
            <a:off x="6382807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>
            <a:off x="6537876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6675205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COLLECTION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9226549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>
            <a:off x="9381618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9518947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MONITORING</a:t>
            </a:r>
          </a:p>
        </p:txBody>
      </p:sp>
      <p:sp>
        <p:nvSpPr>
          <p:cNvPr id="48" name="矩形: 圆角 47"/>
          <p:cNvSpPr/>
          <p:nvPr>
            <p:custDataLst>
              <p:tags r:id="rId1"/>
            </p:custDataLst>
          </p:nvPr>
        </p:nvSpPr>
        <p:spPr>
          <a:xfrm>
            <a:off x="695325" y="2923215"/>
            <a:ext cx="6047723" cy="229088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6070" tIns="53035" rIns="106070" bIns="53035" rtlCol="0" anchor="ctr"/>
          <a:lstStyle/>
          <a:p>
            <a:pPr algn="ctr"/>
            <a:endParaRPr lang="zh-CN" altLang="en-US" sz="2090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370691" y="2082435"/>
            <a:ext cx="6676296" cy="106458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altLang="zh-CN" sz="6000" b="1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温湿度采集</a:t>
            </a:r>
            <a:r>
              <a:rPr lang="zh-CN" altLang="en-US" sz="6000" b="1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与监测</a:t>
            </a:r>
            <a:endParaRPr lang="en-US" altLang="zh-CN" sz="6000" dirty="0">
              <a:solidFill>
                <a:schemeClr val="bg1"/>
              </a:solidFill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18898" y="3432214"/>
            <a:ext cx="6047723" cy="58923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200" dirty="0">
                <a:solidFill>
                  <a:schemeClr val="accent1"/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项目设计与实现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718900" y="4093876"/>
            <a:ext cx="5771980" cy="2290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Temperature and Humidity Collection and Monitoring</a:t>
            </a:r>
          </a:p>
        </p:txBody>
      </p:sp>
      <p:cxnSp>
        <p:nvCxnSpPr>
          <p:cNvPr id="57" name="直接连接符 56"/>
          <p:cNvCxnSpPr/>
          <p:nvPr/>
        </p:nvCxnSpPr>
        <p:spPr>
          <a:xfrm flipH="1">
            <a:off x="11476353" y="1058779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11224249" y="2349599"/>
            <a:ext cx="378826" cy="2331227"/>
          </a:xfrm>
          <a:prstGeom prst="rect">
            <a:avLst/>
          </a:prstGeom>
          <a:noFill/>
        </p:spPr>
        <p:txBody>
          <a:bodyPr vert="eaVert" wrap="none" lIns="0" tIns="0" rIns="0" bIns="0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DESIGN IMPLEMENTATION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cxnSp>
        <p:nvCxnSpPr>
          <p:cNvPr id="61" name="直接连接符 60"/>
          <p:cNvCxnSpPr/>
          <p:nvPr/>
        </p:nvCxnSpPr>
        <p:spPr>
          <a:xfrm flipH="1">
            <a:off x="11476353" y="4833325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/>
        </p:nvSpPr>
        <p:spPr>
          <a:xfrm>
            <a:off x="695325" y="4632887"/>
            <a:ext cx="505098" cy="5050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1200150" y="4759402"/>
            <a:ext cx="2026920" cy="4070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汇报人：李吉聪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3780426" y="4759402"/>
            <a:ext cx="3155110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时间：</a:t>
            </a:r>
            <a:r>
              <a:rPr lang="en-US" altLang="zh-CN" sz="2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2025.12.31</a:t>
            </a:r>
            <a:endParaRPr lang="zh-CN" altLang="en-US" sz="2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3727189" y="4632887"/>
            <a:ext cx="505098" cy="5050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/>
          <p:cNvGrpSpPr/>
          <p:nvPr/>
        </p:nvGrpSpPr>
        <p:grpSpPr>
          <a:xfrm>
            <a:off x="846727" y="4766006"/>
            <a:ext cx="211961" cy="211961"/>
            <a:chOff x="7832" y="7296"/>
            <a:chExt cx="454" cy="454"/>
          </a:xfrm>
        </p:grpSpPr>
        <p:sp>
          <p:nvSpPr>
            <p:cNvPr id="79" name="泪滴形 78"/>
            <p:cNvSpPr/>
            <p:nvPr/>
          </p:nvSpPr>
          <p:spPr>
            <a:xfrm rot="8100000">
              <a:off x="7832" y="7296"/>
              <a:ext cx="455" cy="455"/>
            </a:xfrm>
            <a:prstGeom prst="teardrop">
              <a:avLst>
                <a:gd name="adj" fmla="val 9946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7986" y="7450"/>
              <a:ext cx="147" cy="1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3862552" y="4777437"/>
            <a:ext cx="234371" cy="218964"/>
            <a:chOff x="12668" y="5115"/>
            <a:chExt cx="502" cy="469"/>
          </a:xfrm>
        </p:grpSpPr>
        <p:sp>
          <p:nvSpPr>
            <p:cNvPr id="82" name="矩形: 圆角 81"/>
            <p:cNvSpPr/>
            <p:nvPr/>
          </p:nvSpPr>
          <p:spPr>
            <a:xfrm>
              <a:off x="12668" y="5115"/>
              <a:ext cx="503" cy="370"/>
            </a:xfrm>
            <a:prstGeom prst="roundRect">
              <a:avLst>
                <a:gd name="adj" fmla="val 2297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: 圆角 82"/>
            <p:cNvSpPr/>
            <p:nvPr/>
          </p:nvSpPr>
          <p:spPr>
            <a:xfrm>
              <a:off x="12778" y="5528"/>
              <a:ext cx="283" cy="57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12801" y="5215"/>
              <a:ext cx="238" cy="170"/>
              <a:chOff x="12778" y="5190"/>
              <a:chExt cx="238" cy="170"/>
            </a:xfrm>
          </p:grpSpPr>
          <p:sp>
            <p:nvSpPr>
              <p:cNvPr id="85" name="矩形: 圆角 84"/>
              <p:cNvSpPr/>
              <p:nvPr/>
            </p:nvSpPr>
            <p:spPr>
              <a:xfrm>
                <a:off x="12778" y="5275"/>
                <a:ext cx="45" cy="8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: 圆角 85"/>
              <p:cNvSpPr/>
              <p:nvPr>
                <p:custDataLst>
                  <p:tags r:id="rId2"/>
                </p:custDataLst>
              </p:nvPr>
            </p:nvSpPr>
            <p:spPr>
              <a:xfrm>
                <a:off x="12875" y="5230"/>
                <a:ext cx="45" cy="13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矩形: 圆角 86"/>
              <p:cNvSpPr/>
              <p:nvPr>
                <p:custDataLst>
                  <p:tags r:id="rId3"/>
                </p:custDataLst>
              </p:nvPr>
            </p:nvSpPr>
            <p:spPr>
              <a:xfrm>
                <a:off x="12972" y="5190"/>
                <a:ext cx="45" cy="17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917ACB8-71D0-D3FE-88EF-44694BE6F1FA}"/>
              </a:ext>
            </a:extLst>
          </p:cNvPr>
          <p:cNvSpPr txBox="1"/>
          <p:nvPr/>
        </p:nvSpPr>
        <p:spPr>
          <a:xfrm>
            <a:off x="803942" y="5466518"/>
            <a:ext cx="5292058" cy="4070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其他成员：温志超、陈梓欣、明鑫、白甲鑫、吕明昊</a:t>
            </a:r>
          </a:p>
        </p:txBody>
      </p:sp>
      <p:pic>
        <p:nvPicPr>
          <p:cNvPr id="5" name="图片 4" descr="电脑游戏画面&#10;&#10;AI 生成的内容可能不正确。">
            <a:extLst>
              <a:ext uri="{FF2B5EF4-FFF2-40B4-BE49-F238E27FC236}">
                <a16:creationId xmlns:a16="http://schemas.microsoft.com/office/drawing/2014/main" id="{326E0E62-3059-3041-B65D-09C47A6C04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279" y="990433"/>
            <a:ext cx="4462678" cy="48014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 flipH="1">
            <a:off x="1321445" y="1001624"/>
            <a:ext cx="10053675" cy="13875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r"/>
            <a:r>
              <a:rPr lang="en-US" altLang="zh-CN" sz="11500" b="1" kern="100" dirty="0">
                <a:ln w="12700">
                  <a:solidFill>
                    <a:schemeClr val="accent1">
                      <a:alpha val="13000"/>
                    </a:schemeClr>
                  </a:solidFill>
                </a:ln>
                <a:noFill/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PROGRAM</a:t>
            </a:r>
          </a:p>
        </p:txBody>
      </p:sp>
      <p:sp>
        <p:nvSpPr>
          <p:cNvPr id="2" name="椭圆 1"/>
          <p:cNvSpPr/>
          <p:nvPr/>
        </p:nvSpPr>
        <p:spPr>
          <a:xfrm flipH="1">
            <a:off x="695326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 flipH="1">
            <a:off x="1049020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 flipH="1">
            <a:off x="1402712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 flipH="1">
            <a:off x="1756404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2403566" y="792480"/>
            <a:ext cx="66707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18" name="矩形: 圆角 17"/>
          <p:cNvSpPr/>
          <p:nvPr/>
        </p:nvSpPr>
        <p:spPr>
          <a:xfrm flipH="1">
            <a:off x="9226550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 flipH="1">
            <a:off x="11161182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 flipH="1">
            <a:off x="9226551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TEMPERATURE</a:t>
            </a:r>
          </a:p>
          <a:p>
            <a:pPr algn="ctr"/>
            <a:endParaRPr lang="en-US" altLang="zh-CN" kern="100" dirty="0">
              <a:solidFill>
                <a:schemeClr val="bg1">
                  <a:lumMod val="75000"/>
                  <a:lumOff val="25000"/>
                </a:schemeClr>
              </a:solidFill>
              <a:latin typeface="+mn-ea"/>
              <a:cs typeface="汉仪旗黑-55简" panose="00020600040101010101" charset="-128"/>
              <a:sym typeface="汉仪旗黑-55简" panose="00020600040101010101" charset="-128"/>
            </a:endParaRPr>
          </a:p>
        </p:txBody>
      </p:sp>
      <p:sp>
        <p:nvSpPr>
          <p:cNvPr id="37" name="矩形: 圆角 36"/>
          <p:cNvSpPr/>
          <p:nvPr/>
        </p:nvSpPr>
        <p:spPr>
          <a:xfrm flipH="1">
            <a:off x="6382809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 flipH="1">
            <a:off x="8317441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 flipH="1">
            <a:off x="6382810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HUMIDITY</a:t>
            </a:r>
          </a:p>
        </p:txBody>
      </p:sp>
      <p:sp>
        <p:nvSpPr>
          <p:cNvPr id="41" name="矩形: 圆角 40"/>
          <p:cNvSpPr/>
          <p:nvPr/>
        </p:nvSpPr>
        <p:spPr>
          <a:xfrm flipH="1">
            <a:off x="3539068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/>
          <p:cNvSpPr/>
          <p:nvPr/>
        </p:nvSpPr>
        <p:spPr>
          <a:xfrm flipH="1">
            <a:off x="5473700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 flipH="1">
            <a:off x="3539069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COLLECTION</a:t>
            </a:r>
          </a:p>
        </p:txBody>
      </p:sp>
      <p:sp>
        <p:nvSpPr>
          <p:cNvPr id="45" name="矩形: 圆角 44"/>
          <p:cNvSpPr/>
          <p:nvPr/>
        </p:nvSpPr>
        <p:spPr>
          <a:xfrm flipH="1">
            <a:off x="695326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/>
          <p:cNvSpPr/>
          <p:nvPr/>
        </p:nvSpPr>
        <p:spPr>
          <a:xfrm flipH="1">
            <a:off x="2629958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 flipH="1">
            <a:off x="695327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MONITORING</a:t>
            </a:r>
          </a:p>
        </p:txBody>
      </p:sp>
      <p:cxnSp>
        <p:nvCxnSpPr>
          <p:cNvPr id="57" name="直接连接符 56"/>
          <p:cNvCxnSpPr/>
          <p:nvPr/>
        </p:nvCxnSpPr>
        <p:spPr>
          <a:xfrm flipH="1">
            <a:off x="715647" y="1058779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715647" y="4833325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: 圆角 3"/>
          <p:cNvSpPr/>
          <p:nvPr>
            <p:custDataLst>
              <p:tags r:id="rId1"/>
            </p:custDataLst>
          </p:nvPr>
        </p:nvSpPr>
        <p:spPr>
          <a:xfrm>
            <a:off x="5010926" y="2571077"/>
            <a:ext cx="2875774" cy="973870"/>
          </a:xfrm>
          <a:prstGeom prst="roundRect">
            <a:avLst>
              <a:gd name="adj" fmla="val 10130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5256588" y="3118059"/>
            <a:ext cx="2285624" cy="33061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r>
              <a:rPr lang="zh-CN" altLang="en-US" sz="2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项目背景与目标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7141076" y="2608727"/>
            <a:ext cx="608042" cy="50933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en-US" altLang="zh-CN" sz="3000">
                <a:ln w="10414"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+mn-ea"/>
                <a:sym typeface="+mn-lt"/>
              </a:rPr>
              <a:t>01</a:t>
            </a:r>
            <a:endParaRPr lang="zh-CN" altLang="en-US" sz="3000">
              <a:ln w="10414">
                <a:solidFill>
                  <a:schemeClr val="accent1"/>
                </a:solidFill>
              </a:ln>
              <a:noFill/>
              <a:latin typeface="+mj-ea"/>
              <a:ea typeface="+mj-ea"/>
              <a:cs typeface="+mn-ea"/>
              <a:sym typeface="+mn-lt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4"/>
            </p:custDataLst>
          </p:nvPr>
        </p:nvCxnSpPr>
        <p:spPr>
          <a:xfrm>
            <a:off x="5254406" y="3058012"/>
            <a:ext cx="2388814" cy="0"/>
          </a:xfrm>
          <a:prstGeom prst="line">
            <a:avLst/>
          </a:prstGeom>
          <a:ln w="7811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: 圆角 62"/>
          <p:cNvSpPr/>
          <p:nvPr>
            <p:custDataLst>
              <p:tags r:id="rId5"/>
            </p:custDataLst>
          </p:nvPr>
        </p:nvSpPr>
        <p:spPr>
          <a:xfrm>
            <a:off x="5010926" y="3724025"/>
            <a:ext cx="2875774" cy="973870"/>
          </a:xfrm>
          <a:prstGeom prst="roundRect">
            <a:avLst>
              <a:gd name="adj" fmla="val 10130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64" name="文本框 63"/>
          <p:cNvSpPr txBox="1"/>
          <p:nvPr>
            <p:custDataLst>
              <p:tags r:id="rId6"/>
            </p:custDataLst>
          </p:nvPr>
        </p:nvSpPr>
        <p:spPr>
          <a:xfrm>
            <a:off x="5256588" y="4271007"/>
            <a:ext cx="2285624" cy="33061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r>
              <a:rPr lang="zh-CN" altLang="en-US" sz="2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下位机硬件实现</a:t>
            </a:r>
          </a:p>
        </p:txBody>
      </p:sp>
      <p:sp>
        <p:nvSpPr>
          <p:cNvPr id="65" name="文本框 64"/>
          <p:cNvSpPr txBox="1"/>
          <p:nvPr>
            <p:custDataLst>
              <p:tags r:id="rId7"/>
            </p:custDataLst>
          </p:nvPr>
        </p:nvSpPr>
        <p:spPr>
          <a:xfrm>
            <a:off x="7141076" y="3761675"/>
            <a:ext cx="608042" cy="50933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en-US" altLang="zh-CN" sz="3000">
                <a:ln w="10414"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+mn-ea"/>
                <a:sym typeface="+mn-lt"/>
              </a:rPr>
              <a:t>03</a:t>
            </a:r>
            <a:endParaRPr lang="zh-CN" altLang="en-US" sz="3000">
              <a:ln w="10414">
                <a:solidFill>
                  <a:schemeClr val="accent1"/>
                </a:solidFill>
              </a:ln>
              <a:noFill/>
              <a:latin typeface="+mj-ea"/>
              <a:ea typeface="+mj-ea"/>
              <a:cs typeface="+mn-ea"/>
              <a:sym typeface="+mn-lt"/>
            </a:endParaRPr>
          </a:p>
        </p:txBody>
      </p:sp>
      <p:cxnSp>
        <p:nvCxnSpPr>
          <p:cNvPr id="66" name="直接连接符 65"/>
          <p:cNvCxnSpPr/>
          <p:nvPr>
            <p:custDataLst>
              <p:tags r:id="rId8"/>
            </p:custDataLst>
          </p:nvPr>
        </p:nvCxnSpPr>
        <p:spPr>
          <a:xfrm>
            <a:off x="5254406" y="4210960"/>
            <a:ext cx="2388814" cy="0"/>
          </a:xfrm>
          <a:prstGeom prst="line">
            <a:avLst/>
          </a:prstGeom>
          <a:ln w="7811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: 圆角 69"/>
          <p:cNvSpPr/>
          <p:nvPr>
            <p:custDataLst>
              <p:tags r:id="rId9"/>
            </p:custDataLst>
          </p:nvPr>
        </p:nvSpPr>
        <p:spPr>
          <a:xfrm>
            <a:off x="8328503" y="2571077"/>
            <a:ext cx="2875774" cy="973870"/>
          </a:xfrm>
          <a:prstGeom prst="roundRect">
            <a:avLst>
              <a:gd name="adj" fmla="val 10130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71" name="文本框 70"/>
          <p:cNvSpPr txBox="1"/>
          <p:nvPr>
            <p:custDataLst>
              <p:tags r:id="rId10"/>
            </p:custDataLst>
          </p:nvPr>
        </p:nvSpPr>
        <p:spPr>
          <a:xfrm>
            <a:off x="8574164" y="3118059"/>
            <a:ext cx="2011285" cy="33061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r>
              <a:rPr lang="zh-CN" altLang="en-US" sz="2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系统总体设计</a:t>
            </a:r>
          </a:p>
          <a:p>
            <a:endParaRPr lang="zh-CN" altLang="en-US" sz="22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2" name="文本框 71"/>
          <p:cNvSpPr txBox="1"/>
          <p:nvPr>
            <p:custDataLst>
              <p:tags r:id="rId11"/>
            </p:custDataLst>
          </p:nvPr>
        </p:nvSpPr>
        <p:spPr>
          <a:xfrm>
            <a:off x="10458653" y="2608727"/>
            <a:ext cx="608042" cy="50933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en-US" altLang="zh-CN" sz="3000">
                <a:ln w="10414"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+mn-ea"/>
                <a:sym typeface="+mn-lt"/>
              </a:rPr>
              <a:t>02</a:t>
            </a:r>
            <a:endParaRPr lang="zh-CN" altLang="en-US" sz="3000">
              <a:ln w="10414">
                <a:solidFill>
                  <a:schemeClr val="accent1"/>
                </a:solidFill>
              </a:ln>
              <a:noFill/>
              <a:latin typeface="+mj-ea"/>
              <a:ea typeface="+mj-ea"/>
              <a:cs typeface="+mn-ea"/>
              <a:sym typeface="+mn-lt"/>
            </a:endParaRPr>
          </a:p>
        </p:txBody>
      </p:sp>
      <p:cxnSp>
        <p:nvCxnSpPr>
          <p:cNvPr id="73" name="直接连接符 72"/>
          <p:cNvCxnSpPr/>
          <p:nvPr>
            <p:custDataLst>
              <p:tags r:id="rId12"/>
            </p:custDataLst>
          </p:nvPr>
        </p:nvCxnSpPr>
        <p:spPr>
          <a:xfrm>
            <a:off x="8571983" y="3058012"/>
            <a:ext cx="2388814" cy="0"/>
          </a:xfrm>
          <a:prstGeom prst="line">
            <a:avLst/>
          </a:prstGeom>
          <a:ln w="7811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: 圆角 90"/>
          <p:cNvSpPr/>
          <p:nvPr>
            <p:custDataLst>
              <p:tags r:id="rId13"/>
            </p:custDataLst>
          </p:nvPr>
        </p:nvSpPr>
        <p:spPr>
          <a:xfrm>
            <a:off x="8328503" y="3724025"/>
            <a:ext cx="2875774" cy="973870"/>
          </a:xfrm>
          <a:prstGeom prst="roundRect">
            <a:avLst>
              <a:gd name="adj" fmla="val 10130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92" name="文本框 91"/>
          <p:cNvSpPr txBox="1"/>
          <p:nvPr>
            <p:custDataLst>
              <p:tags r:id="rId14"/>
            </p:custDataLst>
          </p:nvPr>
        </p:nvSpPr>
        <p:spPr>
          <a:xfrm>
            <a:off x="8574164" y="4271007"/>
            <a:ext cx="2208135" cy="33061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r>
              <a:rPr lang="zh-CN" altLang="en-US" sz="2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上位机软件实现</a:t>
            </a:r>
          </a:p>
        </p:txBody>
      </p:sp>
      <p:sp>
        <p:nvSpPr>
          <p:cNvPr id="93" name="文本框 92"/>
          <p:cNvSpPr txBox="1"/>
          <p:nvPr>
            <p:custDataLst>
              <p:tags r:id="rId15"/>
            </p:custDataLst>
          </p:nvPr>
        </p:nvSpPr>
        <p:spPr>
          <a:xfrm>
            <a:off x="10458653" y="3761675"/>
            <a:ext cx="608042" cy="50933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en-US" altLang="zh-CN" sz="3000">
                <a:ln w="10414"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+mn-ea"/>
                <a:sym typeface="+mn-lt"/>
              </a:rPr>
              <a:t>04</a:t>
            </a:r>
            <a:endParaRPr lang="zh-CN" altLang="en-US" sz="3000">
              <a:ln w="10414">
                <a:solidFill>
                  <a:schemeClr val="accent1"/>
                </a:solidFill>
              </a:ln>
              <a:noFill/>
              <a:latin typeface="+mj-ea"/>
              <a:ea typeface="+mj-ea"/>
              <a:cs typeface="+mn-ea"/>
              <a:sym typeface="+mn-lt"/>
            </a:endParaRPr>
          </a:p>
        </p:txBody>
      </p:sp>
      <p:cxnSp>
        <p:nvCxnSpPr>
          <p:cNvPr id="94" name="直接连接符 93"/>
          <p:cNvCxnSpPr/>
          <p:nvPr>
            <p:custDataLst>
              <p:tags r:id="rId16"/>
            </p:custDataLst>
          </p:nvPr>
        </p:nvCxnSpPr>
        <p:spPr>
          <a:xfrm>
            <a:off x="8571983" y="4210960"/>
            <a:ext cx="2388814" cy="0"/>
          </a:xfrm>
          <a:prstGeom prst="line">
            <a:avLst/>
          </a:prstGeom>
          <a:ln w="7811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/>
        </p:nvSpPr>
        <p:spPr>
          <a:xfrm>
            <a:off x="5627304" y="1087971"/>
            <a:ext cx="4794964" cy="1320613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94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目录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EFFB00-B42F-45E5-4E5A-0CF1E74BA3EB}"/>
              </a:ext>
            </a:extLst>
          </p:cNvPr>
          <p:cNvSpPr txBox="1"/>
          <p:nvPr/>
        </p:nvSpPr>
        <p:spPr>
          <a:xfrm>
            <a:off x="485207" y="2349598"/>
            <a:ext cx="378826" cy="2331227"/>
          </a:xfrm>
          <a:prstGeom prst="rect">
            <a:avLst/>
          </a:prstGeom>
          <a:noFill/>
        </p:spPr>
        <p:txBody>
          <a:bodyPr vert="eaVert" wrap="none" lIns="0" tIns="0" rIns="0" bIns="0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DESIGN IMPLEMENTATION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5" name="图片 14" descr="电脑游戏画面&#10;&#10;AI 生成的内容可能不正确。">
            <a:extLst>
              <a:ext uri="{FF2B5EF4-FFF2-40B4-BE49-F238E27FC236}">
                <a16:creationId xmlns:a16="http://schemas.microsoft.com/office/drawing/2014/main" id="{77AAEBE2-B0FF-9A64-96F3-1D8294055F9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462" y="1098549"/>
            <a:ext cx="4332036" cy="4768849"/>
          </a:xfrm>
          <a:prstGeom prst="rect">
            <a:avLst/>
          </a:prstGeom>
        </p:spPr>
      </p:pic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7CC03831-DFE7-21B6-4D33-F5074B0EC949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016451" y="4892375"/>
            <a:ext cx="2875774" cy="973870"/>
          </a:xfrm>
          <a:prstGeom prst="roundRect">
            <a:avLst>
              <a:gd name="adj" fmla="val 10130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86979E8-5DCC-3061-9499-F979A07477A7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5262113" y="5439357"/>
            <a:ext cx="2285624" cy="33061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r>
              <a:rPr lang="zh-CN" altLang="en-US" sz="2200" dirty="0">
                <a:solidFill>
                  <a:schemeClr val="bg1"/>
                </a:solidFill>
                <a:cs typeface="+mn-ea"/>
                <a:sym typeface="+mn-lt"/>
              </a:rPr>
              <a:t>系统测试与结果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384374-7E53-65FE-EA77-401DB30AA49E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7146601" y="4930025"/>
            <a:ext cx="608042" cy="50933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en-US" altLang="zh-CN" sz="3000" dirty="0">
                <a:ln w="10414"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+mn-ea"/>
                <a:sym typeface="+mn-lt"/>
              </a:rPr>
              <a:t>05</a:t>
            </a:r>
            <a:endParaRPr lang="zh-CN" altLang="en-US" sz="3000" dirty="0">
              <a:ln w="10414">
                <a:solidFill>
                  <a:schemeClr val="accent1"/>
                </a:solidFill>
              </a:ln>
              <a:noFill/>
              <a:latin typeface="+mj-ea"/>
              <a:ea typeface="+mj-ea"/>
              <a:cs typeface="+mn-ea"/>
              <a:sym typeface="+mn-lt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5349C761-55AE-62F3-54A9-347B4D93FE8C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5259931" y="5379310"/>
            <a:ext cx="2388814" cy="0"/>
          </a:xfrm>
          <a:prstGeom prst="line">
            <a:avLst/>
          </a:prstGeom>
          <a:ln w="7811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C74F251-263B-ADBD-600F-1F545957BF9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8334028" y="4892375"/>
            <a:ext cx="2875774" cy="973870"/>
          </a:xfrm>
          <a:prstGeom prst="roundRect">
            <a:avLst>
              <a:gd name="adj" fmla="val 10130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C3DB5F1-C33D-0BF6-B6C3-59BCC18ADBF1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8579689" y="5439357"/>
            <a:ext cx="2208135" cy="330614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r>
              <a:rPr lang="zh-CN" altLang="en-US" sz="22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总结与展望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17CC2D-534D-CF94-7767-AB3D6DA8F7D4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0464178" y="4930025"/>
            <a:ext cx="608042" cy="50933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en-US" altLang="zh-CN" sz="3000" dirty="0">
                <a:ln w="10414"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+mn-ea"/>
                <a:sym typeface="+mn-lt"/>
              </a:rPr>
              <a:t>06</a:t>
            </a:r>
            <a:endParaRPr lang="zh-CN" altLang="en-US" sz="3000" dirty="0">
              <a:ln w="10414">
                <a:solidFill>
                  <a:schemeClr val="accent1"/>
                </a:solidFill>
              </a:ln>
              <a:noFill/>
              <a:latin typeface="+mj-ea"/>
              <a:ea typeface="+mj-ea"/>
              <a:cs typeface="+mn-ea"/>
              <a:sym typeface="+mn-lt"/>
            </a:endParaRP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9F4D1F51-9075-DF87-EB80-313A1ECC8050}"/>
              </a:ext>
            </a:extLst>
          </p:cNvPr>
          <p:cNvCxnSpPr/>
          <p:nvPr>
            <p:custDataLst>
              <p:tags r:id="rId24"/>
            </p:custDataLst>
          </p:nvPr>
        </p:nvCxnSpPr>
        <p:spPr>
          <a:xfrm>
            <a:off x="8577508" y="5379310"/>
            <a:ext cx="2388814" cy="0"/>
          </a:xfrm>
          <a:prstGeom prst="line">
            <a:avLst/>
          </a:prstGeom>
          <a:ln w="7811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588925" y="1156464"/>
            <a:ext cx="10053675" cy="13875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500" b="1" kern="100">
                <a:ln w="12700">
                  <a:solidFill>
                    <a:schemeClr val="accent1">
                      <a:alpha val="13000"/>
                    </a:schemeClr>
                  </a:solidFill>
                </a:ln>
                <a:noFill/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PORTFOLIO</a:t>
            </a:r>
          </a:p>
        </p:txBody>
      </p:sp>
      <p:sp>
        <p:nvSpPr>
          <p:cNvPr id="2" name="椭圆 1"/>
          <p:cNvSpPr/>
          <p:nvPr/>
        </p:nvSpPr>
        <p:spPr>
          <a:xfrm>
            <a:off x="11224249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87055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516863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163171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17669" y="792480"/>
            <a:ext cx="66707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/>
          <p:cNvSpPr/>
          <p:nvPr>
            <p:custDataLst>
              <p:tags r:id="rId1"/>
            </p:custDataLst>
          </p:nvPr>
        </p:nvSpPr>
        <p:spPr>
          <a:xfrm>
            <a:off x="714165" y="2803444"/>
            <a:ext cx="4953086" cy="187622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871" tIns="43436" rIns="86871" bIns="43436" rtlCol="0" anchor="ctr"/>
          <a:lstStyle/>
          <a:p>
            <a:pPr algn="ctr"/>
            <a:endParaRPr lang="zh-CN" altLang="en-US" sz="1710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33472" y="2142391"/>
            <a:ext cx="4953086" cy="93121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6600" b="1">
                <a:solidFill>
                  <a:schemeClr val="bg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PART ONE</a:t>
            </a:r>
            <a:endParaRPr lang="zh-CN" altLang="en-US" sz="6600" b="1">
              <a:solidFill>
                <a:schemeClr val="bg1"/>
              </a:solidFill>
              <a:latin typeface="+mj-ea"/>
              <a:ea typeface="+mj-ea"/>
              <a:cs typeface="江城圆体 500W" panose="020B0600000000000000" pitchFamily="34" charset="-122"/>
              <a:sym typeface="江城圆体 600W" panose="020B08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54935" y="3251010"/>
            <a:ext cx="6410139" cy="99719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7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项目背景与目标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780684" y="4680826"/>
            <a:ext cx="4886567" cy="2290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Project Background and Objectives</a:t>
            </a:r>
          </a:p>
        </p:txBody>
      </p:sp>
      <p:cxnSp>
        <p:nvCxnSpPr>
          <p:cNvPr id="57" name="直接连接符 56"/>
          <p:cNvCxnSpPr/>
          <p:nvPr/>
        </p:nvCxnSpPr>
        <p:spPr>
          <a:xfrm flipH="1">
            <a:off x="11476353" y="1058779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11476353" y="4833325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1FB05217-8E93-55EB-9E4E-03C6BA94A8E5}"/>
              </a:ext>
            </a:extLst>
          </p:cNvPr>
          <p:cNvSpPr/>
          <p:nvPr/>
        </p:nvSpPr>
        <p:spPr>
          <a:xfrm>
            <a:off x="695325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A904139-B67B-B346-04D0-ABF854318F68}"/>
              </a:ext>
            </a:extLst>
          </p:cNvPr>
          <p:cNvSpPr/>
          <p:nvPr/>
        </p:nvSpPr>
        <p:spPr>
          <a:xfrm>
            <a:off x="850394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40D6B75-C84C-B32A-0976-C4D88F00709C}"/>
              </a:ext>
            </a:extLst>
          </p:cNvPr>
          <p:cNvSpPr txBox="1"/>
          <p:nvPr/>
        </p:nvSpPr>
        <p:spPr>
          <a:xfrm>
            <a:off x="987723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TEMPERATURE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39E2406-F957-F341-45AF-7DD144AD86E8}"/>
              </a:ext>
            </a:extLst>
          </p:cNvPr>
          <p:cNvSpPr/>
          <p:nvPr/>
        </p:nvSpPr>
        <p:spPr>
          <a:xfrm>
            <a:off x="3539066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493C1BAD-5901-F529-C67A-924919D97CC7}"/>
              </a:ext>
            </a:extLst>
          </p:cNvPr>
          <p:cNvSpPr/>
          <p:nvPr/>
        </p:nvSpPr>
        <p:spPr>
          <a:xfrm>
            <a:off x="3694135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7167D76-E9A0-EA4F-4BC3-F0526A437B0B}"/>
              </a:ext>
            </a:extLst>
          </p:cNvPr>
          <p:cNvSpPr txBox="1"/>
          <p:nvPr/>
        </p:nvSpPr>
        <p:spPr>
          <a:xfrm>
            <a:off x="3831464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HUMIDITY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DBD2F37B-AE92-ECA5-C889-62280D5537C2}"/>
              </a:ext>
            </a:extLst>
          </p:cNvPr>
          <p:cNvSpPr/>
          <p:nvPr/>
        </p:nvSpPr>
        <p:spPr>
          <a:xfrm>
            <a:off x="6382807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E98B6F0-D120-B04C-FD9B-13D09DC1ACD8}"/>
              </a:ext>
            </a:extLst>
          </p:cNvPr>
          <p:cNvSpPr/>
          <p:nvPr/>
        </p:nvSpPr>
        <p:spPr>
          <a:xfrm>
            <a:off x="6537876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E7FE294-C36E-3C9C-AF29-FE660F5A696F}"/>
              </a:ext>
            </a:extLst>
          </p:cNvPr>
          <p:cNvSpPr txBox="1"/>
          <p:nvPr/>
        </p:nvSpPr>
        <p:spPr>
          <a:xfrm>
            <a:off x="6675205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COLLECTION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614B6EC8-666B-6813-C249-6A0CBA0A4577}"/>
              </a:ext>
            </a:extLst>
          </p:cNvPr>
          <p:cNvSpPr/>
          <p:nvPr/>
        </p:nvSpPr>
        <p:spPr>
          <a:xfrm>
            <a:off x="9226549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666EE113-76DD-FEE8-46AE-C4734CCE779C}"/>
              </a:ext>
            </a:extLst>
          </p:cNvPr>
          <p:cNvSpPr/>
          <p:nvPr/>
        </p:nvSpPr>
        <p:spPr>
          <a:xfrm>
            <a:off x="9381618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E0BD420-125C-185C-B78B-F11D39CE6C74}"/>
              </a:ext>
            </a:extLst>
          </p:cNvPr>
          <p:cNvSpPr txBox="1"/>
          <p:nvPr/>
        </p:nvSpPr>
        <p:spPr>
          <a:xfrm>
            <a:off x="9518947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MONITORING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C0EF88E-DE54-2738-4E46-3761DD8DE2FA}"/>
              </a:ext>
            </a:extLst>
          </p:cNvPr>
          <p:cNvSpPr txBox="1"/>
          <p:nvPr/>
        </p:nvSpPr>
        <p:spPr>
          <a:xfrm>
            <a:off x="11224249" y="2349599"/>
            <a:ext cx="378826" cy="2331227"/>
          </a:xfrm>
          <a:prstGeom prst="rect">
            <a:avLst/>
          </a:prstGeom>
          <a:noFill/>
        </p:spPr>
        <p:txBody>
          <a:bodyPr vert="eaVert" wrap="none" lIns="0" tIns="0" rIns="0" bIns="0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DESIGN IMPLEMENTATION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C069890-B7C3-249B-D011-5F0D3D7D3FA2}"/>
              </a:ext>
            </a:extLst>
          </p:cNvPr>
          <p:cNvSpPr txBox="1"/>
          <p:nvPr/>
        </p:nvSpPr>
        <p:spPr>
          <a:xfrm>
            <a:off x="538476" y="545737"/>
            <a:ext cx="2638145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pic>
        <p:nvPicPr>
          <p:cNvPr id="25" name="图片 24" descr="电脑游戏画面&#10;&#10;AI 生成的内容可能不正确。">
            <a:extLst>
              <a:ext uri="{FF2B5EF4-FFF2-40B4-BE49-F238E27FC236}">
                <a16:creationId xmlns:a16="http://schemas.microsoft.com/office/drawing/2014/main" id="{5F578DE1-5C4F-7A0A-EFAF-E6521F1BEBF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4279" y="990433"/>
            <a:ext cx="4462678" cy="48014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2912533" y="792480"/>
            <a:ext cx="6161798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02069" y="583573"/>
            <a:ext cx="1648630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项目背景</a:t>
            </a:r>
          </a:p>
        </p:txBody>
      </p:sp>
      <p:pic>
        <p:nvPicPr>
          <p:cNvPr id="23" name="Picture 6">
            <a:extLst>
              <a:ext uri="{FF2B5EF4-FFF2-40B4-BE49-F238E27FC236}">
                <a16:creationId xmlns:a16="http://schemas.microsoft.com/office/drawing/2014/main" id="{B1D8F07D-2F68-3962-E46A-B81A900268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5325" y="1495428"/>
            <a:ext cx="4971620" cy="4454522"/>
          </a:xfrm>
          <a:prstGeom prst="roundRect">
            <a:avLst>
              <a:gd name="adj" fmla="val 3333"/>
            </a:avLst>
          </a:prstGeom>
          <a:noFill/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7673B4F8-B5E2-2752-7910-9502923A60AE}"/>
              </a:ext>
            </a:extLst>
          </p:cNvPr>
          <p:cNvSpPr/>
          <p:nvPr/>
        </p:nvSpPr>
        <p:spPr>
          <a:xfrm>
            <a:off x="6096000" y="1495428"/>
            <a:ext cx="493703" cy="493703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5960A548-82B7-0754-9EB1-D45E1E479586}"/>
              </a:ext>
            </a:extLst>
          </p:cNvPr>
          <p:cNvGrpSpPr/>
          <p:nvPr/>
        </p:nvGrpSpPr>
        <p:grpSpPr>
          <a:xfrm>
            <a:off x="6202569" y="1636224"/>
            <a:ext cx="280565" cy="212111"/>
            <a:chOff x="974" y="1006"/>
            <a:chExt cx="582" cy="440"/>
          </a:xfrm>
        </p:grpSpPr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4502C6A6-DA99-1398-CF05-73CD10D4A4B5}"/>
                </a:ext>
              </a:extLst>
            </p:cNvPr>
            <p:cNvSpPr/>
            <p:nvPr/>
          </p:nvSpPr>
          <p:spPr>
            <a:xfrm rot="20520000">
              <a:off x="974" y="1006"/>
              <a:ext cx="582" cy="441"/>
            </a:xfrm>
            <a:custGeom>
              <a:avLst/>
              <a:gdLst>
                <a:gd name="idx" fmla="cos wd2 2700000"/>
                <a:gd name="idy" fmla="sin hd2 2700000"/>
                <a:gd name="il" fmla="+- hc 0 wd2"/>
                <a:gd name="ir" fmla="+- hc wd2 0"/>
                <a:gd name="it" fmla="+- vc 0 idx"/>
                <a:gd name="ib" fmla="+- vc idx 0"/>
              </a:gdLst>
              <a:ahLst/>
              <a:cxnLst>
                <a:cxn ang="3">
                  <a:pos x="hc" y="t"/>
                </a:cxn>
                <a:cxn ang="3">
                  <a:pos x="hd2" y="il"/>
                </a:cxn>
                <a:cxn ang="cd2">
                  <a:pos x="l" y="vc"/>
                </a:cxn>
                <a:cxn ang="cd4">
                  <a:pos x="hd2" y="ir"/>
                </a:cxn>
                <a:cxn ang="cd4">
                  <a:pos x="hc" y="b"/>
                </a:cxn>
                <a:cxn ang="cd4">
                  <a:pos x="idy" y="ir"/>
                </a:cxn>
                <a:cxn ang="0">
                  <a:pos x="r" y="vc"/>
                </a:cxn>
                <a:cxn ang="3">
                  <a:pos x="idy" y="il"/>
                </a:cxn>
              </a:cxnLst>
              <a:rect l="l" t="t" r="r" b="b"/>
              <a:pathLst>
                <a:path w="582" h="441">
                  <a:moveTo>
                    <a:pt x="488" y="298"/>
                  </a:moveTo>
                  <a:lnTo>
                    <a:pt x="487" y="299"/>
                  </a:lnTo>
                  <a:cubicBezTo>
                    <a:pt x="486" y="302"/>
                    <a:pt x="485" y="306"/>
                    <a:pt x="484" y="309"/>
                  </a:cubicBezTo>
                  <a:cubicBezTo>
                    <a:pt x="450" y="409"/>
                    <a:pt x="337" y="464"/>
                    <a:pt x="232" y="432"/>
                  </a:cubicBezTo>
                  <a:cubicBezTo>
                    <a:pt x="170" y="412"/>
                    <a:pt x="124" y="366"/>
                    <a:pt x="105" y="311"/>
                  </a:cubicBezTo>
                  <a:lnTo>
                    <a:pt x="105" y="310"/>
                  </a:lnTo>
                  <a:lnTo>
                    <a:pt x="107" y="311"/>
                  </a:lnTo>
                  <a:cubicBezTo>
                    <a:pt x="153" y="325"/>
                    <a:pt x="214" y="334"/>
                    <a:pt x="280" y="334"/>
                  </a:cubicBezTo>
                  <a:cubicBezTo>
                    <a:pt x="365" y="334"/>
                    <a:pt x="440" y="320"/>
                    <a:pt x="487" y="298"/>
                  </a:cubicBezTo>
                  <a:lnTo>
                    <a:pt x="488" y="298"/>
                  </a:lnTo>
                  <a:close/>
                  <a:moveTo>
                    <a:pt x="306" y="0"/>
                  </a:moveTo>
                  <a:cubicBezTo>
                    <a:pt x="328" y="0"/>
                    <a:pt x="350" y="4"/>
                    <a:pt x="373" y="11"/>
                  </a:cubicBezTo>
                  <a:cubicBezTo>
                    <a:pt x="435" y="32"/>
                    <a:pt x="483" y="77"/>
                    <a:pt x="508" y="133"/>
                  </a:cubicBezTo>
                  <a:lnTo>
                    <a:pt x="511" y="140"/>
                  </a:lnTo>
                  <a:lnTo>
                    <a:pt x="516" y="142"/>
                  </a:lnTo>
                  <a:cubicBezTo>
                    <a:pt x="557" y="160"/>
                    <a:pt x="582" y="183"/>
                    <a:pt x="582" y="209"/>
                  </a:cubicBezTo>
                  <a:cubicBezTo>
                    <a:pt x="582" y="232"/>
                    <a:pt x="560" y="254"/>
                    <a:pt x="524" y="271"/>
                  </a:cubicBezTo>
                  <a:lnTo>
                    <a:pt x="524" y="272"/>
                  </a:lnTo>
                  <a:lnTo>
                    <a:pt x="516" y="275"/>
                  </a:lnTo>
                  <a:cubicBezTo>
                    <a:pt x="462" y="299"/>
                    <a:pt x="381" y="314"/>
                    <a:pt x="291" y="314"/>
                  </a:cubicBezTo>
                  <a:cubicBezTo>
                    <a:pt x="211" y="314"/>
                    <a:pt x="138" y="302"/>
                    <a:pt x="85" y="283"/>
                  </a:cubicBezTo>
                  <a:lnTo>
                    <a:pt x="85" y="283"/>
                  </a:lnTo>
                  <a:lnTo>
                    <a:pt x="76" y="279"/>
                  </a:lnTo>
                  <a:cubicBezTo>
                    <a:pt x="29" y="261"/>
                    <a:pt x="0" y="236"/>
                    <a:pt x="0" y="209"/>
                  </a:cubicBezTo>
                  <a:cubicBezTo>
                    <a:pt x="0" y="178"/>
                    <a:pt x="37" y="150"/>
                    <a:pt x="95" y="131"/>
                  </a:cubicBezTo>
                  <a:lnTo>
                    <a:pt x="99" y="130"/>
                  </a:lnTo>
                  <a:lnTo>
                    <a:pt x="101" y="124"/>
                  </a:lnTo>
                  <a:cubicBezTo>
                    <a:pt x="140" y="46"/>
                    <a:pt x="221" y="-1"/>
                    <a:pt x="30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C926A638-7144-5A26-29FB-9B6254D6650E}"/>
                </a:ext>
              </a:extLst>
            </p:cNvPr>
            <p:cNvSpPr/>
            <p:nvPr/>
          </p:nvSpPr>
          <p:spPr>
            <a:xfrm>
              <a:off x="1267" y="1122"/>
              <a:ext cx="85" cy="85"/>
            </a:xfrm>
            <a:prstGeom prst="ellipse">
              <a:avLst/>
            </a:prstGeom>
            <a:solidFill>
              <a:schemeClr val="tx1"/>
            </a:solidFill>
            <a:ln w="19050" cmpd="sng">
              <a:solidFill>
                <a:schemeClr val="bg1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5BC9FF09-E8EB-C05D-A647-1E9AB4B63AD4}"/>
              </a:ext>
            </a:extLst>
          </p:cNvPr>
          <p:cNvSpPr txBox="1"/>
          <p:nvPr/>
        </p:nvSpPr>
        <p:spPr>
          <a:xfrm>
            <a:off x="6096000" y="1368302"/>
            <a:ext cx="5627427" cy="5015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24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en-US" altLang="zh-CN" sz="2400" b="0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在物联网技术飞速发展的今天，</a:t>
            </a:r>
            <a:r>
              <a:rPr lang="en-US" altLang="zh-CN" sz="2400" b="0" i="0" u="none" strike="noStrike" dirty="0" err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环境监测</a:t>
            </a:r>
            <a:r>
              <a:rPr lang="en-US" altLang="zh-CN" sz="2400" b="0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作为其重要应用领域之一，正发挥着越来越关键的作用</a:t>
            </a:r>
            <a:r>
              <a:rPr lang="en-US" altLang="zh-CN" sz="24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</a:p>
          <a:p>
            <a:pPr indent="0" algn="l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en-US" altLang="zh-CN" sz="2400" b="0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传统的温湿度监测方式往往存在布线复杂、灵活性差、数据可视化程度低等问题。因此，开发一套</a:t>
            </a:r>
            <a:r>
              <a:rPr lang="zh-CN" altLang="en-US" sz="2400" dirty="0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低成本、</a:t>
            </a:r>
            <a:r>
              <a:rPr lang="en-US" altLang="zh-CN" sz="2400" b="0" i="0" u="none" strike="noStrike" dirty="0" err="1">
                <a:solidFill>
                  <a:srgbClr val="C00000"/>
                </a:solidFill>
                <a:latin typeface="Roboto"/>
                <a:ea typeface="Roboto"/>
                <a:cs typeface="Roboto"/>
                <a:sym typeface="Roboto"/>
              </a:rPr>
              <a:t>便捷、直观</a:t>
            </a:r>
            <a:r>
              <a:rPr lang="en-US" altLang="zh-CN" sz="2400" b="0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的温湿度采集与监控系统，不仅具有重要的理论研究意义，更具备广泛的实际应用前景</a:t>
            </a:r>
            <a:r>
              <a:rPr lang="zh-CN" altLang="en-US" sz="24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6808208-054E-6EB2-7975-53CF2E624893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10637-C6B4-0085-0318-DECF09484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D362446-5E63-E599-1BE3-FCE9E8C35B9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288383" y="1866467"/>
            <a:ext cx="1267463" cy="276999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思源黑体 CN Normal" panose="020B0400000000000000" pitchFamily="34" charset="-122"/>
              </a:rPr>
              <a:t>硬件采集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578BCCA-4009-7391-2A3F-A01AD0770F6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8186716" y="1666199"/>
            <a:ext cx="3312913" cy="669416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  <a:cs typeface="思源黑体 CN Normal" panose="020B0400000000000000" pitchFamily="34" charset="-122"/>
              </a:rPr>
              <a:t>基于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思源黑体 CN Normal" panose="020B0400000000000000" pitchFamily="34" charset="-122"/>
              </a:rPr>
              <a:t>STM32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思源黑体 CN Normal" panose="020B0400000000000000" pitchFamily="34" charset="-122"/>
              </a:rPr>
              <a:t>与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思源黑体 CN Normal" panose="020B0400000000000000" pitchFamily="34" charset="-122"/>
              </a:rPr>
              <a:t>DHT11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思源黑体 CN Normal" panose="020B0400000000000000" pitchFamily="34" charset="-122"/>
              </a:rPr>
              <a:t>传感器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思源黑体 CN Normal" panose="020B0400000000000000" pitchFamily="34" charset="-122"/>
              </a:rPr>
              <a:t>，</a:t>
            </a:r>
            <a:endParaRPr lang="en-US" altLang="zh-CN" dirty="0">
              <a:solidFill>
                <a:schemeClr val="bg1"/>
              </a:solidFill>
              <a:latin typeface="+mn-ea"/>
              <a:cs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  <a:cs typeface="思源黑体 CN Normal" panose="020B0400000000000000" pitchFamily="34" charset="-122"/>
              </a:rPr>
              <a:t>实现温湿度数据的稳定、准确采集。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22A4B8E-905D-ABB7-FBC1-A3905245383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212882" y="3139877"/>
            <a:ext cx="821920" cy="8219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00CBE14-9452-E34C-EB18-A17F2132A3A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212882" y="4684645"/>
            <a:ext cx="821920" cy="8219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243C36A-BF8D-9281-173D-49AC6E0A653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218926" y="1599250"/>
            <a:ext cx="821920" cy="8219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810FE62-97C0-51EC-499C-1DC80C25F26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466463" y="1866467"/>
            <a:ext cx="326846" cy="287487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2800">
                <a:latin typeface="+mj-ea"/>
                <a:ea typeface="+mj-ea"/>
                <a:cs typeface="思源黑体 CN Normal" panose="020B0400000000000000" pitchFamily="34" charset="-122"/>
              </a:rPr>
              <a:t>01</a:t>
            </a:r>
            <a:endParaRPr lang="zh-CN" altLang="en-US" sz="2800">
              <a:latin typeface="+mj-ea"/>
              <a:ea typeface="+mj-ea"/>
              <a:cs typeface="思源黑体 CN Normal" panose="020B0400000000000000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EA41628-A6CB-7ECE-A67E-E9D886E5A871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5460419" y="3400792"/>
            <a:ext cx="326846" cy="287487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2800">
                <a:latin typeface="+mj-ea"/>
                <a:ea typeface="+mj-ea"/>
                <a:cs typeface="思源黑体 CN Normal" panose="020B0400000000000000" pitchFamily="34" charset="-122"/>
              </a:rPr>
              <a:t>02</a:t>
            </a:r>
            <a:endParaRPr lang="zh-CN" altLang="en-US" sz="2800">
              <a:latin typeface="+mj-ea"/>
              <a:ea typeface="+mj-ea"/>
              <a:cs typeface="思源黑体 CN Normal" panose="020B04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BD41C1-396E-D2FE-08B4-8E26B5F00A03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5460419" y="4971244"/>
            <a:ext cx="326846" cy="287487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2800">
                <a:latin typeface="+mj-ea"/>
                <a:ea typeface="+mj-ea"/>
                <a:cs typeface="思源黑体 CN Normal" panose="020B0400000000000000" pitchFamily="34" charset="-122"/>
              </a:rPr>
              <a:t>03</a:t>
            </a:r>
            <a:endParaRPr lang="zh-CN" altLang="en-US" sz="2800">
              <a:latin typeface="+mj-ea"/>
              <a:ea typeface="+mj-ea"/>
              <a:cs typeface="思源黑体 CN Normal" panose="020B0400000000000000" pitchFamily="34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1EAFA506-F909-67DF-7F72-A59184A11EB9}"/>
              </a:ext>
            </a:extLst>
          </p:cNvPr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7AF997C-6EE3-177C-9B73-2A4E19C4D456}"/>
              </a:ext>
            </a:extLst>
          </p:cNvPr>
          <p:cNvCxnSpPr/>
          <p:nvPr/>
        </p:nvCxnSpPr>
        <p:spPr>
          <a:xfrm flipH="1">
            <a:off x="2912533" y="792480"/>
            <a:ext cx="6161798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C3ADAB4B-4BD0-C834-3FE6-037CD1FE2C09}"/>
              </a:ext>
            </a:extLst>
          </p:cNvPr>
          <p:cNvSpPr txBox="1"/>
          <p:nvPr/>
        </p:nvSpPr>
        <p:spPr>
          <a:xfrm>
            <a:off x="1102069" y="583573"/>
            <a:ext cx="1648630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项目目标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CC5817D-77FE-5275-F744-8BE47396DFA3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7D3448-A503-C43F-E778-C98E01E0E5F3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282339" y="3381924"/>
            <a:ext cx="1267463" cy="276999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思源黑体 CN Normal" panose="020B0400000000000000" pitchFamily="34" charset="-122"/>
              </a:rPr>
              <a:t>数据传输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FFBA6CF-8C03-0C4A-E5F1-5B3CC8B9E8B6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186715" y="3149909"/>
            <a:ext cx="3312913" cy="669416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  <a:cs typeface="思源黑体 CN Normal" panose="020B0400000000000000" pitchFamily="34" charset="-122"/>
              </a:rPr>
              <a:t>通过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思源黑体 CN Normal" panose="020B0400000000000000" pitchFamily="34" charset="-122"/>
              </a:rPr>
              <a:t>串口通信协议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思源黑体 CN Normal" panose="020B0400000000000000" pitchFamily="34" charset="-122"/>
              </a:rPr>
              <a:t>，将采集到的</a:t>
            </a:r>
            <a:endParaRPr lang="en-US" altLang="zh-CN" dirty="0">
              <a:solidFill>
                <a:schemeClr val="bg1"/>
              </a:solidFill>
              <a:latin typeface="+mn-ea"/>
              <a:cs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  <a:cs typeface="思源黑体 CN Normal" panose="020B0400000000000000" pitchFamily="34" charset="-122"/>
              </a:rPr>
              <a:t>数据实时、可靠地传输至上位机。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0486295-DE26-D5B9-BEBD-E8D07E5CCC9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282339" y="4936366"/>
            <a:ext cx="1267463" cy="276999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r>
              <a:rPr lang="zh-CN" altLang="en-US" sz="2800" dirty="0">
                <a:solidFill>
                  <a:schemeClr val="accent1"/>
                </a:solidFill>
                <a:latin typeface="+mj-ea"/>
                <a:ea typeface="+mj-ea"/>
                <a:cs typeface="思源黑体 CN Normal" panose="020B0400000000000000" pitchFamily="34" charset="-122"/>
              </a:rPr>
              <a:t>上位机监控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ADE5014-D15B-01E7-44EF-20451F95D04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186715" y="4740157"/>
            <a:ext cx="3312913" cy="669416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  <a:cs typeface="思源黑体 CN Normal" panose="020B0400000000000000" pitchFamily="34" charset="-122"/>
              </a:rPr>
              <a:t>利用</a:t>
            </a:r>
            <a:r>
              <a:rPr lang="en-US" altLang="zh-CN" dirty="0">
                <a:solidFill>
                  <a:srgbClr val="C00000"/>
                </a:solidFill>
                <a:latin typeface="+mn-ea"/>
                <a:cs typeface="思源黑体 CN Normal" panose="020B0400000000000000" pitchFamily="34" charset="-122"/>
              </a:rPr>
              <a:t>Qt</a:t>
            </a:r>
            <a:r>
              <a:rPr lang="zh-CN" altLang="en-US" dirty="0">
                <a:solidFill>
                  <a:srgbClr val="C00000"/>
                </a:solidFill>
                <a:latin typeface="+mn-ea"/>
                <a:cs typeface="思源黑体 CN Normal" panose="020B0400000000000000" pitchFamily="34" charset="-122"/>
              </a:rPr>
              <a:t>开发上位机</a:t>
            </a:r>
            <a:r>
              <a:rPr lang="zh-CN" altLang="en-US" dirty="0">
                <a:solidFill>
                  <a:schemeClr val="bg1"/>
                </a:solidFill>
                <a:latin typeface="+mn-ea"/>
                <a:cs typeface="思源黑体 CN Normal" panose="020B0400000000000000" pitchFamily="34" charset="-122"/>
              </a:rPr>
              <a:t>，实现数据</a:t>
            </a:r>
            <a:endParaRPr lang="en-US" altLang="zh-CN" dirty="0">
              <a:solidFill>
                <a:schemeClr val="bg1"/>
              </a:solidFill>
              <a:latin typeface="+mn-ea"/>
              <a:cs typeface="思源黑体 CN Normal" panose="020B04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+mn-ea"/>
                <a:cs typeface="思源黑体 CN Normal" panose="020B0400000000000000" pitchFamily="34" charset="-122"/>
              </a:rPr>
              <a:t>可视化、曲线绘制及历史数据管理。</a:t>
            </a:r>
          </a:p>
        </p:txBody>
      </p:sp>
      <p:pic>
        <p:nvPicPr>
          <p:cNvPr id="11" name="图片 10" descr="图示&#10;&#10;AI 生成的内容可能不正确。">
            <a:extLst>
              <a:ext uri="{FF2B5EF4-FFF2-40B4-BE49-F238E27FC236}">
                <a16:creationId xmlns:a16="http://schemas.microsoft.com/office/drawing/2014/main" id="{40677A86-7059-D0DF-82F0-0D932285E6C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58" y="1228010"/>
            <a:ext cx="4920282" cy="483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130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588925" y="1156464"/>
            <a:ext cx="10053675" cy="13875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500" b="1" kern="100" dirty="0">
                <a:ln w="12700">
                  <a:solidFill>
                    <a:schemeClr val="accent1">
                      <a:alpha val="13000"/>
                    </a:schemeClr>
                  </a:solidFill>
                </a:ln>
                <a:noFill/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PROGRAM</a:t>
            </a:r>
          </a:p>
        </p:txBody>
      </p:sp>
      <p:sp>
        <p:nvSpPr>
          <p:cNvPr id="2" name="椭圆 1"/>
          <p:cNvSpPr/>
          <p:nvPr/>
        </p:nvSpPr>
        <p:spPr>
          <a:xfrm>
            <a:off x="11224249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87055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516863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163171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17669" y="792480"/>
            <a:ext cx="66707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/>
          <p:cNvSpPr/>
          <p:nvPr>
            <p:custDataLst>
              <p:tags r:id="rId1"/>
            </p:custDataLst>
          </p:nvPr>
        </p:nvSpPr>
        <p:spPr>
          <a:xfrm>
            <a:off x="714165" y="2803444"/>
            <a:ext cx="4953086" cy="187622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871" tIns="43436" rIns="86871" bIns="43436" rtlCol="0" anchor="ctr"/>
          <a:lstStyle/>
          <a:p>
            <a:pPr algn="ctr"/>
            <a:endParaRPr lang="zh-CN" altLang="en-US" sz="1710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33472" y="2142391"/>
            <a:ext cx="4953086" cy="93121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6600" b="1">
                <a:solidFill>
                  <a:schemeClr val="bg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PART TWO</a:t>
            </a:r>
            <a:endParaRPr lang="zh-CN" altLang="en-US" sz="6600" b="1">
              <a:solidFill>
                <a:schemeClr val="bg1"/>
              </a:solidFill>
              <a:latin typeface="+mj-ea"/>
              <a:ea typeface="+mj-ea"/>
              <a:cs typeface="江城圆体 500W" panose="020B0600000000000000" pitchFamily="34" charset="-122"/>
              <a:sym typeface="江城圆体 600W" panose="020B08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754936" y="3251010"/>
            <a:ext cx="5531564" cy="99719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7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系统总体设计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780684" y="4680826"/>
            <a:ext cx="4886567" cy="2290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Overall System Design</a:t>
            </a:r>
          </a:p>
        </p:txBody>
      </p:sp>
      <p:cxnSp>
        <p:nvCxnSpPr>
          <p:cNvPr id="57" name="直接连接符 56"/>
          <p:cNvCxnSpPr/>
          <p:nvPr/>
        </p:nvCxnSpPr>
        <p:spPr>
          <a:xfrm flipH="1">
            <a:off x="11476353" y="1058779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11476353" y="4833325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电脑游戏画面&#10;&#10;AI 生成的内容可能不正确。">
            <a:extLst>
              <a:ext uri="{FF2B5EF4-FFF2-40B4-BE49-F238E27FC236}">
                <a16:creationId xmlns:a16="http://schemas.microsoft.com/office/drawing/2014/main" id="{ABFFAF38-0E7F-E272-9F98-DB222C70BC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205" y="990432"/>
            <a:ext cx="4691752" cy="4981211"/>
          </a:xfrm>
          <a:prstGeom prst="rect">
            <a:avLst/>
          </a:prstGeom>
        </p:spPr>
      </p:pic>
      <p:sp>
        <p:nvSpPr>
          <p:cNvPr id="4" name="矩形: 圆角 3">
            <a:extLst>
              <a:ext uri="{FF2B5EF4-FFF2-40B4-BE49-F238E27FC236}">
                <a16:creationId xmlns:a16="http://schemas.microsoft.com/office/drawing/2014/main" id="{F88DA31C-9145-3CCB-E499-59D721B0F501}"/>
              </a:ext>
            </a:extLst>
          </p:cNvPr>
          <p:cNvSpPr/>
          <p:nvPr/>
        </p:nvSpPr>
        <p:spPr>
          <a:xfrm>
            <a:off x="695325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3EA6FC6-743D-BBD2-72F7-371F442686B9}"/>
              </a:ext>
            </a:extLst>
          </p:cNvPr>
          <p:cNvSpPr/>
          <p:nvPr/>
        </p:nvSpPr>
        <p:spPr>
          <a:xfrm>
            <a:off x="850394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4FC0EA-C111-7EFD-14EC-3D2BC26585DF}"/>
              </a:ext>
            </a:extLst>
          </p:cNvPr>
          <p:cNvSpPr txBox="1"/>
          <p:nvPr/>
        </p:nvSpPr>
        <p:spPr>
          <a:xfrm>
            <a:off x="987723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TEMPERATURE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EA54226-63F2-44C8-8737-B252F8B18BC5}"/>
              </a:ext>
            </a:extLst>
          </p:cNvPr>
          <p:cNvSpPr/>
          <p:nvPr/>
        </p:nvSpPr>
        <p:spPr>
          <a:xfrm>
            <a:off x="3539066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9024C1-97CB-BBE8-A544-E7E59D3CFB23}"/>
              </a:ext>
            </a:extLst>
          </p:cNvPr>
          <p:cNvSpPr/>
          <p:nvPr/>
        </p:nvSpPr>
        <p:spPr>
          <a:xfrm>
            <a:off x="3694135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6663B78-4CEC-F828-7F1C-C6D2F862EBE2}"/>
              </a:ext>
            </a:extLst>
          </p:cNvPr>
          <p:cNvSpPr txBox="1"/>
          <p:nvPr/>
        </p:nvSpPr>
        <p:spPr>
          <a:xfrm>
            <a:off x="3831464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HUMIDITY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97B2DE0-9EBC-042C-436C-6DDE7A5A335E}"/>
              </a:ext>
            </a:extLst>
          </p:cNvPr>
          <p:cNvSpPr/>
          <p:nvPr/>
        </p:nvSpPr>
        <p:spPr>
          <a:xfrm>
            <a:off x="6382807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E2BF77F1-E248-D402-4AB7-65D5659E9985}"/>
              </a:ext>
            </a:extLst>
          </p:cNvPr>
          <p:cNvSpPr/>
          <p:nvPr/>
        </p:nvSpPr>
        <p:spPr>
          <a:xfrm>
            <a:off x="6537876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416AA88-30A4-822D-8599-309511C0B7B7}"/>
              </a:ext>
            </a:extLst>
          </p:cNvPr>
          <p:cNvSpPr txBox="1"/>
          <p:nvPr/>
        </p:nvSpPr>
        <p:spPr>
          <a:xfrm>
            <a:off x="6675205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COLLECTION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49E208F-34DF-5C22-3778-E182A32C6E8A}"/>
              </a:ext>
            </a:extLst>
          </p:cNvPr>
          <p:cNvSpPr/>
          <p:nvPr/>
        </p:nvSpPr>
        <p:spPr>
          <a:xfrm>
            <a:off x="9226549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7EE0A5D7-4D6C-62B3-0129-5B1FB5875819}"/>
              </a:ext>
            </a:extLst>
          </p:cNvPr>
          <p:cNvSpPr/>
          <p:nvPr/>
        </p:nvSpPr>
        <p:spPr>
          <a:xfrm>
            <a:off x="9381618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D75ADE9-6D87-A4F2-0ED6-ED61DC40E78D}"/>
              </a:ext>
            </a:extLst>
          </p:cNvPr>
          <p:cNvSpPr txBox="1"/>
          <p:nvPr/>
        </p:nvSpPr>
        <p:spPr>
          <a:xfrm>
            <a:off x="9518947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MONITORING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7E47FE-ACA0-104F-1AFD-E3EE6670A433}"/>
              </a:ext>
            </a:extLst>
          </p:cNvPr>
          <p:cNvSpPr txBox="1"/>
          <p:nvPr/>
        </p:nvSpPr>
        <p:spPr>
          <a:xfrm>
            <a:off x="538476" y="545737"/>
            <a:ext cx="2638145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0BD549D-0D80-564A-90C0-458DB4DFC20A}"/>
              </a:ext>
            </a:extLst>
          </p:cNvPr>
          <p:cNvSpPr txBox="1"/>
          <p:nvPr/>
        </p:nvSpPr>
        <p:spPr>
          <a:xfrm>
            <a:off x="11224249" y="2349599"/>
            <a:ext cx="378826" cy="2331227"/>
          </a:xfrm>
          <a:prstGeom prst="rect">
            <a:avLst/>
          </a:prstGeom>
          <a:noFill/>
        </p:spPr>
        <p:txBody>
          <a:bodyPr vert="eaVert" wrap="none" lIns="0" tIns="0" rIns="0" bIns="0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DESIGN IMPLEMENTATION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cxnSpLocks/>
            <a:endCxn id="8" idx="3"/>
          </p:cNvCxnSpPr>
          <p:nvPr/>
        </p:nvCxnSpPr>
        <p:spPr>
          <a:xfrm flipH="1">
            <a:off x="3835399" y="792480"/>
            <a:ext cx="5238932" cy="1269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02068" y="583573"/>
            <a:ext cx="2733331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系统整体架构</a:t>
            </a:r>
          </a:p>
        </p:txBody>
      </p:sp>
      <p:sp>
        <p:nvSpPr>
          <p:cNvPr id="14" name="矩形: 圆角 13"/>
          <p:cNvSpPr/>
          <p:nvPr>
            <p:custDataLst>
              <p:tags r:id="rId1"/>
            </p:custDataLst>
          </p:nvPr>
        </p:nvSpPr>
        <p:spPr>
          <a:xfrm>
            <a:off x="486867" y="4444221"/>
            <a:ext cx="5484878" cy="1972734"/>
          </a:xfrm>
          <a:prstGeom prst="roundRect">
            <a:avLst>
              <a:gd name="adj" fmla="val 7864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15" name="椭圆 14"/>
          <p:cNvSpPr/>
          <p:nvPr>
            <p:custDataLst>
              <p:tags r:id="rId2"/>
            </p:custDataLst>
          </p:nvPr>
        </p:nvSpPr>
        <p:spPr>
          <a:xfrm>
            <a:off x="709004" y="4558694"/>
            <a:ext cx="690562" cy="6905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1759683" y="4562943"/>
            <a:ext cx="4151432" cy="334829"/>
          </a:xfrm>
          <a:prstGeom prst="rect">
            <a:avLst/>
          </a:prstGeom>
          <a:noFill/>
          <a:effectLst/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70000">
                      <a:srgbClr val="235CED"/>
                    </a:gs>
                  </a:gsLst>
                  <a:lin ang="2700000" scaled="0"/>
                </a:gra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accent1"/>
                </a:solidFill>
                <a:cs typeface="OPPOSans R" panose="00020600040101010101" pitchFamily="18" charset="-122"/>
              </a:rPr>
              <a:t>下位机模块 </a:t>
            </a:r>
            <a:r>
              <a:rPr lang="en-US" altLang="zh-CN" sz="2400" dirty="0">
                <a:solidFill>
                  <a:schemeClr val="accent1"/>
                </a:solidFill>
                <a:cs typeface="OPPOSans R" panose="00020600040101010101" pitchFamily="18" charset="-122"/>
              </a:rPr>
              <a:t>(STM32)</a:t>
            </a:r>
          </a:p>
        </p:txBody>
      </p:sp>
      <p:sp>
        <p:nvSpPr>
          <p:cNvPr id="17" name="文本框 16"/>
          <p:cNvSpPr txBox="1"/>
          <p:nvPr>
            <p:custDataLst>
              <p:tags r:id="rId4"/>
            </p:custDataLst>
          </p:nvPr>
        </p:nvSpPr>
        <p:spPr>
          <a:xfrm>
            <a:off x="698996" y="5108646"/>
            <a:ext cx="5164973" cy="11975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              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作为系统的“感知”层，负责数据采集和指令执行。内置</a:t>
            </a:r>
            <a:r>
              <a:rPr lang="en-US" altLang="zh-CN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DHT11</a:t>
            </a:r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传感器驱动，定时读取温湿度数据，并通过串口与上位机通信。</a:t>
            </a:r>
            <a:endParaRPr lang="zh-CN" altLang="en-US" sz="1600" dirty="0">
              <a:solidFill>
                <a:schemeClr val="bg1"/>
              </a:solidFill>
              <a:latin typeface="思源黑体 CN Normal" panose="020B0400000000000000" pitchFamily="34" charset="-122"/>
              <a:cs typeface="OPPOSans R" panose="00020600040101010101" pitchFamily="18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451A94A-3651-8A51-357C-47A4899A8AA5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5C5B833-85E7-CB3E-715A-B0E3E1E23041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183874" y="4444221"/>
            <a:ext cx="5484878" cy="1972734"/>
          </a:xfrm>
          <a:prstGeom prst="roundRect">
            <a:avLst>
              <a:gd name="adj" fmla="val 7864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D3A66E86-7945-2517-0485-F8381E1DD73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406011" y="4558694"/>
            <a:ext cx="690562" cy="6905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0D041C9-A6A1-0F3C-622E-629E311064A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456690" y="4562943"/>
            <a:ext cx="4151432" cy="334829"/>
          </a:xfrm>
          <a:prstGeom prst="rect">
            <a:avLst/>
          </a:prstGeom>
          <a:noFill/>
          <a:effectLst/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3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70000">
                      <a:srgbClr val="235CED"/>
                    </a:gs>
                  </a:gsLst>
                  <a:lin ang="2700000" scaled="0"/>
                </a:gradFill>
                <a:effectLst/>
                <a:uLnTx/>
                <a:uFillTx/>
                <a:latin typeface="+mj-ea"/>
                <a:ea typeface="+mj-ea"/>
              </a:defRPr>
            </a:lvl1pPr>
          </a:lstStyle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accent1"/>
                </a:solidFill>
                <a:cs typeface="OPPOSans R" panose="00020600040101010101" pitchFamily="18" charset="-122"/>
              </a:rPr>
              <a:t>上位机模块 </a:t>
            </a:r>
            <a:r>
              <a:rPr lang="en-US" altLang="zh-CN" sz="2400" dirty="0">
                <a:solidFill>
                  <a:schemeClr val="accent1"/>
                </a:solidFill>
                <a:cs typeface="OPPOSans R" panose="00020600040101010101" pitchFamily="18" charset="-122"/>
              </a:rPr>
              <a:t>(Qt)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61C794B-609E-8378-3927-3C5A0A6BA36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396003" y="5108646"/>
            <a:ext cx="5164973" cy="12022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              </a:t>
            </a:r>
            <a:r>
              <a:rPr lang="en-US" altLang="zh-CN" dirty="0" err="1">
                <a:solidFill>
                  <a:schemeClr val="bg1"/>
                </a:solidFill>
                <a:sym typeface="Noto Sans SC" panose="020B0200000000000000" charset="-122"/>
              </a:rPr>
              <a:t>作为系统的“大脑”和“交互”层，负责数据处理和用户交互</a:t>
            </a:r>
            <a:r>
              <a:rPr lang="zh-CN" altLang="en-US" dirty="0">
                <a:solidFill>
                  <a:schemeClr val="bg1"/>
                </a:solidFill>
                <a:sym typeface="Noto Sans SC" panose="020B0200000000000000" charset="-122"/>
              </a:rPr>
              <a:t>，</a:t>
            </a:r>
            <a:r>
              <a:rPr lang="en-US" altLang="zh-CN" dirty="0" err="1">
                <a:solidFill>
                  <a:schemeClr val="bg1"/>
                </a:solidFill>
                <a:sym typeface="Noto Sans SC" panose="020B0200000000000000" charset="-122"/>
              </a:rPr>
              <a:t>接收数据后进行解析、存储和可视化展示，并提供操作界面</a:t>
            </a:r>
            <a:r>
              <a:rPr lang="zh-CN" altLang="en-US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。</a:t>
            </a:r>
            <a:endParaRPr lang="en-US" altLang="zh-CN" sz="1400" dirty="0">
              <a:solidFill>
                <a:schemeClr val="bg1"/>
              </a:solidFill>
            </a:endParaRP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C81FD852-5C9A-43CA-0654-7D8C852C6A0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4052" y="4688675"/>
            <a:ext cx="429598" cy="429598"/>
          </a:xfrm>
          <a:prstGeom prst="rect">
            <a:avLst/>
          </a:prstGeom>
        </p:spPr>
      </p:pic>
      <p:pic>
        <p:nvPicPr>
          <p:cNvPr id="32" name="Picture 8">
            <a:extLst>
              <a:ext uri="{FF2B5EF4-FFF2-40B4-BE49-F238E27FC236}">
                <a16:creationId xmlns:a16="http://schemas.microsoft.com/office/drawing/2014/main" id="{E9C86F09-C0DC-A629-5AEC-B90BBA62E57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32035" y="4667905"/>
            <a:ext cx="448909" cy="448909"/>
          </a:xfrm>
          <a:prstGeom prst="rect">
            <a:avLst/>
          </a:prstGeom>
        </p:spPr>
      </p:pic>
      <p:pic>
        <p:nvPicPr>
          <p:cNvPr id="34" name="图片 33" descr="图示&#10;&#10;AI 生成的内容可能不正确。">
            <a:extLst>
              <a:ext uri="{FF2B5EF4-FFF2-40B4-BE49-F238E27FC236}">
                <a16:creationId xmlns:a16="http://schemas.microsoft.com/office/drawing/2014/main" id="{C500044E-D019-7DDB-644D-ECC7ED8D7E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50" y="1050722"/>
            <a:ext cx="10202758" cy="326105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588925" y="1156464"/>
            <a:ext cx="10053675" cy="13875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500" b="1" kern="100" dirty="0">
                <a:ln w="12700">
                  <a:solidFill>
                    <a:schemeClr val="accent1">
                      <a:alpha val="13000"/>
                    </a:schemeClr>
                  </a:solidFill>
                </a:ln>
                <a:noFill/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PROGRAM</a:t>
            </a:r>
          </a:p>
        </p:txBody>
      </p:sp>
      <p:sp>
        <p:nvSpPr>
          <p:cNvPr id="2" name="椭圆 1"/>
          <p:cNvSpPr/>
          <p:nvPr/>
        </p:nvSpPr>
        <p:spPr>
          <a:xfrm>
            <a:off x="11224249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87055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516863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163171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17669" y="792480"/>
            <a:ext cx="66707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/>
          <p:cNvSpPr/>
          <p:nvPr>
            <p:custDataLst>
              <p:tags r:id="rId1"/>
            </p:custDataLst>
          </p:nvPr>
        </p:nvSpPr>
        <p:spPr>
          <a:xfrm>
            <a:off x="714164" y="2803444"/>
            <a:ext cx="5165935" cy="187622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871" tIns="43436" rIns="86871" bIns="43436" rtlCol="0" anchor="ctr"/>
          <a:lstStyle/>
          <a:p>
            <a:pPr algn="ctr"/>
            <a:endParaRPr lang="zh-CN" altLang="en-US" sz="1710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33471" y="2200141"/>
            <a:ext cx="5791279" cy="84657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PART THREE</a:t>
            </a:r>
            <a:endParaRPr lang="zh-CN" altLang="en-US" sz="6000" b="1">
              <a:solidFill>
                <a:schemeClr val="bg1"/>
              </a:solidFill>
              <a:latin typeface="+mj-ea"/>
              <a:ea typeface="+mj-ea"/>
              <a:cs typeface="江城圆体 500W" panose="020B0600000000000000" pitchFamily="34" charset="-122"/>
              <a:sym typeface="江城圆体 600W" panose="020B08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468594" y="3306145"/>
            <a:ext cx="6451082" cy="99719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7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下位机硬件实现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780684" y="4680826"/>
            <a:ext cx="4886567" cy="2290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Lower-level hardware implementation</a:t>
            </a:r>
          </a:p>
        </p:txBody>
      </p:sp>
      <p:cxnSp>
        <p:nvCxnSpPr>
          <p:cNvPr id="57" name="直接连接符 56"/>
          <p:cNvCxnSpPr/>
          <p:nvPr/>
        </p:nvCxnSpPr>
        <p:spPr>
          <a:xfrm flipH="1">
            <a:off x="11476353" y="1058779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11476353" y="4833325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64F0F3EC-A96E-A941-A595-D6DD1F7EE730}"/>
              </a:ext>
            </a:extLst>
          </p:cNvPr>
          <p:cNvSpPr/>
          <p:nvPr/>
        </p:nvSpPr>
        <p:spPr>
          <a:xfrm>
            <a:off x="695325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FA37FAF-7541-57BD-F242-13C0CF69F778}"/>
              </a:ext>
            </a:extLst>
          </p:cNvPr>
          <p:cNvSpPr/>
          <p:nvPr/>
        </p:nvSpPr>
        <p:spPr>
          <a:xfrm>
            <a:off x="850394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E2719E-AD29-D2E6-CE04-3618FF12CEC3}"/>
              </a:ext>
            </a:extLst>
          </p:cNvPr>
          <p:cNvSpPr txBox="1"/>
          <p:nvPr/>
        </p:nvSpPr>
        <p:spPr>
          <a:xfrm>
            <a:off x="987723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TEMPERATURE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0F1AB2A-1436-063B-7233-1FD1A94ECF5B}"/>
              </a:ext>
            </a:extLst>
          </p:cNvPr>
          <p:cNvSpPr/>
          <p:nvPr/>
        </p:nvSpPr>
        <p:spPr>
          <a:xfrm>
            <a:off x="3539066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927A2DE-0D49-3040-418D-F343E8451F1E}"/>
              </a:ext>
            </a:extLst>
          </p:cNvPr>
          <p:cNvSpPr/>
          <p:nvPr/>
        </p:nvSpPr>
        <p:spPr>
          <a:xfrm>
            <a:off x="3694135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88669FB-D39B-D135-6D61-4354B9E39882}"/>
              </a:ext>
            </a:extLst>
          </p:cNvPr>
          <p:cNvSpPr txBox="1"/>
          <p:nvPr/>
        </p:nvSpPr>
        <p:spPr>
          <a:xfrm>
            <a:off x="3831464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HUMIDITY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4CC3CF2-E594-AA9C-E746-56447743897B}"/>
              </a:ext>
            </a:extLst>
          </p:cNvPr>
          <p:cNvSpPr/>
          <p:nvPr/>
        </p:nvSpPr>
        <p:spPr>
          <a:xfrm>
            <a:off x="6382807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01C7864-E57F-BCC6-AA58-057FEB31068D}"/>
              </a:ext>
            </a:extLst>
          </p:cNvPr>
          <p:cNvSpPr/>
          <p:nvPr/>
        </p:nvSpPr>
        <p:spPr>
          <a:xfrm>
            <a:off x="6537876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A84BEEF-CA40-C299-B5ED-A11597B2BED1}"/>
              </a:ext>
            </a:extLst>
          </p:cNvPr>
          <p:cNvSpPr txBox="1"/>
          <p:nvPr/>
        </p:nvSpPr>
        <p:spPr>
          <a:xfrm>
            <a:off x="6675205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COLLECTION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4195E67-26DA-0647-3247-1DDC92CEDFFB}"/>
              </a:ext>
            </a:extLst>
          </p:cNvPr>
          <p:cNvSpPr/>
          <p:nvPr/>
        </p:nvSpPr>
        <p:spPr>
          <a:xfrm>
            <a:off x="9226549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2E904D2-A254-E3CB-0513-7F790FF6AB43}"/>
              </a:ext>
            </a:extLst>
          </p:cNvPr>
          <p:cNvSpPr/>
          <p:nvPr/>
        </p:nvSpPr>
        <p:spPr>
          <a:xfrm>
            <a:off x="9381618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D109F1-8210-DDE5-275D-73AC4D3FB49D}"/>
              </a:ext>
            </a:extLst>
          </p:cNvPr>
          <p:cNvSpPr txBox="1"/>
          <p:nvPr/>
        </p:nvSpPr>
        <p:spPr>
          <a:xfrm>
            <a:off x="9518947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MONITORING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D3FD771-98EA-60FD-466D-CB56F2388D56}"/>
              </a:ext>
            </a:extLst>
          </p:cNvPr>
          <p:cNvSpPr txBox="1"/>
          <p:nvPr/>
        </p:nvSpPr>
        <p:spPr>
          <a:xfrm>
            <a:off x="538476" y="545737"/>
            <a:ext cx="2638145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F793F9E-C35E-E1B2-1B47-3232DBBC29FC}"/>
              </a:ext>
            </a:extLst>
          </p:cNvPr>
          <p:cNvSpPr txBox="1"/>
          <p:nvPr/>
        </p:nvSpPr>
        <p:spPr>
          <a:xfrm>
            <a:off x="11224249" y="2349599"/>
            <a:ext cx="378826" cy="2331227"/>
          </a:xfrm>
          <a:prstGeom prst="rect">
            <a:avLst/>
          </a:prstGeom>
          <a:noFill/>
        </p:spPr>
        <p:txBody>
          <a:bodyPr vert="eaVert" wrap="none" lIns="0" tIns="0" rIns="0" bIns="0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DESIGN IMPLEMENTATION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4" name="图片 23" descr="电脑游戏画面&#10;&#10;AI 生成的内容可能不正确。">
            <a:extLst>
              <a:ext uri="{FF2B5EF4-FFF2-40B4-BE49-F238E27FC236}">
                <a16:creationId xmlns:a16="http://schemas.microsoft.com/office/drawing/2014/main" id="{3FD30866-8387-43C4-40D5-AA8B762711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5205" y="990432"/>
            <a:ext cx="4691752" cy="4981211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2912533" y="792480"/>
            <a:ext cx="6161798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02069" y="583573"/>
            <a:ext cx="1648630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硬件选型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7AAFB67-9925-062D-D230-72371640EE85}"/>
              </a:ext>
            </a:extLst>
          </p:cNvPr>
          <p:cNvGrpSpPr/>
          <p:nvPr/>
        </p:nvGrpSpPr>
        <p:grpSpPr>
          <a:xfrm>
            <a:off x="1819085" y="5367597"/>
            <a:ext cx="1260000" cy="1260000"/>
            <a:chOff x="1470719" y="4169771"/>
            <a:chExt cx="2217208" cy="1775600"/>
          </a:xfrm>
        </p:grpSpPr>
        <p:graphicFrame>
          <p:nvGraphicFramePr>
            <p:cNvPr id="5" name="图表 4"/>
            <p:cNvGraphicFramePr/>
            <p:nvPr>
              <p:extLst>
                <p:ext uri="{D42A27DB-BD31-4B8C-83A1-F6EECF244321}">
                  <p14:modId xmlns:p14="http://schemas.microsoft.com/office/powerpoint/2010/main" val="247851711"/>
                </p:ext>
              </p:extLst>
            </p:nvPr>
          </p:nvGraphicFramePr>
          <p:xfrm>
            <a:off x="1470719" y="4169771"/>
            <a:ext cx="2217208" cy="17756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grpSp>
          <p:nvGrpSpPr>
            <p:cNvPr id="22" name="组合 21"/>
            <p:cNvGrpSpPr/>
            <p:nvPr/>
          </p:nvGrpSpPr>
          <p:grpSpPr>
            <a:xfrm>
              <a:off x="2342753" y="4793158"/>
              <a:ext cx="473139" cy="528825"/>
              <a:chOff x="6268" y="5110"/>
              <a:chExt cx="414" cy="462"/>
            </a:xfrm>
          </p:grpSpPr>
          <p:sp>
            <p:nvSpPr>
              <p:cNvPr id="23" name="矩形: 圆角 22"/>
              <p:cNvSpPr/>
              <p:nvPr/>
            </p:nvSpPr>
            <p:spPr>
              <a:xfrm>
                <a:off x="6268" y="5110"/>
                <a:ext cx="415" cy="463"/>
              </a:xfrm>
              <a:prstGeom prst="roundRect">
                <a:avLst>
                  <a:gd name="adj" fmla="val 1759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: 圆角 23"/>
              <p:cNvSpPr/>
              <p:nvPr>
                <p:custDataLst>
                  <p:tags r:id="rId5"/>
                </p:custDataLst>
              </p:nvPr>
            </p:nvSpPr>
            <p:spPr>
              <a:xfrm>
                <a:off x="6373" y="5273"/>
                <a:ext cx="227" cy="4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: 圆角 24"/>
              <p:cNvSpPr/>
              <p:nvPr>
                <p:custDataLst>
                  <p:tags r:id="rId6"/>
                </p:custDataLst>
              </p:nvPr>
            </p:nvSpPr>
            <p:spPr>
              <a:xfrm>
                <a:off x="6373" y="5382"/>
                <a:ext cx="170" cy="4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DFF640A7-5C4F-BE07-D497-D16C52524CF8}"/>
              </a:ext>
            </a:extLst>
          </p:cNvPr>
          <p:cNvGrpSpPr/>
          <p:nvPr/>
        </p:nvGrpSpPr>
        <p:grpSpPr>
          <a:xfrm>
            <a:off x="5565257" y="5348378"/>
            <a:ext cx="1260000" cy="1260000"/>
            <a:chOff x="3744226" y="1653399"/>
            <a:chExt cx="3048901" cy="2516371"/>
          </a:xfrm>
        </p:grpSpPr>
        <p:graphicFrame>
          <p:nvGraphicFramePr>
            <p:cNvPr id="10" name="图表 9"/>
            <p:cNvGraphicFramePr/>
            <p:nvPr>
              <p:extLst>
                <p:ext uri="{D42A27DB-BD31-4B8C-83A1-F6EECF244321}">
                  <p14:modId xmlns:p14="http://schemas.microsoft.com/office/powerpoint/2010/main" val="3780502098"/>
                </p:ext>
              </p:extLst>
            </p:nvPr>
          </p:nvGraphicFramePr>
          <p:xfrm>
            <a:off x="3744226" y="1653399"/>
            <a:ext cx="3048901" cy="251637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pSp>
          <p:nvGrpSpPr>
            <p:cNvPr id="26" name="组合 25"/>
            <p:cNvGrpSpPr/>
            <p:nvPr/>
          </p:nvGrpSpPr>
          <p:grpSpPr>
            <a:xfrm>
              <a:off x="4798559" y="2547620"/>
              <a:ext cx="927657" cy="791358"/>
              <a:chOff x="11190" y="1552"/>
              <a:chExt cx="568" cy="502"/>
            </a:xfrm>
          </p:grpSpPr>
          <p:sp>
            <p:nvSpPr>
              <p:cNvPr id="27" name="任意多边形: 形状 26"/>
              <p:cNvSpPr/>
              <p:nvPr>
                <p:custDataLst>
                  <p:tags r:id="rId3"/>
                </p:custDataLst>
              </p:nvPr>
            </p:nvSpPr>
            <p:spPr>
              <a:xfrm>
                <a:off x="11190" y="1552"/>
                <a:ext cx="568" cy="502"/>
              </a:xfrm>
              <a:custGeom>
                <a:avLst/>
                <a:gdLst>
                  <a:gd name="adj" fmla="val 60185"/>
                  <a:gd name="maxAdj" fmla="*/ 50000 w ss"/>
                  <a:gd name="a" fmla="pin 0 adj maxAdj"/>
                  <a:gd name="x1" fmla="*/ ss a 200000"/>
                  <a:gd name="x2" fmla="*/ ss a 100000"/>
                  <a:gd name="x3" fmla="+- r 0 x2"/>
                  <a:gd name="x4" fmla="+- r 0 x1"/>
                  <a:gd name="il" fmla="*/ wd3 a maxAdj"/>
                  <a:gd name="it" fmla="*/ hd3 a maxAdj"/>
                  <a:gd name="ir" fmla="+- r 0 wd3"/>
                </a:gdLst>
                <a:ahLst/>
                <a:cxnLst>
                  <a:cxn ang="3">
                    <a:pos x="hc" y="t"/>
                  </a:cxn>
                  <a:cxn ang="cd2">
                    <a:pos x="x1" y="vc"/>
                  </a:cxn>
                  <a:cxn ang="cd4">
                    <a:pos x="hc" y="b"/>
                  </a:cxn>
                  <a:cxn ang="0">
                    <a:pos x="x4" y="vc"/>
                  </a:cxn>
                </a:cxnLst>
                <a:rect l="l" t="t" r="r" b="b"/>
                <a:pathLst>
                  <a:path w="568" h="502">
                    <a:moveTo>
                      <a:pt x="144" y="0"/>
                    </a:moveTo>
                    <a:lnTo>
                      <a:pt x="429" y="0"/>
                    </a:lnTo>
                    <a:cubicBezTo>
                      <a:pt x="430" y="0"/>
                      <a:pt x="432" y="0"/>
                      <a:pt x="434" y="1"/>
                    </a:cubicBezTo>
                    <a:lnTo>
                      <a:pt x="435" y="1"/>
                    </a:lnTo>
                    <a:lnTo>
                      <a:pt x="440" y="2"/>
                    </a:lnTo>
                    <a:cubicBezTo>
                      <a:pt x="447" y="4"/>
                      <a:pt x="453" y="8"/>
                      <a:pt x="457" y="15"/>
                    </a:cubicBezTo>
                    <a:lnTo>
                      <a:pt x="565" y="201"/>
                    </a:lnTo>
                    <a:cubicBezTo>
                      <a:pt x="571" y="212"/>
                      <a:pt x="569" y="224"/>
                      <a:pt x="563" y="233"/>
                    </a:cubicBezTo>
                    <a:lnTo>
                      <a:pt x="560" y="236"/>
                    </a:lnTo>
                    <a:lnTo>
                      <a:pt x="557" y="240"/>
                    </a:lnTo>
                    <a:cubicBezTo>
                      <a:pt x="556" y="242"/>
                      <a:pt x="555" y="243"/>
                      <a:pt x="554" y="245"/>
                    </a:cubicBezTo>
                    <a:lnTo>
                      <a:pt x="304" y="494"/>
                    </a:lnTo>
                    <a:cubicBezTo>
                      <a:pt x="298" y="499"/>
                      <a:pt x="291" y="502"/>
                      <a:pt x="284" y="502"/>
                    </a:cubicBezTo>
                    <a:lnTo>
                      <a:pt x="281" y="501"/>
                    </a:lnTo>
                    <a:lnTo>
                      <a:pt x="277" y="502"/>
                    </a:lnTo>
                    <a:cubicBezTo>
                      <a:pt x="270" y="502"/>
                      <a:pt x="263" y="499"/>
                      <a:pt x="257" y="494"/>
                    </a:cubicBezTo>
                    <a:lnTo>
                      <a:pt x="8" y="245"/>
                    </a:lnTo>
                    <a:cubicBezTo>
                      <a:pt x="3" y="239"/>
                      <a:pt x="1" y="232"/>
                      <a:pt x="0" y="226"/>
                    </a:cubicBezTo>
                    <a:lnTo>
                      <a:pt x="0" y="224"/>
                    </a:lnTo>
                    <a:lnTo>
                      <a:pt x="0" y="224"/>
                    </a:lnTo>
                    <a:lnTo>
                      <a:pt x="0" y="224"/>
                    </a:lnTo>
                    <a:lnTo>
                      <a:pt x="0" y="222"/>
                    </a:lnTo>
                    <a:lnTo>
                      <a:pt x="1" y="220"/>
                    </a:lnTo>
                    <a:lnTo>
                      <a:pt x="0" y="219"/>
                    </a:lnTo>
                    <a:lnTo>
                      <a:pt x="1" y="219"/>
                    </a:lnTo>
                    <a:lnTo>
                      <a:pt x="1" y="218"/>
                    </a:lnTo>
                    <a:cubicBezTo>
                      <a:pt x="1" y="216"/>
                      <a:pt x="2" y="215"/>
                      <a:pt x="2" y="214"/>
                    </a:cubicBezTo>
                    <a:lnTo>
                      <a:pt x="3" y="212"/>
                    </a:lnTo>
                    <a:lnTo>
                      <a:pt x="4" y="207"/>
                    </a:lnTo>
                    <a:cubicBezTo>
                      <a:pt x="5" y="205"/>
                      <a:pt x="6" y="203"/>
                      <a:pt x="7" y="201"/>
                    </a:cubicBezTo>
                    <a:lnTo>
                      <a:pt x="115" y="15"/>
                    </a:lnTo>
                    <a:cubicBezTo>
                      <a:pt x="119" y="6"/>
                      <a:pt x="128" y="1"/>
                      <a:pt x="137" y="1"/>
                    </a:cubicBezTo>
                    <a:lnTo>
                      <a:pt x="138" y="1"/>
                    </a:lnTo>
                    <a:cubicBezTo>
                      <a:pt x="140" y="0"/>
                      <a:pt x="142" y="0"/>
                      <a:pt x="14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28" name="组合 27"/>
              <p:cNvGrpSpPr/>
              <p:nvPr/>
            </p:nvGrpSpPr>
            <p:grpSpPr>
              <a:xfrm>
                <a:off x="11405" y="1739"/>
                <a:ext cx="198" cy="170"/>
                <a:chOff x="9066" y="1024"/>
                <a:chExt cx="198" cy="170"/>
              </a:xfrm>
            </p:grpSpPr>
            <p:sp>
              <p:nvSpPr>
                <p:cNvPr id="29" name="矩形: 圆角 28"/>
                <p:cNvSpPr/>
                <p:nvPr/>
              </p:nvSpPr>
              <p:spPr>
                <a:xfrm rot="2700000">
                  <a:off x="9003" y="1087"/>
                  <a:ext cx="170" cy="4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: 圆角 29"/>
                <p:cNvSpPr/>
                <p:nvPr>
                  <p:custDataLst>
                    <p:tags r:id="rId4"/>
                  </p:custDataLst>
                </p:nvPr>
              </p:nvSpPr>
              <p:spPr>
                <a:xfrm rot="18900000">
                  <a:off x="9094" y="1087"/>
                  <a:ext cx="170" cy="4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A546350-1F90-6C34-32D9-4B8F93E508B9}"/>
              </a:ext>
            </a:extLst>
          </p:cNvPr>
          <p:cNvGrpSpPr/>
          <p:nvPr/>
        </p:nvGrpSpPr>
        <p:grpSpPr>
          <a:xfrm>
            <a:off x="9422031" y="5385928"/>
            <a:ext cx="1260000" cy="1260000"/>
            <a:chOff x="6625580" y="1653400"/>
            <a:chExt cx="3048902" cy="2516371"/>
          </a:xfrm>
        </p:grpSpPr>
        <p:graphicFrame>
          <p:nvGraphicFramePr>
            <p:cNvPr id="2" name="图表 1"/>
            <p:cNvGraphicFramePr/>
            <p:nvPr>
              <p:extLst>
                <p:ext uri="{D42A27DB-BD31-4B8C-83A1-F6EECF244321}">
                  <p14:modId xmlns:p14="http://schemas.microsoft.com/office/powerpoint/2010/main" val="1620100450"/>
                </p:ext>
              </p:extLst>
            </p:nvPr>
          </p:nvGraphicFramePr>
          <p:xfrm>
            <a:off x="6625580" y="1653400"/>
            <a:ext cx="3048902" cy="251637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grpSp>
          <p:nvGrpSpPr>
            <p:cNvPr id="31" name="组合 30"/>
            <p:cNvGrpSpPr/>
            <p:nvPr/>
          </p:nvGrpSpPr>
          <p:grpSpPr>
            <a:xfrm>
              <a:off x="7736928" y="2549917"/>
              <a:ext cx="833951" cy="665906"/>
              <a:chOff x="12839" y="922"/>
              <a:chExt cx="526" cy="392"/>
            </a:xfrm>
          </p:grpSpPr>
          <p:sp>
            <p:nvSpPr>
              <p:cNvPr id="32" name="任意多边形: 形状 31"/>
              <p:cNvSpPr/>
              <p:nvPr>
                <p:custDataLst>
                  <p:tags r:id="rId1"/>
                </p:custDataLst>
              </p:nvPr>
            </p:nvSpPr>
            <p:spPr>
              <a:xfrm>
                <a:off x="12839" y="922"/>
                <a:ext cx="526" cy="392"/>
              </a:xfrm>
              <a:custGeom>
                <a:avLst/>
                <a:gdLst>
                  <a:gd name="adj" fmla="val 23333"/>
                  <a:gd name="maxAdj" fmla="*/ 50000 w ss"/>
                  <a:gd name="a" fmla="pin 0 adj maxAdj"/>
                  <a:gd name="x1" fmla="*/ ss a 200000"/>
                  <a:gd name="x2" fmla="*/ ss a 100000"/>
                  <a:gd name="x3" fmla="+- r 0 x2"/>
                  <a:gd name="x4" fmla="+- r 0 x1"/>
                  <a:gd name="il" fmla="*/ wd3 a maxAdj"/>
                  <a:gd name="it" fmla="*/ hd3 a maxAdj"/>
                  <a:gd name="ir" fmla="+- r 0 wd3"/>
                </a:gdLst>
                <a:ahLst/>
                <a:cxnLst>
                  <a:cxn ang="3">
                    <a:pos x="hc" y="t"/>
                  </a:cxn>
                  <a:cxn ang="cd2">
                    <a:pos x="x1" y="vc"/>
                  </a:cxn>
                  <a:cxn ang="cd4">
                    <a:pos x="hc" y="b"/>
                  </a:cxn>
                  <a:cxn ang="0">
                    <a:pos x="x4" y="vc"/>
                  </a:cxn>
                </a:cxnLst>
                <a:rect l="l" t="t" r="r" b="b"/>
                <a:pathLst>
                  <a:path w="459" h="411">
                    <a:moveTo>
                      <a:pt x="105" y="0"/>
                    </a:moveTo>
                    <a:lnTo>
                      <a:pt x="354" y="0"/>
                    </a:lnTo>
                    <a:cubicBezTo>
                      <a:pt x="385" y="0"/>
                      <a:pt x="411" y="24"/>
                      <a:pt x="414" y="54"/>
                    </a:cubicBezTo>
                    <a:lnTo>
                      <a:pt x="414" y="59"/>
                    </a:lnTo>
                    <a:lnTo>
                      <a:pt x="415" y="63"/>
                    </a:lnTo>
                    <a:cubicBezTo>
                      <a:pt x="416" y="65"/>
                      <a:pt x="416" y="67"/>
                      <a:pt x="416" y="69"/>
                    </a:cubicBezTo>
                    <a:lnTo>
                      <a:pt x="455" y="315"/>
                    </a:lnTo>
                    <a:cubicBezTo>
                      <a:pt x="456" y="319"/>
                      <a:pt x="456" y="323"/>
                      <a:pt x="456" y="327"/>
                    </a:cubicBezTo>
                    <a:lnTo>
                      <a:pt x="456" y="327"/>
                    </a:lnTo>
                    <a:lnTo>
                      <a:pt x="457" y="333"/>
                    </a:lnTo>
                    <a:cubicBezTo>
                      <a:pt x="458" y="337"/>
                      <a:pt x="459" y="342"/>
                      <a:pt x="459" y="347"/>
                    </a:cubicBezTo>
                    <a:cubicBezTo>
                      <a:pt x="459" y="356"/>
                      <a:pt x="457" y="364"/>
                      <a:pt x="454" y="372"/>
                    </a:cubicBezTo>
                    <a:lnTo>
                      <a:pt x="452" y="376"/>
                    </a:lnTo>
                    <a:lnTo>
                      <a:pt x="452" y="377"/>
                    </a:lnTo>
                    <a:lnTo>
                      <a:pt x="452" y="377"/>
                    </a:lnTo>
                    <a:lnTo>
                      <a:pt x="451" y="378"/>
                    </a:lnTo>
                    <a:cubicBezTo>
                      <a:pt x="440" y="397"/>
                      <a:pt x="419" y="411"/>
                      <a:pt x="395" y="411"/>
                    </a:cubicBezTo>
                    <a:lnTo>
                      <a:pt x="64" y="411"/>
                    </a:lnTo>
                    <a:cubicBezTo>
                      <a:pt x="29" y="411"/>
                      <a:pt x="0" y="382"/>
                      <a:pt x="0" y="347"/>
                    </a:cubicBezTo>
                    <a:cubicBezTo>
                      <a:pt x="0" y="343"/>
                      <a:pt x="0" y="338"/>
                      <a:pt x="1" y="334"/>
                    </a:cubicBezTo>
                    <a:lnTo>
                      <a:pt x="2" y="330"/>
                    </a:lnTo>
                    <a:lnTo>
                      <a:pt x="2" y="328"/>
                    </a:lnTo>
                    <a:cubicBezTo>
                      <a:pt x="2" y="324"/>
                      <a:pt x="2" y="319"/>
                      <a:pt x="3" y="315"/>
                    </a:cubicBezTo>
                    <a:lnTo>
                      <a:pt x="42" y="69"/>
                    </a:lnTo>
                    <a:cubicBezTo>
                      <a:pt x="42" y="65"/>
                      <a:pt x="43" y="61"/>
                      <a:pt x="45" y="57"/>
                    </a:cubicBezTo>
                    <a:lnTo>
                      <a:pt x="45" y="56"/>
                    </a:lnTo>
                    <a:lnTo>
                      <a:pt x="45" y="54"/>
                    </a:lnTo>
                    <a:cubicBezTo>
                      <a:pt x="48" y="24"/>
                      <a:pt x="74" y="0"/>
                      <a:pt x="105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任意多边形: 形状 32"/>
              <p:cNvSpPr/>
              <p:nvPr>
                <p:custDataLst>
                  <p:tags r:id="rId2"/>
                </p:custDataLst>
              </p:nvPr>
            </p:nvSpPr>
            <p:spPr>
              <a:xfrm rot="10800000">
                <a:off x="13005" y="1087"/>
                <a:ext cx="185" cy="107"/>
              </a:xfrm>
              <a:custGeom>
                <a:avLst/>
                <a:gdLst>
                  <a:gd name="adj1" fmla="val 10800000"/>
                  <a:gd name="adj2" fmla="val 21513352"/>
                  <a:gd name="adj3" fmla="val 17827"/>
                  <a:gd name="stAng" fmla="pin 0 adj1 21599999"/>
                  <a:gd name="istAng" fmla="pin 0 adj2 21599999"/>
                  <a:gd name="a3" fmla="pin 0 adj3 50000"/>
                  <a:gd name="sw11" fmla="+- istAng 0 stAng"/>
                  <a:gd name="sw12" fmla="+- sw11 21600000 0"/>
                  <a:gd name="swAng" fmla="?: sw11 sw11 sw12"/>
                  <a:gd name="iswAng" fmla="+- 0 0 swAng"/>
                  <a:gd name="wt1" fmla="sin wd2 stAng"/>
                  <a:gd name="ht1" fmla="cos hd2 stAng"/>
                  <a:gd name="wt3" fmla="sin wd2 istAng"/>
                  <a:gd name="ht3" fmla="cos hd2 istAng"/>
                  <a:gd name="dx1" fmla="cat2 wd2 wt1 wd2"/>
                  <a:gd name="dy1" fmla="sat2 hd2 wt1 wd2"/>
                  <a:gd name="dx3" fmla="cat2 wd2 ht1 hd2"/>
                  <a:gd name="dy3" fmla="sat2 hd2 ht1 hd2"/>
                  <a:gd name="x1" fmla="+- hc wt3 0"/>
                  <a:gd name="y1" fmla="+- vc ht3 0"/>
                  <a:gd name="x3" fmla="+- hc dx1 0"/>
                  <a:gd name="y3" fmla="+- vc dy1 0"/>
                  <a:gd name="dr" fmla="*/ ss a3 100000"/>
                  <a:gd name="iwd2" fmla="+- wd2 0 x3"/>
                  <a:gd name="ihd2" fmla="+- hd2 0 x3"/>
                  <a:gd name="wt2" fmla="sin y3 istAng"/>
                  <a:gd name="ht2" fmla="cos dr istAng"/>
                  <a:gd name="wt4" fmla="sin y3 stAng"/>
                  <a:gd name="ht4" fmla="cos dr stAng"/>
                  <a:gd name="dx2" fmla="cat2 y3 ihd2 iwd2"/>
                  <a:gd name="dy2" fmla="sat2 dr ihd2 iwd2"/>
                  <a:gd name="dx4" fmla="cat2 y3 ht2 wt2"/>
                  <a:gd name="dy4" fmla="sat2 dr ht2 wt2"/>
                  <a:gd name="x2" fmla="+- hc wt4 0"/>
                  <a:gd name="y2" fmla="+- vc ht4 0"/>
                  <a:gd name="x4" fmla="+- hc dx2 0"/>
                  <a:gd name="y4" fmla="+- vc dy2 0"/>
                  <a:gd name="sw0" fmla="+- 21600000 0 stAng"/>
                  <a:gd name="da1" fmla="+- swAng 0 x4"/>
                  <a:gd name="g1" fmla="max dx3 dx4"/>
                  <a:gd name="g2" fmla="max x1 x2"/>
                  <a:gd name="g3" fmla="max sw0 da1"/>
                  <a:gd name="ir" fmla="?: y4 r g1"/>
                  <a:gd name="sw1" fmla="+- cd4 0 stAng"/>
                  <a:gd name="sw2" fmla="+- 27000000 0 stAng"/>
                  <a:gd name="sw3" fmla="?: g3 g3 ir"/>
                  <a:gd name="da2" fmla="+- swAng 0 cd4"/>
                  <a:gd name="g5" fmla="max dy3 dy4"/>
                  <a:gd name="g6" fmla="max y1 y2"/>
                  <a:gd name="g7" fmla="max sw2 sw3"/>
                  <a:gd name="ib" fmla="?: sw1 b da2"/>
                  <a:gd name="sw4" fmla="+- cd2 0 stAng"/>
                  <a:gd name="sw5" fmla="+- 32400000 0 stAng"/>
                  <a:gd name="sw6" fmla="?: g6 g6 g7"/>
                  <a:gd name="da3" fmla="+- swAng 0 ib"/>
                  <a:gd name="g9" fmla="min dx3 dx4"/>
                  <a:gd name="g10" fmla="min x1 x2"/>
                  <a:gd name="g11" fmla="min sw4 sw5"/>
                  <a:gd name="il" fmla="?: cd2 l sw6"/>
                  <a:gd name="sw7" fmla="+- 3 0 stAng"/>
                  <a:gd name="sw8" fmla="+- 37800000 0 stAng"/>
                  <a:gd name="sw9" fmla="?: g9 g9 g10"/>
                  <a:gd name="da4" fmla="+- swAng 0 g11"/>
                  <a:gd name="g13" fmla="min dy3 dy4"/>
                  <a:gd name="g14" fmla="min y1 y2"/>
                  <a:gd name="g15" fmla="min sw7 sw8"/>
                  <a:gd name="it" fmla="?: il t sw9"/>
                  <a:gd name="x5" fmla="+/ dx3 x2 2"/>
                  <a:gd name="y5" fmla="+/ dy3 y2 2"/>
                  <a:gd name="x6" fmla="+/ x1 dx4 2"/>
                  <a:gd name="y6" fmla="+/ y1 dy4 2"/>
                  <a:gd name="cang1" fmla="+- stAng 0 cd4"/>
                  <a:gd name="cang2" fmla="+- istAng cd4 0"/>
                  <a:gd name="cang3" fmla="+/ x5 y5 2"/>
                </a:gdLst>
                <a:ahLst/>
                <a:cxnLst>
                  <a:cxn ang="x5">
                    <a:pos x="g13" y="g14"/>
                  </a:cxn>
                  <a:cxn ang="y5">
                    <a:pos x="g15" y="it"/>
                  </a:cxn>
                  <a:cxn ang="x6">
                    <a:pos x="hc" y="vc"/>
                  </a:cxn>
                </a:cxnLst>
                <a:rect l="l" t="t" r="r" b="b"/>
                <a:pathLst>
                  <a:path w="185" h="107">
                    <a:moveTo>
                      <a:pt x="93" y="0"/>
                    </a:moveTo>
                    <a:cubicBezTo>
                      <a:pt x="140" y="0"/>
                      <a:pt x="179" y="35"/>
                      <a:pt x="184" y="81"/>
                    </a:cubicBezTo>
                    <a:lnTo>
                      <a:pt x="185" y="88"/>
                    </a:lnTo>
                    <a:lnTo>
                      <a:pt x="185" y="90"/>
                    </a:lnTo>
                    <a:cubicBezTo>
                      <a:pt x="185" y="99"/>
                      <a:pt x="177" y="107"/>
                      <a:pt x="168" y="107"/>
                    </a:cubicBezTo>
                    <a:cubicBezTo>
                      <a:pt x="159" y="107"/>
                      <a:pt x="151" y="99"/>
                      <a:pt x="151" y="90"/>
                    </a:cubicBezTo>
                    <a:cubicBezTo>
                      <a:pt x="151" y="89"/>
                      <a:pt x="151" y="88"/>
                      <a:pt x="151" y="87"/>
                    </a:cubicBezTo>
                    <a:lnTo>
                      <a:pt x="152" y="86"/>
                    </a:lnTo>
                    <a:lnTo>
                      <a:pt x="152" y="85"/>
                    </a:lnTo>
                    <a:cubicBezTo>
                      <a:pt x="148" y="56"/>
                      <a:pt x="123" y="33"/>
                      <a:pt x="92" y="33"/>
                    </a:cubicBezTo>
                    <a:cubicBezTo>
                      <a:pt x="64" y="33"/>
                      <a:pt x="40" y="53"/>
                      <a:pt x="34" y="81"/>
                    </a:cubicBezTo>
                    <a:lnTo>
                      <a:pt x="33" y="86"/>
                    </a:lnTo>
                    <a:lnTo>
                      <a:pt x="34" y="87"/>
                    </a:lnTo>
                    <a:cubicBezTo>
                      <a:pt x="34" y="88"/>
                      <a:pt x="34" y="89"/>
                      <a:pt x="34" y="90"/>
                    </a:cubicBezTo>
                    <a:cubicBezTo>
                      <a:pt x="34" y="99"/>
                      <a:pt x="26" y="107"/>
                      <a:pt x="17" y="107"/>
                    </a:cubicBezTo>
                    <a:cubicBezTo>
                      <a:pt x="9" y="107"/>
                      <a:pt x="2" y="101"/>
                      <a:pt x="0" y="93"/>
                    </a:cubicBezTo>
                    <a:lnTo>
                      <a:pt x="0" y="93"/>
                    </a:lnTo>
                    <a:lnTo>
                      <a:pt x="0" y="93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87"/>
                    </a:lnTo>
                    <a:lnTo>
                      <a:pt x="0" y="83"/>
                    </a:lnTo>
                    <a:cubicBezTo>
                      <a:pt x="5" y="36"/>
                      <a:pt x="45" y="0"/>
                      <a:pt x="93" y="0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15" name="Picture 4">
            <a:extLst>
              <a:ext uri="{FF2B5EF4-FFF2-40B4-BE49-F238E27FC236}">
                <a16:creationId xmlns:a16="http://schemas.microsoft.com/office/drawing/2014/main" id="{5A29BC6F-998C-89DB-2D9B-6612540F1D2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18750" b="18750"/>
          <a:stretch>
            <a:fillRect/>
          </a:stretch>
        </p:blipFill>
        <p:spPr>
          <a:xfrm>
            <a:off x="935075" y="1472364"/>
            <a:ext cx="3048000" cy="2112490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5">
            <a:extLst>
              <a:ext uri="{FF2B5EF4-FFF2-40B4-BE49-F238E27FC236}">
                <a16:creationId xmlns:a16="http://schemas.microsoft.com/office/drawing/2014/main" id="{6D2A9A32-F220-8016-D767-51BC6F6BEC51}"/>
              </a:ext>
            </a:extLst>
          </p:cNvPr>
          <p:cNvSpPr/>
          <p:nvPr/>
        </p:nvSpPr>
        <p:spPr>
          <a:xfrm>
            <a:off x="935075" y="3775354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主控芯片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17" name="AutoShape 6">
            <a:extLst>
              <a:ext uri="{FF2B5EF4-FFF2-40B4-BE49-F238E27FC236}">
                <a16:creationId xmlns:a16="http://schemas.microsoft.com/office/drawing/2014/main" id="{15EE5EEC-2600-FAF2-0DEA-283D9233C152}"/>
              </a:ext>
            </a:extLst>
          </p:cNvPr>
          <p:cNvSpPr/>
          <p:nvPr/>
        </p:nvSpPr>
        <p:spPr>
          <a:xfrm>
            <a:off x="935074" y="4219854"/>
            <a:ext cx="3213413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选用STM32F103C8T6，基于ARM Cortex-M3内核，性价比高，资源丰富，适合嵌入式开发。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20" name="Picture 8">
            <a:extLst>
              <a:ext uri="{FF2B5EF4-FFF2-40B4-BE49-F238E27FC236}">
                <a16:creationId xmlns:a16="http://schemas.microsoft.com/office/drawing/2014/main" id="{F3FD96D7-7AF4-9F93-55F5-1D5E80DBA1B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8750" b="18750"/>
          <a:stretch>
            <a:fillRect/>
          </a:stretch>
        </p:blipFill>
        <p:spPr>
          <a:xfrm>
            <a:off x="4745075" y="1472363"/>
            <a:ext cx="3048000" cy="2112487"/>
          </a:xfrm>
          <a:prstGeom prst="roundRect">
            <a:avLst>
              <a:gd name="adj" fmla="val 533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1" name="AutoShape 9">
            <a:extLst>
              <a:ext uri="{FF2B5EF4-FFF2-40B4-BE49-F238E27FC236}">
                <a16:creationId xmlns:a16="http://schemas.microsoft.com/office/drawing/2014/main" id="{17C7ABAF-BFFC-A4BA-143D-B2564095F454}"/>
              </a:ext>
            </a:extLst>
          </p:cNvPr>
          <p:cNvSpPr/>
          <p:nvPr/>
        </p:nvSpPr>
        <p:spPr>
          <a:xfrm>
            <a:off x="4751481" y="3775354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dirty="0" err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温湿度传感器</a:t>
            </a:r>
            <a:endParaRPr lang="en-US" sz="2400" b="1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4" name="AutoShape 10">
            <a:extLst>
              <a:ext uri="{FF2B5EF4-FFF2-40B4-BE49-F238E27FC236}">
                <a16:creationId xmlns:a16="http://schemas.microsoft.com/office/drawing/2014/main" id="{4E9F0744-DF9B-C395-73A7-78E19D882DE4}"/>
              </a:ext>
            </a:extLst>
          </p:cNvPr>
          <p:cNvSpPr/>
          <p:nvPr/>
        </p:nvSpPr>
        <p:spPr>
          <a:xfrm>
            <a:off x="4751481" y="4219854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选用DHT11，低成本数字式传感器，响应快，抗干扰强，单总线通信简化硬件连接。</a:t>
            </a:r>
            <a:endParaRPr lang="en-US" dirty="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8" name="AutoShape 12">
            <a:extLst>
              <a:ext uri="{FF2B5EF4-FFF2-40B4-BE49-F238E27FC236}">
                <a16:creationId xmlns:a16="http://schemas.microsoft.com/office/drawing/2014/main" id="{E2A2316C-24E1-F19F-C4AB-54FA812DF7C0}"/>
              </a:ext>
            </a:extLst>
          </p:cNvPr>
          <p:cNvSpPr/>
          <p:nvPr/>
        </p:nvSpPr>
        <p:spPr>
          <a:xfrm>
            <a:off x="8298111" y="3775354"/>
            <a:ext cx="304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defRPr/>
            </a:pPr>
            <a:r>
              <a:rPr lang="en-US" sz="2400" b="1" dirty="0" err="1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通信模块</a:t>
            </a:r>
            <a:endParaRPr lang="en-US" sz="2400" b="1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9" name="AutoShape 13">
            <a:extLst>
              <a:ext uri="{FF2B5EF4-FFF2-40B4-BE49-F238E27FC236}">
                <a16:creationId xmlns:a16="http://schemas.microsoft.com/office/drawing/2014/main" id="{C4A6E3B0-9E0A-AA9A-1D46-793AC9699F3D}"/>
              </a:ext>
            </a:extLst>
          </p:cNvPr>
          <p:cNvSpPr/>
          <p:nvPr/>
        </p:nvSpPr>
        <p:spPr>
          <a:xfrm>
            <a:off x="8199217" y="4219854"/>
            <a:ext cx="3308442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选用USB-TTL模块（CH340），实现STM32串口与PC机USB口的电平转换和数据通信。</a:t>
            </a:r>
            <a:endParaRPr lang="en-US" dirty="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14268A10-C854-BD25-42F4-630186C72F31}"/>
              </a:ext>
            </a:extLst>
          </p:cNvPr>
          <p:cNvPicPr>
            <a:picLocks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" b="15"/>
          <a:stretch>
            <a:fillRect/>
          </a:stretch>
        </p:blipFill>
        <p:spPr>
          <a:xfrm>
            <a:off x="8199217" y="1392841"/>
            <a:ext cx="3245788" cy="2190835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DE5427C4-785A-5228-782C-496A3E128C9D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>
          <a:xfrm flipH="1">
            <a:off x="4271749" y="792480"/>
            <a:ext cx="4802582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02069" y="583573"/>
            <a:ext cx="3060498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硬件连接原理图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764375" y="2915423"/>
            <a:ext cx="3258820" cy="52800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30000"/>
              </a:lnSpc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与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STM32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的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GND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引脚共地。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261118" y="2521500"/>
            <a:ext cx="2252616" cy="4001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GND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共地连接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7910327" y="5232618"/>
            <a:ext cx="3258800" cy="56626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30000"/>
              </a:lnSpc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PA9(TX)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与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PA10(RX)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实现串口通信。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8267470" y="4796417"/>
            <a:ext cx="2252616" cy="40011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USB-TTL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串口通信</a:t>
            </a:r>
          </a:p>
        </p:txBody>
      </p:sp>
      <p:sp>
        <p:nvSpPr>
          <p:cNvPr id="19" name="矩形: 圆角 18"/>
          <p:cNvSpPr/>
          <p:nvPr/>
        </p:nvSpPr>
        <p:spPr>
          <a:xfrm>
            <a:off x="7674546" y="1294096"/>
            <a:ext cx="3587336" cy="985754"/>
          </a:xfrm>
          <a:prstGeom prst="roundRect">
            <a:avLst>
              <a:gd name="adj" fmla="val 939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defRPr/>
            </a:pPr>
            <a:endParaRPr lang="en-US" altLang="zh-CN" sz="16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261119" y="1415133"/>
            <a:ext cx="2006163" cy="2724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7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uLnTx/>
                <a:uFillTx/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pPr>
              <a:lnSpc>
                <a:spcPct val="125000"/>
              </a:lnSpc>
              <a:defRPr/>
            </a:pPr>
            <a:r>
              <a:rPr lang="en-US" altLang="zh-CN" sz="2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VCC </a:t>
            </a:r>
            <a:r>
              <a:rPr lang="en-US" altLang="zh-CN" sz="2000" b="1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电源连接</a:t>
            </a:r>
            <a:endParaRPr lang="en-US" altLang="zh-CN" sz="1400" dirty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FC228193-4B5B-75EA-37E3-9365C2B417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" b="52"/>
          <a:stretch>
            <a:fillRect/>
          </a:stretch>
        </p:blipFill>
        <p:spPr>
          <a:xfrm>
            <a:off x="628800" y="1487874"/>
            <a:ext cx="6620827" cy="4242770"/>
          </a:xfrm>
          <a:prstGeom prst="roundRect">
            <a:avLst>
              <a:gd name="adj" fmla="val 3389"/>
            </a:avLst>
          </a:prstGeom>
          <a:noFill/>
          <a:ln w="38100" cap="flat" cmpd="sng">
            <a:solidFill>
              <a:schemeClr val="accent1">
                <a:alpha val="50000"/>
              </a:schemeClr>
            </a:solidFill>
            <a:prstDash val="solid"/>
            <a:round/>
          </a:ln>
        </p:spPr>
      </p:pic>
      <p:pic>
        <p:nvPicPr>
          <p:cNvPr id="4" name="Picture 6">
            <a:extLst>
              <a:ext uri="{FF2B5EF4-FFF2-40B4-BE49-F238E27FC236}">
                <a16:creationId xmlns:a16="http://schemas.microsoft.com/office/drawing/2014/main" id="{3520AD31-B96A-A27C-3C71-30994C6E33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81664" y="1460802"/>
            <a:ext cx="304800" cy="3048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1BD3BF4-C9D0-16D6-8176-571C462FB852}"/>
              </a:ext>
            </a:extLst>
          </p:cNvPr>
          <p:cNvSpPr txBox="1"/>
          <p:nvPr/>
        </p:nvSpPr>
        <p:spPr>
          <a:xfrm>
            <a:off x="7764376" y="1824473"/>
            <a:ext cx="3801625" cy="411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en-US" altLang="zh-CN" sz="1800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连接至</a:t>
            </a:r>
            <a:r>
              <a:rPr lang="en-US" altLang="zh-CN" sz="18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STM32 的 3.3V </a:t>
            </a:r>
            <a:r>
              <a:rPr lang="en-US" altLang="zh-CN" sz="1800" dirty="0" err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电源</a:t>
            </a:r>
            <a:r>
              <a:rPr lang="zh-CN" altLang="en-US" dirty="0"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</a:t>
            </a:r>
            <a:r>
              <a:rPr lang="en-US" altLang="zh-CN" sz="18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出。</a:t>
            </a:r>
            <a:endParaRPr lang="en-US" altLang="zh-CN" sz="1400" dirty="0">
              <a:solidFill>
                <a:schemeClr val="tx1"/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4DCF70C-2264-3545-C13B-DA299F414977}"/>
              </a:ext>
            </a:extLst>
          </p:cNvPr>
          <p:cNvSpPr/>
          <p:nvPr/>
        </p:nvSpPr>
        <p:spPr>
          <a:xfrm>
            <a:off x="7674545" y="3572706"/>
            <a:ext cx="3587336" cy="985754"/>
          </a:xfrm>
          <a:prstGeom prst="roundRect">
            <a:avLst>
              <a:gd name="adj" fmla="val 939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defRPr/>
            </a:pPr>
            <a:endParaRPr lang="en-US" altLang="zh-CN" sz="1600" dirty="0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EFEEBB9-A845-21CB-BC62-6D7E0E9B036F}"/>
              </a:ext>
            </a:extLst>
          </p:cNvPr>
          <p:cNvSpPr txBox="1"/>
          <p:nvPr/>
        </p:nvSpPr>
        <p:spPr>
          <a:xfrm>
            <a:off x="8267470" y="3656853"/>
            <a:ext cx="2006163" cy="27243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7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uLnTx/>
                <a:uFillTx/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pPr>
              <a:lnSpc>
                <a:spcPct val="125000"/>
              </a:lnSpc>
              <a:defRPr/>
            </a:pPr>
            <a:r>
              <a:rPr lang="en-US" altLang="zh-CN" sz="2000" b="1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 </a:t>
            </a:r>
            <a:r>
              <a:rPr lang="en-US" altLang="zh-CN" sz="2000" b="1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数据传输</a:t>
            </a:r>
            <a:endParaRPr lang="en-US" altLang="zh-CN" sz="14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F9D336F-0716-AEC6-8BF1-40518FC680DF}"/>
              </a:ext>
            </a:extLst>
          </p:cNvPr>
          <p:cNvSpPr txBox="1"/>
          <p:nvPr/>
        </p:nvSpPr>
        <p:spPr>
          <a:xfrm>
            <a:off x="7764376" y="4095933"/>
            <a:ext cx="3801625" cy="411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/>
            </a:pPr>
            <a:r>
              <a:rPr lang="zh-CN" altLang="en-US" sz="18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连接至 </a:t>
            </a:r>
            <a:r>
              <a:rPr lang="en-US" altLang="zh-CN" sz="18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PA15 </a:t>
            </a:r>
            <a:r>
              <a:rPr lang="zh-CN" altLang="en-US" sz="1800" dirty="0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引脚</a:t>
            </a:r>
          </a:p>
        </p:txBody>
      </p:sp>
      <p:pic>
        <p:nvPicPr>
          <p:cNvPr id="32" name="Picture 9">
            <a:extLst>
              <a:ext uri="{FF2B5EF4-FFF2-40B4-BE49-F238E27FC236}">
                <a16:creationId xmlns:a16="http://schemas.microsoft.com/office/drawing/2014/main" id="{3C5EFE72-FAE4-E1C7-C250-1065E241AE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10326" y="2517916"/>
            <a:ext cx="304800" cy="304800"/>
          </a:xfrm>
          <a:prstGeom prst="rect">
            <a:avLst/>
          </a:prstGeom>
        </p:spPr>
      </p:pic>
      <p:pic>
        <p:nvPicPr>
          <p:cNvPr id="33" name="Picture 12">
            <a:extLst>
              <a:ext uri="{FF2B5EF4-FFF2-40B4-BE49-F238E27FC236}">
                <a16:creationId xmlns:a16="http://schemas.microsoft.com/office/drawing/2014/main" id="{DF578682-849F-3FFA-4D08-4BBC77DBF9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77239" y="3672320"/>
            <a:ext cx="324000" cy="324000"/>
          </a:xfrm>
          <a:prstGeom prst="rect">
            <a:avLst/>
          </a:prstGeom>
        </p:spPr>
      </p:pic>
      <p:pic>
        <p:nvPicPr>
          <p:cNvPr id="34" name="Picture 15">
            <a:extLst>
              <a:ext uri="{FF2B5EF4-FFF2-40B4-BE49-F238E27FC236}">
                <a16:creationId xmlns:a16="http://schemas.microsoft.com/office/drawing/2014/main" id="{34286CD5-F3A5-6F00-0757-0BD8156361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10326" y="4796417"/>
            <a:ext cx="304800" cy="3048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8C15FD64-27DE-7B13-9658-C4740A5D09EF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8CEAE-7350-FE45-FFD8-901A1F313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6853BB7F-A29F-C2CF-83A7-2EAE73A29950}"/>
              </a:ext>
            </a:extLst>
          </p:cNvPr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6D1BB61-0F27-1EC8-5EAE-46C5CE1C9262}"/>
              </a:ext>
            </a:extLst>
          </p:cNvPr>
          <p:cNvCxnSpPr>
            <a:cxnSpLocks/>
          </p:cNvCxnSpPr>
          <p:nvPr/>
        </p:nvCxnSpPr>
        <p:spPr>
          <a:xfrm flipH="1">
            <a:off x="4190999" y="792480"/>
            <a:ext cx="4883332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7B418FB-C77F-3F57-D434-EF9597D48205}"/>
              </a:ext>
            </a:extLst>
          </p:cNvPr>
          <p:cNvSpPr txBox="1"/>
          <p:nvPr/>
        </p:nvSpPr>
        <p:spPr>
          <a:xfrm>
            <a:off x="1102068" y="583573"/>
            <a:ext cx="3088931" cy="88639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下位机软件设计</a:t>
            </a:r>
          </a:p>
          <a:p>
            <a:pPr>
              <a:lnSpc>
                <a:spcPct val="90000"/>
              </a:lnSpc>
            </a:pPr>
            <a:endParaRPr lang="zh-CN" altLang="en-US" sz="3200" dirty="0">
              <a:solidFill>
                <a:schemeClr val="accent1"/>
              </a:solidFill>
              <a:latin typeface="+mj-ea"/>
              <a:ea typeface="+mj-ea"/>
              <a:cs typeface="江城圆体 500W" panose="020B0600000000000000" pitchFamily="34" charset="-122"/>
              <a:sym typeface="江城圆体 600W" panose="020B0800000000000000" pitchFamily="3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3C9C9961-425A-93C8-15D1-78B7A1BE26B2}"/>
              </a:ext>
            </a:extLst>
          </p:cNvPr>
          <p:cNvSpPr/>
          <p:nvPr/>
        </p:nvSpPr>
        <p:spPr>
          <a:xfrm flipH="1">
            <a:off x="860289" y="1709387"/>
            <a:ext cx="5077535" cy="4024141"/>
          </a:xfrm>
          <a:prstGeom prst="roundRect">
            <a:avLst>
              <a:gd name="adj" fmla="val 13528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12C1190-E9F2-FD2E-01A6-16DC3D89F01B}"/>
              </a:ext>
            </a:extLst>
          </p:cNvPr>
          <p:cNvSpPr/>
          <p:nvPr/>
        </p:nvSpPr>
        <p:spPr>
          <a:xfrm>
            <a:off x="1742462" y="1957717"/>
            <a:ext cx="567690" cy="567690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5A9D173-D53B-E00E-EE77-0835C1493002}"/>
              </a:ext>
            </a:extLst>
          </p:cNvPr>
          <p:cNvSpPr txBox="1"/>
          <p:nvPr/>
        </p:nvSpPr>
        <p:spPr>
          <a:xfrm>
            <a:off x="2236326" y="2025134"/>
            <a:ext cx="23254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7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uLnTx/>
                <a:uFillTx/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pPr algn="ctr"/>
            <a:r>
              <a:rPr lang="zh-CN" altLang="en-US" sz="2400" dirty="0">
                <a:solidFill>
                  <a:schemeClr val="accent1"/>
                </a:solidFill>
              </a:rPr>
              <a:t>主要软件模块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5224FAD-241A-1B20-D462-F5510F323031}"/>
              </a:ext>
            </a:extLst>
          </p:cNvPr>
          <p:cNvSpPr/>
          <p:nvPr/>
        </p:nvSpPr>
        <p:spPr>
          <a:xfrm flipH="1">
            <a:off x="6570132" y="1709386"/>
            <a:ext cx="5077534" cy="4024139"/>
          </a:xfrm>
          <a:prstGeom prst="roundRect">
            <a:avLst>
              <a:gd name="adj" fmla="val 13528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AE4E38C-DFA4-9FDD-563F-AE7712DEEE1A}"/>
              </a:ext>
            </a:extLst>
          </p:cNvPr>
          <p:cNvSpPr/>
          <p:nvPr/>
        </p:nvSpPr>
        <p:spPr>
          <a:xfrm>
            <a:off x="7466737" y="1957717"/>
            <a:ext cx="567690" cy="567690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C7F19D-264A-F649-1A19-D14A9A7DA48A}"/>
              </a:ext>
            </a:extLst>
          </p:cNvPr>
          <p:cNvSpPr txBox="1"/>
          <p:nvPr/>
        </p:nvSpPr>
        <p:spPr>
          <a:xfrm>
            <a:off x="8083290" y="2048547"/>
            <a:ext cx="232546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7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uLnTx/>
                <a:uFillTx/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pPr algn="ctr"/>
            <a:r>
              <a:rPr lang="en-US" altLang="zh-CN" sz="2400" dirty="0">
                <a:solidFill>
                  <a:schemeClr val="accent1"/>
                </a:solidFill>
              </a:rPr>
              <a:t>DHT11</a:t>
            </a:r>
            <a:r>
              <a:rPr lang="zh-CN" altLang="en-US" sz="2400" dirty="0">
                <a:solidFill>
                  <a:schemeClr val="accent1"/>
                </a:solidFill>
              </a:rPr>
              <a:t>驱动核心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D5F03B9-6F0A-8D13-C714-5EB5B0603645}"/>
              </a:ext>
            </a:extLst>
          </p:cNvPr>
          <p:cNvSpPr txBox="1"/>
          <p:nvPr/>
        </p:nvSpPr>
        <p:spPr>
          <a:xfrm>
            <a:off x="1850184" y="2097819"/>
            <a:ext cx="326846" cy="287487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2000">
                <a:latin typeface="+mj-ea"/>
                <a:ea typeface="+mj-ea"/>
                <a:cs typeface="思源黑体 CN Normal" panose="020B0400000000000000" pitchFamily="34" charset="-122"/>
              </a:rPr>
              <a:t>01</a:t>
            </a:r>
            <a:endParaRPr lang="zh-CN" altLang="en-US" sz="2000">
              <a:latin typeface="+mj-ea"/>
              <a:ea typeface="+mj-ea"/>
              <a:cs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BB77B9F-C479-EAF7-5E30-B24CA0A2665A}"/>
              </a:ext>
            </a:extLst>
          </p:cNvPr>
          <p:cNvSpPr txBox="1"/>
          <p:nvPr/>
        </p:nvSpPr>
        <p:spPr>
          <a:xfrm>
            <a:off x="7589716" y="2097819"/>
            <a:ext cx="326846" cy="287487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2000">
                <a:latin typeface="+mj-ea"/>
                <a:ea typeface="+mj-ea"/>
                <a:cs typeface="思源黑体 CN Normal" panose="020B0400000000000000" pitchFamily="34" charset="-122"/>
              </a:rPr>
              <a:t>02</a:t>
            </a:r>
            <a:endParaRPr lang="zh-CN" altLang="en-US" sz="2000">
              <a:latin typeface="+mj-ea"/>
              <a:ea typeface="+mj-ea"/>
              <a:cs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DF61E64-59ED-64CB-35BE-D61E9D598B0F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pic>
        <p:nvPicPr>
          <p:cNvPr id="9" name="Picture 16">
            <a:extLst>
              <a:ext uri="{FF2B5EF4-FFF2-40B4-BE49-F238E27FC236}">
                <a16:creationId xmlns:a16="http://schemas.microsoft.com/office/drawing/2014/main" id="{01D09957-2FBB-E4B0-6103-0BFB97A06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3736" y="2699377"/>
            <a:ext cx="304800" cy="304800"/>
          </a:xfrm>
          <a:prstGeom prst="rect">
            <a:avLst/>
          </a:prstGeom>
        </p:spPr>
      </p:pic>
      <p:sp>
        <p:nvSpPr>
          <p:cNvPr id="13" name="AutoShape 17">
            <a:extLst>
              <a:ext uri="{FF2B5EF4-FFF2-40B4-BE49-F238E27FC236}">
                <a16:creationId xmlns:a16="http://schemas.microsoft.com/office/drawing/2014/main" id="{B9DA8580-F1FC-CC4C-E8B6-D99BADDD050D}"/>
              </a:ext>
            </a:extLst>
          </p:cNvPr>
          <p:cNvSpPr/>
          <p:nvPr/>
        </p:nvSpPr>
        <p:spPr>
          <a:xfrm>
            <a:off x="7331736" y="2699377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起始信号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16" name="AutoShape 18">
            <a:extLst>
              <a:ext uri="{FF2B5EF4-FFF2-40B4-BE49-F238E27FC236}">
                <a16:creationId xmlns:a16="http://schemas.microsoft.com/office/drawing/2014/main" id="{22661E4B-19E0-7730-7E61-3AA7B8184972}"/>
              </a:ext>
            </a:extLst>
          </p:cNvPr>
          <p:cNvSpPr/>
          <p:nvPr/>
        </p:nvSpPr>
        <p:spPr>
          <a:xfrm>
            <a:off x="7331736" y="3080377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MCU拉低总线</a:t>
            </a:r>
            <a:r>
              <a:rPr 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 &gt;18ms，释放总线等待响应。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7" name="Picture 19">
            <a:extLst>
              <a:ext uri="{FF2B5EF4-FFF2-40B4-BE49-F238E27FC236}">
                <a16:creationId xmlns:a16="http://schemas.microsoft.com/office/drawing/2014/main" id="{ECEDE6EE-2CEC-B7A0-69B8-97076E511D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3736" y="3669690"/>
            <a:ext cx="304800" cy="304800"/>
          </a:xfrm>
          <a:prstGeom prst="rect">
            <a:avLst/>
          </a:prstGeom>
        </p:spPr>
      </p:pic>
      <p:sp>
        <p:nvSpPr>
          <p:cNvPr id="18" name="AutoShape 20">
            <a:extLst>
              <a:ext uri="{FF2B5EF4-FFF2-40B4-BE49-F238E27FC236}">
                <a16:creationId xmlns:a16="http://schemas.microsoft.com/office/drawing/2014/main" id="{6AB2031E-5D65-6EFC-B0E7-A17F1E9922BB}"/>
              </a:ext>
            </a:extLst>
          </p:cNvPr>
          <p:cNvSpPr/>
          <p:nvPr/>
        </p:nvSpPr>
        <p:spPr>
          <a:xfrm>
            <a:off x="7331736" y="366969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响应信号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19" name="AutoShape 21">
            <a:extLst>
              <a:ext uri="{FF2B5EF4-FFF2-40B4-BE49-F238E27FC236}">
                <a16:creationId xmlns:a16="http://schemas.microsoft.com/office/drawing/2014/main" id="{E8D1F7E9-1AC5-2A22-CDB7-71B9B4BFE856}"/>
              </a:ext>
            </a:extLst>
          </p:cNvPr>
          <p:cNvSpPr/>
          <p:nvPr/>
        </p:nvSpPr>
        <p:spPr>
          <a:xfrm>
            <a:off x="7331736" y="405069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DHT11拉低总线80us，再拉高80us作为应答。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20" name="Picture 22">
            <a:extLst>
              <a:ext uri="{FF2B5EF4-FFF2-40B4-BE49-F238E27FC236}">
                <a16:creationId xmlns:a16="http://schemas.microsoft.com/office/drawing/2014/main" id="{E7175E01-F4E7-BF8C-30B6-22DB0692EB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23736" y="4634890"/>
            <a:ext cx="304800" cy="304800"/>
          </a:xfrm>
          <a:prstGeom prst="rect">
            <a:avLst/>
          </a:prstGeom>
        </p:spPr>
      </p:pic>
      <p:sp>
        <p:nvSpPr>
          <p:cNvPr id="21" name="AutoShape 23">
            <a:extLst>
              <a:ext uri="{FF2B5EF4-FFF2-40B4-BE49-F238E27FC236}">
                <a16:creationId xmlns:a16="http://schemas.microsoft.com/office/drawing/2014/main" id="{5991EAEC-7904-0874-5FB1-5D511AE94828}"/>
              </a:ext>
            </a:extLst>
          </p:cNvPr>
          <p:cNvSpPr/>
          <p:nvPr/>
        </p:nvSpPr>
        <p:spPr>
          <a:xfrm>
            <a:off x="7331736" y="463489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数据传输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22" name="AutoShape 24">
            <a:extLst>
              <a:ext uri="{FF2B5EF4-FFF2-40B4-BE49-F238E27FC236}">
                <a16:creationId xmlns:a16="http://schemas.microsoft.com/office/drawing/2014/main" id="{14B9DFF4-3015-61CE-4A65-7C6B63864803}"/>
              </a:ext>
            </a:extLst>
          </p:cNvPr>
          <p:cNvSpPr/>
          <p:nvPr/>
        </p:nvSpPr>
        <p:spPr>
          <a:xfrm>
            <a:off x="7331736" y="501589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发送40位数据，通过高电平持续时间判断0/1。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5" name="AutoShape 17">
            <a:extLst>
              <a:ext uri="{FF2B5EF4-FFF2-40B4-BE49-F238E27FC236}">
                <a16:creationId xmlns:a16="http://schemas.microsoft.com/office/drawing/2014/main" id="{CA2B9AA7-D06D-1D8E-8175-BB705138C9F7}"/>
              </a:ext>
            </a:extLst>
          </p:cNvPr>
          <p:cNvSpPr/>
          <p:nvPr/>
        </p:nvSpPr>
        <p:spPr>
          <a:xfrm>
            <a:off x="1682177" y="2699377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GPIO</a:t>
            </a:r>
            <a:r>
              <a:rPr lang="zh-CN" altLang="en-US" sz="2000" b="1" i="0" u="none" strike="noStrike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配置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46" name="AutoShape 18">
            <a:extLst>
              <a:ext uri="{FF2B5EF4-FFF2-40B4-BE49-F238E27FC236}">
                <a16:creationId xmlns:a16="http://schemas.microsoft.com/office/drawing/2014/main" id="{94906720-4757-5310-3DF2-1C9E6352C49C}"/>
              </a:ext>
            </a:extLst>
          </p:cNvPr>
          <p:cNvSpPr/>
          <p:nvPr/>
        </p:nvSpPr>
        <p:spPr>
          <a:xfrm>
            <a:off x="1682177" y="3088844"/>
            <a:ext cx="400742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将</a:t>
            </a:r>
            <a:r>
              <a:rPr lang="en-US" altLang="zh-CN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PA15</a:t>
            </a:r>
            <a:r>
              <a:rPr lang="zh-CN" alt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引脚配置为开漏输出，模拟</a:t>
            </a:r>
            <a:r>
              <a:rPr lang="en-US" altLang="zh-CN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DHT11</a:t>
            </a:r>
            <a:r>
              <a:rPr lang="zh-CN" alt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单总线时序</a:t>
            </a:r>
            <a:r>
              <a:rPr 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8" name="AutoShape 20">
            <a:extLst>
              <a:ext uri="{FF2B5EF4-FFF2-40B4-BE49-F238E27FC236}">
                <a16:creationId xmlns:a16="http://schemas.microsoft.com/office/drawing/2014/main" id="{80A18F1E-90D4-5F45-33EB-69DF2DDA6526}"/>
              </a:ext>
            </a:extLst>
          </p:cNvPr>
          <p:cNvSpPr/>
          <p:nvPr/>
        </p:nvSpPr>
        <p:spPr>
          <a:xfrm>
            <a:off x="1682177" y="3788228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DHT11</a:t>
            </a:r>
            <a:r>
              <a:rPr lang="zh-CN" altLang="en-US" sz="2000" b="1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驱动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49" name="AutoShape 21">
            <a:extLst>
              <a:ext uri="{FF2B5EF4-FFF2-40B4-BE49-F238E27FC236}">
                <a16:creationId xmlns:a16="http://schemas.microsoft.com/office/drawing/2014/main" id="{08141D53-C01E-210E-38BB-DD30C4153BEF}"/>
              </a:ext>
            </a:extLst>
          </p:cNvPr>
          <p:cNvSpPr/>
          <p:nvPr/>
        </p:nvSpPr>
        <p:spPr>
          <a:xfrm>
            <a:off x="1682177" y="4177695"/>
            <a:ext cx="400742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编写初始化与读取函数，模拟完整通信协议。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1" name="AutoShape 23">
            <a:extLst>
              <a:ext uri="{FF2B5EF4-FFF2-40B4-BE49-F238E27FC236}">
                <a16:creationId xmlns:a16="http://schemas.microsoft.com/office/drawing/2014/main" id="{B3B13949-ADF1-7EA7-54A6-F5091AD83D5C}"/>
              </a:ext>
            </a:extLst>
          </p:cNvPr>
          <p:cNvSpPr/>
          <p:nvPr/>
        </p:nvSpPr>
        <p:spPr>
          <a:xfrm>
            <a:off x="1682177" y="4601022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UART</a:t>
            </a:r>
            <a:r>
              <a:rPr lang="zh-CN" altLang="en-US" sz="2000" b="1" i="0" u="none" strike="noStrike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串口配置</a:t>
            </a:r>
            <a:endParaRPr lang="en-US" sz="1100" dirty="0">
              <a:solidFill>
                <a:schemeClr val="accent3"/>
              </a:solidFill>
            </a:endParaRPr>
          </a:p>
        </p:txBody>
      </p:sp>
      <p:sp>
        <p:nvSpPr>
          <p:cNvPr id="52" name="AutoShape 24">
            <a:extLst>
              <a:ext uri="{FF2B5EF4-FFF2-40B4-BE49-F238E27FC236}">
                <a16:creationId xmlns:a16="http://schemas.microsoft.com/office/drawing/2014/main" id="{D7A176B2-10EA-E12A-B9F9-58FBD0A66AA6}"/>
              </a:ext>
            </a:extLst>
          </p:cNvPr>
          <p:cNvSpPr/>
          <p:nvPr/>
        </p:nvSpPr>
        <p:spPr>
          <a:xfrm>
            <a:off x="1682177" y="4982022"/>
            <a:ext cx="4007423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配置</a:t>
            </a:r>
            <a:r>
              <a:rPr 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USART1</a:t>
            </a:r>
            <a:r>
              <a:rPr lang="zh-CN" alt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波特率</a:t>
            </a:r>
            <a:r>
              <a:rPr lang="en-US" altLang="zh-CN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115200</a:t>
            </a:r>
            <a:r>
              <a:rPr 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bps，</a:t>
            </a:r>
            <a:r>
              <a:rPr lang="zh-CN" alt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用于与上位机通信</a:t>
            </a:r>
            <a:r>
              <a:rPr lang="en-US" sz="1600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53" name="Picture 5">
            <a:extLst>
              <a:ext uri="{FF2B5EF4-FFF2-40B4-BE49-F238E27FC236}">
                <a16:creationId xmlns:a16="http://schemas.microsoft.com/office/drawing/2014/main" id="{752D250F-C915-2D1D-24AD-B7EDB3DEDE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6495" y="2740391"/>
            <a:ext cx="304800" cy="304800"/>
          </a:xfrm>
          <a:prstGeom prst="rect">
            <a:avLst/>
          </a:prstGeom>
        </p:spPr>
      </p:pic>
      <p:pic>
        <p:nvPicPr>
          <p:cNvPr id="54" name="Picture 8">
            <a:extLst>
              <a:ext uri="{FF2B5EF4-FFF2-40B4-BE49-F238E27FC236}">
                <a16:creationId xmlns:a16="http://schemas.microsoft.com/office/drawing/2014/main" id="{42851175-96D0-B299-B72B-81C8D68698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74177" y="3796936"/>
            <a:ext cx="304800" cy="304800"/>
          </a:xfrm>
          <a:prstGeom prst="rect">
            <a:avLst/>
          </a:prstGeom>
        </p:spPr>
      </p:pic>
      <p:pic>
        <p:nvPicPr>
          <p:cNvPr id="57" name="Picture 11">
            <a:extLst>
              <a:ext uri="{FF2B5EF4-FFF2-40B4-BE49-F238E27FC236}">
                <a16:creationId xmlns:a16="http://schemas.microsoft.com/office/drawing/2014/main" id="{2C3E2BF7-17C8-6F14-7F7B-1B100E005F2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74177" y="463489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77800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588925" y="1156464"/>
            <a:ext cx="10053675" cy="13875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500" b="1" kern="100" dirty="0">
                <a:ln w="12700">
                  <a:solidFill>
                    <a:schemeClr val="accent1">
                      <a:alpha val="13000"/>
                    </a:schemeClr>
                  </a:solidFill>
                </a:ln>
                <a:noFill/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PROGRAM</a:t>
            </a:r>
          </a:p>
        </p:txBody>
      </p:sp>
      <p:sp>
        <p:nvSpPr>
          <p:cNvPr id="2" name="椭圆 1"/>
          <p:cNvSpPr/>
          <p:nvPr/>
        </p:nvSpPr>
        <p:spPr>
          <a:xfrm>
            <a:off x="11224249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87055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516863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163171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17669" y="792480"/>
            <a:ext cx="66707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/>
          <p:cNvSpPr/>
          <p:nvPr>
            <p:custDataLst>
              <p:tags r:id="rId1"/>
            </p:custDataLst>
          </p:nvPr>
        </p:nvSpPr>
        <p:spPr>
          <a:xfrm>
            <a:off x="714165" y="2803444"/>
            <a:ext cx="5276002" cy="187622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871" tIns="43436" rIns="86871" bIns="43436" rtlCol="0" anchor="ctr"/>
          <a:lstStyle/>
          <a:p>
            <a:pPr algn="ctr"/>
            <a:endParaRPr lang="zh-CN" altLang="en-US" sz="1710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33472" y="2142391"/>
            <a:ext cx="5515428" cy="93121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6600" b="1">
                <a:solidFill>
                  <a:schemeClr val="bg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PART FOUR</a:t>
            </a:r>
            <a:endParaRPr lang="zh-CN" altLang="en-US" sz="6600" b="1">
              <a:solidFill>
                <a:schemeClr val="bg1"/>
              </a:solidFill>
              <a:latin typeface="+mj-ea"/>
              <a:ea typeface="+mj-ea"/>
              <a:cs typeface="江城圆体 500W" panose="020B0600000000000000" pitchFamily="34" charset="-122"/>
              <a:sym typeface="江城圆体 600W" panose="020B0800000000000000" pitchFamily="3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632104" y="3251010"/>
            <a:ext cx="6573912" cy="99719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7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上位机软件实现</a:t>
            </a:r>
          </a:p>
        </p:txBody>
      </p:sp>
      <p:sp>
        <p:nvSpPr>
          <p:cNvPr id="51" name="文本框 50"/>
          <p:cNvSpPr txBox="1"/>
          <p:nvPr/>
        </p:nvSpPr>
        <p:spPr>
          <a:xfrm>
            <a:off x="780684" y="4680826"/>
            <a:ext cx="4886567" cy="2290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Implementation of upper computer software</a:t>
            </a:r>
          </a:p>
        </p:txBody>
      </p:sp>
      <p:cxnSp>
        <p:nvCxnSpPr>
          <p:cNvPr id="57" name="直接连接符 56"/>
          <p:cNvCxnSpPr/>
          <p:nvPr/>
        </p:nvCxnSpPr>
        <p:spPr>
          <a:xfrm flipH="1">
            <a:off x="11476353" y="1058779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11476353" y="4833325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5235F57-98F3-1572-5FEF-01BA3B161004}"/>
              </a:ext>
            </a:extLst>
          </p:cNvPr>
          <p:cNvSpPr/>
          <p:nvPr/>
        </p:nvSpPr>
        <p:spPr>
          <a:xfrm>
            <a:off x="695325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C77E7D0-D621-2EC1-1470-93FC06C71F5B}"/>
              </a:ext>
            </a:extLst>
          </p:cNvPr>
          <p:cNvSpPr/>
          <p:nvPr/>
        </p:nvSpPr>
        <p:spPr>
          <a:xfrm>
            <a:off x="850394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E515776-B0D2-FB71-8E11-04EFE04BEC5C}"/>
              </a:ext>
            </a:extLst>
          </p:cNvPr>
          <p:cNvSpPr txBox="1"/>
          <p:nvPr/>
        </p:nvSpPr>
        <p:spPr>
          <a:xfrm>
            <a:off x="987723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TEMPERATURE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D006F88-2366-5797-BFA5-AE654BE1AF7F}"/>
              </a:ext>
            </a:extLst>
          </p:cNvPr>
          <p:cNvSpPr/>
          <p:nvPr/>
        </p:nvSpPr>
        <p:spPr>
          <a:xfrm>
            <a:off x="3539066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9E56C300-C4FF-C6E3-1A6A-65ADA6FC5933}"/>
              </a:ext>
            </a:extLst>
          </p:cNvPr>
          <p:cNvSpPr/>
          <p:nvPr/>
        </p:nvSpPr>
        <p:spPr>
          <a:xfrm>
            <a:off x="3694135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C8EB95-1463-C70C-A352-9238D78EB5A8}"/>
              </a:ext>
            </a:extLst>
          </p:cNvPr>
          <p:cNvSpPr txBox="1"/>
          <p:nvPr/>
        </p:nvSpPr>
        <p:spPr>
          <a:xfrm>
            <a:off x="3831464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HUMIDITY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7E3D6FC-8AF1-E348-5DCD-417E40F816D7}"/>
              </a:ext>
            </a:extLst>
          </p:cNvPr>
          <p:cNvSpPr/>
          <p:nvPr/>
        </p:nvSpPr>
        <p:spPr>
          <a:xfrm>
            <a:off x="6382807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6CBAF25-5D53-B19B-BE36-D523759F857E}"/>
              </a:ext>
            </a:extLst>
          </p:cNvPr>
          <p:cNvSpPr/>
          <p:nvPr/>
        </p:nvSpPr>
        <p:spPr>
          <a:xfrm>
            <a:off x="6537876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DB7658F-9D75-4FD0-520E-6365474C3E8A}"/>
              </a:ext>
            </a:extLst>
          </p:cNvPr>
          <p:cNvSpPr txBox="1"/>
          <p:nvPr/>
        </p:nvSpPr>
        <p:spPr>
          <a:xfrm>
            <a:off x="6675205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COLLECTION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C085DBC-3FA8-F099-9B54-CDF575011550}"/>
              </a:ext>
            </a:extLst>
          </p:cNvPr>
          <p:cNvSpPr/>
          <p:nvPr/>
        </p:nvSpPr>
        <p:spPr>
          <a:xfrm>
            <a:off x="9226549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42C7B344-B6E6-60C5-2806-0B80084D9D43}"/>
              </a:ext>
            </a:extLst>
          </p:cNvPr>
          <p:cNvSpPr/>
          <p:nvPr/>
        </p:nvSpPr>
        <p:spPr>
          <a:xfrm>
            <a:off x="9381618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598DC2-1AD4-2DD3-6B8A-7AE7C2E35613}"/>
              </a:ext>
            </a:extLst>
          </p:cNvPr>
          <p:cNvSpPr txBox="1"/>
          <p:nvPr/>
        </p:nvSpPr>
        <p:spPr>
          <a:xfrm>
            <a:off x="9518947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MONITORING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F4251DE-C301-1FFC-63D0-3EDCB04F5544}"/>
              </a:ext>
            </a:extLst>
          </p:cNvPr>
          <p:cNvSpPr txBox="1"/>
          <p:nvPr/>
        </p:nvSpPr>
        <p:spPr>
          <a:xfrm>
            <a:off x="538476" y="545737"/>
            <a:ext cx="2638145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B1A6E72-0482-3BC3-085A-6ABE9C833CB8}"/>
              </a:ext>
            </a:extLst>
          </p:cNvPr>
          <p:cNvSpPr txBox="1"/>
          <p:nvPr/>
        </p:nvSpPr>
        <p:spPr>
          <a:xfrm>
            <a:off x="11224249" y="2349599"/>
            <a:ext cx="378826" cy="2331227"/>
          </a:xfrm>
          <a:prstGeom prst="rect">
            <a:avLst/>
          </a:prstGeom>
          <a:noFill/>
        </p:spPr>
        <p:txBody>
          <a:bodyPr vert="eaVert" wrap="none" lIns="0" tIns="0" rIns="0" bIns="0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DESIGN IMPLEMENTATION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4" name="图片 23" descr="电脑游戏画面&#10;&#10;AI 生成的内容可能不正确。">
            <a:extLst>
              <a:ext uri="{FF2B5EF4-FFF2-40B4-BE49-F238E27FC236}">
                <a16:creationId xmlns:a16="http://schemas.microsoft.com/office/drawing/2014/main" id="{95A2C795-E27B-BEEA-7747-058B8F76D1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063" y="990433"/>
            <a:ext cx="4433894" cy="48508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utoShape 20">
            <a:extLst>
              <a:ext uri="{FF2B5EF4-FFF2-40B4-BE49-F238E27FC236}">
                <a16:creationId xmlns:a16="http://schemas.microsoft.com/office/drawing/2014/main" id="{26DCDB3D-8D8A-C845-DE6B-1858798A8EC2}"/>
              </a:ext>
            </a:extLst>
          </p:cNvPr>
          <p:cNvSpPr/>
          <p:nvPr/>
        </p:nvSpPr>
        <p:spPr>
          <a:xfrm>
            <a:off x="6981919" y="4570836"/>
            <a:ext cx="4572000" cy="714167"/>
          </a:xfrm>
          <a:prstGeom prst="roundRect">
            <a:avLst>
              <a:gd name="adj" fmla="val 20000"/>
            </a:avLst>
          </a:prstGeom>
          <a:solidFill>
            <a:schemeClr val="accent2">
              <a:alpha val="10000"/>
            </a:schemeClr>
          </a:solidFill>
          <a:ln w="28575" cap="flat" cmpd="sng">
            <a:solidFill>
              <a:schemeClr val="accent1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椭圆 2"/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>
          <a:xfrm flipH="1">
            <a:off x="4299045" y="792480"/>
            <a:ext cx="4775286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02068" y="583573"/>
            <a:ext cx="3565465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上位机软件架构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1A26E13-EF73-7D60-F548-F569CF58B322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pic>
        <p:nvPicPr>
          <p:cNvPr id="22" name="Picture 4">
            <a:extLst>
              <a:ext uri="{FF2B5EF4-FFF2-40B4-BE49-F238E27FC236}">
                <a16:creationId xmlns:a16="http://schemas.microsoft.com/office/drawing/2014/main" id="{DF853FB5-1950-C149-5EFC-20E5EC389E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5325" y="1436564"/>
            <a:ext cx="507600" cy="507600"/>
          </a:xfrm>
          <a:prstGeom prst="rect">
            <a:avLst/>
          </a:prstGeom>
        </p:spPr>
      </p:pic>
      <p:sp>
        <p:nvSpPr>
          <p:cNvPr id="23" name="AutoShape 5">
            <a:extLst>
              <a:ext uri="{FF2B5EF4-FFF2-40B4-BE49-F238E27FC236}">
                <a16:creationId xmlns:a16="http://schemas.microsoft.com/office/drawing/2014/main" id="{A06ED650-4769-33A8-7C5E-B4A1137ADF84}"/>
              </a:ext>
            </a:extLst>
          </p:cNvPr>
          <p:cNvSpPr/>
          <p:nvPr/>
        </p:nvSpPr>
        <p:spPr>
          <a:xfrm>
            <a:off x="1457420" y="1436063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dirty="0" err="1">
                <a:solidFill>
                  <a:schemeClr val="accent1"/>
                </a:solidFill>
                <a:latin typeface="+mj-ea"/>
                <a:ea typeface="+mj-ea"/>
                <a:sym typeface="Noto Sans SC" panose="020B0200000000000000" charset="-122"/>
              </a:rPr>
              <a:t>UI界面模块</a:t>
            </a:r>
            <a:endParaRPr lang="en-US" sz="28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4" name="AutoShape 6">
            <a:extLst>
              <a:ext uri="{FF2B5EF4-FFF2-40B4-BE49-F238E27FC236}">
                <a16:creationId xmlns:a16="http://schemas.microsoft.com/office/drawing/2014/main" id="{ADD01398-74D7-BB20-E697-8CCFD312540D}"/>
              </a:ext>
            </a:extLst>
          </p:cNvPr>
          <p:cNvSpPr/>
          <p:nvPr/>
        </p:nvSpPr>
        <p:spPr>
          <a:xfrm>
            <a:off x="1304925" y="1919445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dirty="0" err="1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负责用户交互，包括参数设置、数据显示、曲线图展示等</a:t>
            </a:r>
            <a:r>
              <a:rPr lang="en-US" sz="2000" dirty="0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。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5" name="Picture 7">
            <a:extLst>
              <a:ext uri="{FF2B5EF4-FFF2-40B4-BE49-F238E27FC236}">
                <a16:creationId xmlns:a16="http://schemas.microsoft.com/office/drawing/2014/main" id="{D8E3BF88-1342-E6A9-A787-B357C43246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325" y="3111495"/>
            <a:ext cx="507600" cy="507600"/>
          </a:xfrm>
          <a:prstGeom prst="rect">
            <a:avLst/>
          </a:prstGeom>
        </p:spPr>
      </p:pic>
      <p:sp>
        <p:nvSpPr>
          <p:cNvPr id="26" name="AutoShape 8">
            <a:extLst>
              <a:ext uri="{FF2B5EF4-FFF2-40B4-BE49-F238E27FC236}">
                <a16:creationId xmlns:a16="http://schemas.microsoft.com/office/drawing/2014/main" id="{90B9A505-A742-FD75-B12D-83FFEE6FD35E}"/>
              </a:ext>
            </a:extLst>
          </p:cNvPr>
          <p:cNvSpPr/>
          <p:nvPr/>
        </p:nvSpPr>
        <p:spPr>
          <a:xfrm>
            <a:off x="1457420" y="3060495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dirty="0" err="1">
                <a:solidFill>
                  <a:schemeClr val="accent1"/>
                </a:solidFill>
                <a:latin typeface="+mj-ea"/>
                <a:ea typeface="+mj-ea"/>
                <a:sym typeface="Noto Sans SC" panose="020B0200000000000000" charset="-122"/>
              </a:rPr>
              <a:t>串口通信模块</a:t>
            </a:r>
            <a:endParaRPr 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AutoShape 9">
            <a:extLst>
              <a:ext uri="{FF2B5EF4-FFF2-40B4-BE49-F238E27FC236}">
                <a16:creationId xmlns:a16="http://schemas.microsoft.com/office/drawing/2014/main" id="{1E365151-7BED-8DDC-F856-8ED084DB4BA8}"/>
              </a:ext>
            </a:extLst>
          </p:cNvPr>
          <p:cNvSpPr/>
          <p:nvPr/>
        </p:nvSpPr>
        <p:spPr>
          <a:xfrm>
            <a:off x="1304925" y="3541556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dirty="0" err="1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基于QSerialPort，负责与下位机进行数据的读写与配置</a:t>
            </a:r>
            <a:r>
              <a:rPr lang="zh-CN" altLang="en-US" sz="1600" dirty="0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。</a:t>
            </a:r>
            <a:endParaRPr lang="en-US" sz="16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8" name="Picture 10">
            <a:extLst>
              <a:ext uri="{FF2B5EF4-FFF2-40B4-BE49-F238E27FC236}">
                <a16:creationId xmlns:a16="http://schemas.microsoft.com/office/drawing/2014/main" id="{326D54E9-6448-A9FF-3964-4FED7E1989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5325" y="4779436"/>
            <a:ext cx="507600" cy="507600"/>
          </a:xfrm>
          <a:prstGeom prst="rect">
            <a:avLst/>
          </a:prstGeom>
        </p:spPr>
      </p:pic>
      <p:sp>
        <p:nvSpPr>
          <p:cNvPr id="29" name="AutoShape 11">
            <a:extLst>
              <a:ext uri="{FF2B5EF4-FFF2-40B4-BE49-F238E27FC236}">
                <a16:creationId xmlns:a16="http://schemas.microsoft.com/office/drawing/2014/main" id="{D30C95CD-D19B-5C12-6BA2-3E034E00E809}"/>
              </a:ext>
            </a:extLst>
          </p:cNvPr>
          <p:cNvSpPr/>
          <p:nvPr/>
        </p:nvSpPr>
        <p:spPr>
          <a:xfrm>
            <a:off x="1457420" y="4779436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dirty="0" err="1">
                <a:solidFill>
                  <a:schemeClr val="accent1"/>
                </a:solidFill>
                <a:latin typeface="+mj-ea"/>
                <a:ea typeface="+mj-ea"/>
                <a:sym typeface="Noto Sans SC" panose="020B0200000000000000" charset="-122"/>
              </a:rPr>
              <a:t>数据处理模块</a:t>
            </a:r>
            <a:endParaRPr 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0" name="AutoShape 12">
            <a:extLst>
              <a:ext uri="{FF2B5EF4-FFF2-40B4-BE49-F238E27FC236}">
                <a16:creationId xmlns:a16="http://schemas.microsoft.com/office/drawing/2014/main" id="{F1A8DCDD-8726-26AF-3300-9C29302FF908}"/>
              </a:ext>
            </a:extLst>
          </p:cNvPr>
          <p:cNvSpPr/>
          <p:nvPr/>
        </p:nvSpPr>
        <p:spPr>
          <a:xfrm>
            <a:off x="1304925" y="5211236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dirty="0" err="1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解析串口数据，提取温湿度值并进行格式转换</a:t>
            </a:r>
            <a:r>
              <a:rPr lang="en-US" sz="2000" dirty="0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。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1" name="Connector 13">
            <a:extLst>
              <a:ext uri="{FF2B5EF4-FFF2-40B4-BE49-F238E27FC236}">
                <a16:creationId xmlns:a16="http://schemas.microsoft.com/office/drawing/2014/main" id="{DA27B889-6344-6D68-7B68-18EB45858A2A}"/>
              </a:ext>
            </a:extLst>
          </p:cNvPr>
          <p:cNvCxnSpPr>
            <a:cxnSpLocks/>
          </p:cNvCxnSpPr>
          <p:nvPr/>
        </p:nvCxnSpPr>
        <p:spPr>
          <a:xfrm>
            <a:off x="6562314" y="1566588"/>
            <a:ext cx="77211" cy="4330936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57150" cap="flat" cmpd="sng">
            <a:solidFill>
              <a:schemeClr val="accent1">
                <a:alpha val="3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2" name="Picture 14">
            <a:extLst>
              <a:ext uri="{FF2B5EF4-FFF2-40B4-BE49-F238E27FC236}">
                <a16:creationId xmlns:a16="http://schemas.microsoft.com/office/drawing/2014/main" id="{6571C306-3861-3A46-8623-FD50CA43AD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56298" y="1436564"/>
            <a:ext cx="507600" cy="507600"/>
          </a:xfrm>
          <a:prstGeom prst="rect">
            <a:avLst/>
          </a:prstGeom>
        </p:spPr>
      </p:pic>
      <p:sp>
        <p:nvSpPr>
          <p:cNvPr id="33" name="AutoShape 15">
            <a:extLst>
              <a:ext uri="{FF2B5EF4-FFF2-40B4-BE49-F238E27FC236}">
                <a16:creationId xmlns:a16="http://schemas.microsoft.com/office/drawing/2014/main" id="{E93EC6E8-9FF5-FA36-DDDE-F71077D332D8}"/>
              </a:ext>
            </a:extLst>
          </p:cNvPr>
          <p:cNvSpPr/>
          <p:nvPr/>
        </p:nvSpPr>
        <p:spPr>
          <a:xfrm>
            <a:off x="7980671" y="1436063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dirty="0" err="1">
                <a:solidFill>
                  <a:schemeClr val="accent1"/>
                </a:solidFill>
                <a:latin typeface="+mj-ea"/>
                <a:ea typeface="+mj-ea"/>
                <a:sym typeface="Noto Sans SC" panose="020B0200000000000000" charset="-122"/>
              </a:rPr>
              <a:t>数据可视化模块</a:t>
            </a:r>
            <a:endParaRPr 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4" name="AutoShape 16">
            <a:extLst>
              <a:ext uri="{FF2B5EF4-FFF2-40B4-BE49-F238E27FC236}">
                <a16:creationId xmlns:a16="http://schemas.microsoft.com/office/drawing/2014/main" id="{29345A03-1EAA-DF64-FC75-6C88BE992DC4}"/>
              </a:ext>
            </a:extLst>
          </p:cNvPr>
          <p:cNvSpPr/>
          <p:nvPr/>
        </p:nvSpPr>
        <p:spPr>
          <a:xfrm>
            <a:off x="7666403" y="1944164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dirty="0" err="1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使用QCustomPlot库，动态展示实时曲线图</a:t>
            </a:r>
            <a:r>
              <a:rPr lang="en-US" sz="2000" dirty="0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。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36" name="Picture 21">
            <a:extLst>
              <a:ext uri="{FF2B5EF4-FFF2-40B4-BE49-F238E27FC236}">
                <a16:creationId xmlns:a16="http://schemas.microsoft.com/office/drawing/2014/main" id="{11A724A8-7396-5A4C-0C6A-FE4820E4D2E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82044" y="4755587"/>
            <a:ext cx="360000" cy="360000"/>
          </a:xfrm>
          <a:prstGeom prst="rect">
            <a:avLst/>
          </a:prstGeom>
        </p:spPr>
      </p:pic>
      <p:sp>
        <p:nvSpPr>
          <p:cNvPr id="37" name="AutoShape 22">
            <a:extLst>
              <a:ext uri="{FF2B5EF4-FFF2-40B4-BE49-F238E27FC236}">
                <a16:creationId xmlns:a16="http://schemas.microsoft.com/office/drawing/2014/main" id="{07AFC281-E11C-F5CD-279C-6AC4BDE7FE0A}"/>
              </a:ext>
            </a:extLst>
          </p:cNvPr>
          <p:cNvSpPr/>
          <p:nvPr/>
        </p:nvSpPr>
        <p:spPr>
          <a:xfrm>
            <a:off x="7781789" y="4745261"/>
            <a:ext cx="2430617" cy="304699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dirty="0" err="1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开发框架</a:t>
            </a:r>
            <a:r>
              <a:rPr lang="en-US" sz="2400" dirty="0">
                <a:solidFill>
                  <a:schemeClr val="bg1"/>
                </a:solidFill>
                <a:latin typeface="+mn-ea"/>
                <a:sym typeface="Noto Sans SC" panose="020B0200000000000000" charset="-122"/>
              </a:rPr>
              <a:t>: Qt 5.4.0</a:t>
            </a:r>
            <a:endParaRPr lang="en-US" sz="2000" dirty="0">
              <a:solidFill>
                <a:schemeClr val="bg1"/>
              </a:solidFill>
              <a:latin typeface="+mn-ea"/>
            </a:endParaRPr>
          </a:p>
        </p:txBody>
      </p:sp>
      <p:graphicFrame>
        <p:nvGraphicFramePr>
          <p:cNvPr id="44" name="图表 43">
            <a:extLst>
              <a:ext uri="{FF2B5EF4-FFF2-40B4-BE49-F238E27FC236}">
                <a16:creationId xmlns:a16="http://schemas.microsoft.com/office/drawing/2014/main" id="{B9470611-E6E4-514F-B6F8-6CF6A2C2F9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0831073"/>
              </p:ext>
            </p:extLst>
          </p:nvPr>
        </p:nvGraphicFramePr>
        <p:xfrm>
          <a:off x="4801851" y="-180358"/>
          <a:ext cx="891884" cy="1088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>
          <a:xfrm flipH="1">
            <a:off x="3411940" y="792480"/>
            <a:ext cx="5662391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02068" y="583573"/>
            <a:ext cx="2235273" cy="88639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UI</a:t>
            </a: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界面设计</a:t>
            </a:r>
          </a:p>
          <a:p>
            <a:pPr>
              <a:lnSpc>
                <a:spcPct val="90000"/>
              </a:lnSpc>
            </a:pPr>
            <a:endParaRPr lang="zh-CN" altLang="en-US" sz="3200" dirty="0">
              <a:solidFill>
                <a:schemeClr val="accent1"/>
              </a:solidFill>
              <a:latin typeface="+mj-ea"/>
              <a:ea typeface="+mj-ea"/>
              <a:cs typeface="江城圆体 500W" panose="020B0600000000000000" pitchFamily="34" charset="-122"/>
              <a:sym typeface="江城圆体 600W" panose="020B0800000000000000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6561528" y="4763670"/>
            <a:ext cx="178660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latin typeface="+mj-ea"/>
                <a:ea typeface="+mj-ea"/>
                <a:cs typeface="OPPOSans R" panose="00020600040101010101" pitchFamily="18" charset="-122"/>
              </a:defRPr>
            </a:lvl1pPr>
          </a:lstStyle>
          <a:p>
            <a:r>
              <a:rPr lang="zh-CN" altLang="en-US" sz="2000" dirty="0">
                <a:solidFill>
                  <a:schemeClr val="accent1"/>
                </a:solidFill>
              </a:rPr>
              <a:t>实时曲线图区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6561528" y="5187331"/>
            <a:ext cx="5130939" cy="54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视艺术为情感与思想的出口，作品不浮于表面形式，而是真挚传达对生活、社会、人性等主题的感悟与思考。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6561528" y="1557773"/>
            <a:ext cx="146544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>
                <a:gradFill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latin typeface="+mj-ea"/>
                <a:ea typeface="+mj-ea"/>
                <a:cs typeface="OPPOSans R" panose="00020600040101010101" pitchFamily="18" charset="-122"/>
              </a:defRPr>
            </a:lvl1pPr>
          </a:lstStyle>
          <a:p>
            <a:r>
              <a:rPr lang="zh-CN" altLang="en-US" sz="2000" dirty="0">
                <a:solidFill>
                  <a:schemeClr val="accent1"/>
                </a:solidFill>
              </a:rPr>
              <a:t>串口配置区</a:t>
            </a: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6561528" y="2011164"/>
            <a:ext cx="5041547" cy="54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设置串口号、波特率等参数，支持一键打开</a:t>
            </a:r>
            <a:r>
              <a:rPr lang="en-US" altLang="zh-CN" sz="1600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关闭串口。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6561528" y="3608320"/>
            <a:ext cx="5041547" cy="542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</a:rPr>
              <a:t>将日常观察与奇思妙想转化为新颖独特的创作概念，打破常规视觉模式</a:t>
            </a:r>
            <a:r>
              <a:rPr lang="zh-CN" altLang="en-US" sz="1400" dirty="0">
                <a:solidFill>
                  <a:schemeClr val="bg1"/>
                </a:solidFill>
              </a:rPr>
              <a:t>。</a:t>
            </a:r>
            <a:endParaRPr lang="zh-CN" altLang="en-US" sz="1400" dirty="0">
              <a:solidFill>
                <a:schemeClr val="bg1"/>
              </a:solidFill>
              <a:latin typeface="思源黑体 CN Normal" panose="020B0400000000000000" pitchFamily="34" charset="-122"/>
              <a:cs typeface="OPPOSans R" panose="00020600040101010101" pitchFamily="18" charset="-122"/>
            </a:endParaRPr>
          </a:p>
        </p:txBody>
      </p:sp>
      <p:sp>
        <p:nvSpPr>
          <p:cNvPr id="15" name="矩形: 圆角 14"/>
          <p:cNvSpPr/>
          <p:nvPr>
            <p:custDataLst>
              <p:tags r:id="rId6"/>
            </p:custDataLst>
          </p:nvPr>
        </p:nvSpPr>
        <p:spPr>
          <a:xfrm>
            <a:off x="6427755" y="2951985"/>
            <a:ext cx="1498289" cy="51049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2000">
              <a:cs typeface="OPPOSans R" panose="00020600040101010101" pitchFamily="18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6460601" y="3079764"/>
            <a:ext cx="146544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000" dirty="0">
                <a:latin typeface="+mj-ea"/>
                <a:ea typeface="+mj-ea"/>
                <a:cs typeface="OPPOSans R" panose="00020600040101010101" pitchFamily="18" charset="-122"/>
              </a:rPr>
              <a:t>数据显示区</a:t>
            </a:r>
          </a:p>
        </p:txBody>
      </p:sp>
      <p:pic>
        <p:nvPicPr>
          <p:cNvPr id="5" name="图片 4" descr="图形用户界面, 应用程序, Word&#10;&#10;AI 生成的内容可能不正确。">
            <a:extLst>
              <a:ext uri="{FF2B5EF4-FFF2-40B4-BE49-F238E27FC236}">
                <a16:creationId xmlns:a16="http://schemas.microsoft.com/office/drawing/2014/main" id="{70903363-2E01-4B03-A417-77BA0C180E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8382" y="1347537"/>
            <a:ext cx="5317618" cy="4717983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1BFD9387-559C-A7AD-F0C7-E7F81E2ADE26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/>
          <p:cNvSpPr/>
          <p:nvPr/>
        </p:nvSpPr>
        <p:spPr>
          <a:xfrm>
            <a:off x="827773" y="1248090"/>
            <a:ext cx="10504369" cy="2832844"/>
          </a:xfrm>
          <a:prstGeom prst="roundRect">
            <a:avLst>
              <a:gd name="adj" fmla="val 7122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3" name="椭圆 2"/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>
            <a:cxnSpLocks/>
          </p:cNvCxnSpPr>
          <p:nvPr/>
        </p:nvCxnSpPr>
        <p:spPr>
          <a:xfrm flipH="1">
            <a:off x="3835021" y="792480"/>
            <a:ext cx="5239310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102069" y="583573"/>
            <a:ext cx="2596474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核心功能实现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63239" y="4931120"/>
            <a:ext cx="4803669" cy="10228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50000"/>
              </a:lnSpc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按约定格式提取温湿度数值，并进行有效性校验，确保数据准确可靠。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441702" y="4406276"/>
            <a:ext cx="2777886" cy="3401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数据解析</a:t>
            </a:r>
          </a:p>
        </p:txBody>
      </p:sp>
      <p:sp>
        <p:nvSpPr>
          <p:cNvPr id="14" name="椭圆 13"/>
          <p:cNvSpPr/>
          <p:nvPr/>
        </p:nvSpPr>
        <p:spPr>
          <a:xfrm>
            <a:off x="1018200" y="4499173"/>
            <a:ext cx="218426" cy="21842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/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250675" y="4931120"/>
            <a:ext cx="5081467" cy="10228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50000"/>
              </a:lnSpc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集成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QCustomPlot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库绘制动态曲线，实时展示温湿度变化趋势，支持滚动。</a:t>
            </a:r>
          </a:p>
        </p:txBody>
      </p:sp>
      <p:sp>
        <p:nvSpPr>
          <p:cNvPr id="17" name="椭圆 16"/>
          <p:cNvSpPr/>
          <p:nvPr/>
        </p:nvSpPr>
        <p:spPr>
          <a:xfrm>
            <a:off x="6553882" y="4494919"/>
            <a:ext cx="218426" cy="21842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/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pic>
        <p:nvPicPr>
          <p:cNvPr id="18" name="Picture 2" descr="环境温湿度测试系统">
            <a:extLst>
              <a:ext uri="{FF2B5EF4-FFF2-40B4-BE49-F238E27FC236}">
                <a16:creationId xmlns:a16="http://schemas.microsoft.com/office/drawing/2014/main" id="{3F19E4B1-5D42-BBFE-4C97-8A4A6526F8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1" r="3794" b="3828"/>
          <a:stretch>
            <a:fillRect/>
          </a:stretch>
        </p:blipFill>
        <p:spPr bwMode="auto">
          <a:xfrm>
            <a:off x="1346330" y="1281420"/>
            <a:ext cx="3204142" cy="274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95F4C1B7-7621-BFC0-7AC3-7C7867309999}"/>
              </a:ext>
            </a:extLst>
          </p:cNvPr>
          <p:cNvSpPr txBox="1"/>
          <p:nvPr/>
        </p:nvSpPr>
        <p:spPr>
          <a:xfrm>
            <a:off x="5470794" y="2200620"/>
            <a:ext cx="5374876" cy="10228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50000"/>
              </a:lnSpc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使用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QSerialPort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枚举与配置串口，通过信号槽机制异步读取数据，避免阻塞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UI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CA6B01-6A3B-E0AB-8617-4449F9B74959}"/>
              </a:ext>
            </a:extLst>
          </p:cNvPr>
          <p:cNvSpPr txBox="1"/>
          <p:nvPr/>
        </p:nvSpPr>
        <p:spPr>
          <a:xfrm>
            <a:off x="5903757" y="1720153"/>
            <a:ext cx="4075099" cy="23311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串口通信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E9BE5F6F-CAF8-768C-6FA9-BD59461FF017}"/>
              </a:ext>
            </a:extLst>
          </p:cNvPr>
          <p:cNvSpPr/>
          <p:nvPr/>
        </p:nvSpPr>
        <p:spPr>
          <a:xfrm>
            <a:off x="5448482" y="1822174"/>
            <a:ext cx="218426" cy="21842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/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5427B61-0AC0-3D1A-7544-7CF7796E2D63}"/>
              </a:ext>
            </a:extLst>
          </p:cNvPr>
          <p:cNvSpPr txBox="1"/>
          <p:nvPr/>
        </p:nvSpPr>
        <p:spPr>
          <a:xfrm>
            <a:off x="7005999" y="4393293"/>
            <a:ext cx="2777886" cy="3401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数据解析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2146E29-EB70-8CCD-B609-D1C446BA646A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12394-D6D0-DD3A-FA74-7074819AD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>
            <a:extLst>
              <a:ext uri="{FF2B5EF4-FFF2-40B4-BE49-F238E27FC236}">
                <a16:creationId xmlns:a16="http://schemas.microsoft.com/office/drawing/2014/main" id="{14F8CE67-8467-9E31-DA38-94EC31EE325D}"/>
              </a:ext>
            </a:extLst>
          </p:cNvPr>
          <p:cNvSpPr txBox="1"/>
          <p:nvPr/>
        </p:nvSpPr>
        <p:spPr>
          <a:xfrm>
            <a:off x="588925" y="1156464"/>
            <a:ext cx="10053675" cy="13875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500" b="1" kern="100" dirty="0">
                <a:ln w="12700">
                  <a:solidFill>
                    <a:schemeClr val="accent1">
                      <a:alpha val="13000"/>
                    </a:schemeClr>
                  </a:solidFill>
                </a:ln>
                <a:noFill/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PROGRAM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C92DBA1-09B2-4B7F-F267-620DF7CC14F9}"/>
              </a:ext>
            </a:extLst>
          </p:cNvPr>
          <p:cNvSpPr/>
          <p:nvPr/>
        </p:nvSpPr>
        <p:spPr>
          <a:xfrm>
            <a:off x="11224249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EED414C-839F-7373-00BB-27A90DB7CDE5}"/>
              </a:ext>
            </a:extLst>
          </p:cNvPr>
          <p:cNvSpPr/>
          <p:nvPr/>
        </p:nvSpPr>
        <p:spPr>
          <a:xfrm>
            <a:off x="1087055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61F28F9-3351-86C2-79A8-99F0E777D486}"/>
              </a:ext>
            </a:extLst>
          </p:cNvPr>
          <p:cNvSpPr/>
          <p:nvPr/>
        </p:nvSpPr>
        <p:spPr>
          <a:xfrm>
            <a:off x="10516863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E97BB6D-8FF5-289F-4A6C-2D2A9DE184AE}"/>
              </a:ext>
            </a:extLst>
          </p:cNvPr>
          <p:cNvSpPr/>
          <p:nvPr/>
        </p:nvSpPr>
        <p:spPr>
          <a:xfrm>
            <a:off x="10163171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29CCE816-5050-325C-A9B1-E20E86393456}"/>
              </a:ext>
            </a:extLst>
          </p:cNvPr>
          <p:cNvCxnSpPr/>
          <p:nvPr/>
        </p:nvCxnSpPr>
        <p:spPr>
          <a:xfrm>
            <a:off x="3117669" y="792480"/>
            <a:ext cx="66707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9983DA6C-F459-2151-2A03-503E6B3C04C7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4165" y="2803444"/>
            <a:ext cx="5276002" cy="187622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871" tIns="43436" rIns="86871" bIns="43436" rtlCol="0" anchor="ctr"/>
          <a:lstStyle/>
          <a:p>
            <a:pPr algn="ctr"/>
            <a:endParaRPr lang="zh-CN" altLang="en-US" sz="1710">
              <a:solidFill>
                <a:schemeClr val="bg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6DCD39FB-CF2B-1376-AAF6-F3EBB9368F7E}"/>
              </a:ext>
            </a:extLst>
          </p:cNvPr>
          <p:cNvSpPr txBox="1"/>
          <p:nvPr/>
        </p:nvSpPr>
        <p:spPr>
          <a:xfrm>
            <a:off x="733472" y="2142391"/>
            <a:ext cx="5515428" cy="93121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6600" b="1" dirty="0">
                <a:solidFill>
                  <a:schemeClr val="bg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PART FIVE</a:t>
            </a:r>
            <a:endParaRPr lang="zh-CN" altLang="en-US" sz="6600" b="1" dirty="0">
              <a:solidFill>
                <a:schemeClr val="bg1"/>
              </a:solidFill>
              <a:latin typeface="+mj-ea"/>
              <a:ea typeface="+mj-ea"/>
              <a:cs typeface="江城圆体 500W" panose="020B0600000000000000" pitchFamily="34" charset="-122"/>
              <a:sym typeface="江城圆体 600W" panose="020B0800000000000000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8DAB302-6155-A4D0-A9AF-38F725181D00}"/>
              </a:ext>
            </a:extLst>
          </p:cNvPr>
          <p:cNvSpPr txBox="1"/>
          <p:nvPr/>
        </p:nvSpPr>
        <p:spPr>
          <a:xfrm>
            <a:off x="632104" y="3251010"/>
            <a:ext cx="6573912" cy="99719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7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系统测试与结果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14C6B1A4-C316-3C11-67B5-AF6FC7042B57}"/>
              </a:ext>
            </a:extLst>
          </p:cNvPr>
          <p:cNvSpPr txBox="1"/>
          <p:nvPr/>
        </p:nvSpPr>
        <p:spPr>
          <a:xfrm>
            <a:off x="780684" y="4680826"/>
            <a:ext cx="4886567" cy="2290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System Testing and Results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AA471231-7D39-3114-35C5-B6FFB32B18A7}"/>
              </a:ext>
            </a:extLst>
          </p:cNvPr>
          <p:cNvCxnSpPr/>
          <p:nvPr/>
        </p:nvCxnSpPr>
        <p:spPr>
          <a:xfrm flipH="1">
            <a:off x="11476353" y="1058779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1F572B95-8F60-B67B-6CB7-D8C8BC331C85}"/>
              </a:ext>
            </a:extLst>
          </p:cNvPr>
          <p:cNvCxnSpPr/>
          <p:nvPr/>
        </p:nvCxnSpPr>
        <p:spPr>
          <a:xfrm flipH="1">
            <a:off x="11476353" y="4833325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A29199E-533B-1672-7242-2D39ED3E2142}"/>
              </a:ext>
            </a:extLst>
          </p:cNvPr>
          <p:cNvSpPr/>
          <p:nvPr/>
        </p:nvSpPr>
        <p:spPr>
          <a:xfrm>
            <a:off x="695325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F38E2CD5-BF35-B7BC-08BB-FC5474860BB9}"/>
              </a:ext>
            </a:extLst>
          </p:cNvPr>
          <p:cNvSpPr/>
          <p:nvPr/>
        </p:nvSpPr>
        <p:spPr>
          <a:xfrm>
            <a:off x="850394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2162A9-29F4-32C2-94EC-2EA9DE39C61B}"/>
              </a:ext>
            </a:extLst>
          </p:cNvPr>
          <p:cNvSpPr txBox="1"/>
          <p:nvPr/>
        </p:nvSpPr>
        <p:spPr>
          <a:xfrm>
            <a:off x="987723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TEMPERATURE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19C6D81-EDCA-BCE0-B461-B5E1E44EA8C9}"/>
              </a:ext>
            </a:extLst>
          </p:cNvPr>
          <p:cNvSpPr/>
          <p:nvPr/>
        </p:nvSpPr>
        <p:spPr>
          <a:xfrm>
            <a:off x="3539066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8F9C43B-3ECD-2C77-F54C-2F71428F7F45}"/>
              </a:ext>
            </a:extLst>
          </p:cNvPr>
          <p:cNvSpPr/>
          <p:nvPr/>
        </p:nvSpPr>
        <p:spPr>
          <a:xfrm>
            <a:off x="3694135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0DBE13-1107-394D-1244-605A80FAB590}"/>
              </a:ext>
            </a:extLst>
          </p:cNvPr>
          <p:cNvSpPr txBox="1"/>
          <p:nvPr/>
        </p:nvSpPr>
        <p:spPr>
          <a:xfrm>
            <a:off x="3831464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HUMIDITY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3ACAD3C-DB03-C957-C3EC-909E8F879F0B}"/>
              </a:ext>
            </a:extLst>
          </p:cNvPr>
          <p:cNvSpPr/>
          <p:nvPr/>
        </p:nvSpPr>
        <p:spPr>
          <a:xfrm>
            <a:off x="6382807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E2050AC7-F399-7E7D-B910-73D41D7CD35E}"/>
              </a:ext>
            </a:extLst>
          </p:cNvPr>
          <p:cNvSpPr/>
          <p:nvPr/>
        </p:nvSpPr>
        <p:spPr>
          <a:xfrm>
            <a:off x="6537876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B4DCB7-A30A-A4C9-8115-C80631CC5D60}"/>
              </a:ext>
            </a:extLst>
          </p:cNvPr>
          <p:cNvSpPr txBox="1"/>
          <p:nvPr/>
        </p:nvSpPr>
        <p:spPr>
          <a:xfrm>
            <a:off x="6675205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COLLECTION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C7ACE54-4F23-D6D2-3982-7CD8B496CE64}"/>
              </a:ext>
            </a:extLst>
          </p:cNvPr>
          <p:cNvSpPr/>
          <p:nvPr/>
        </p:nvSpPr>
        <p:spPr>
          <a:xfrm>
            <a:off x="9226549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F434A5C-9727-6C5E-EA9D-4C3BA2BCD1F9}"/>
              </a:ext>
            </a:extLst>
          </p:cNvPr>
          <p:cNvSpPr/>
          <p:nvPr/>
        </p:nvSpPr>
        <p:spPr>
          <a:xfrm>
            <a:off x="9381618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67FF32-A077-06E1-EC90-F87D3E227EA5}"/>
              </a:ext>
            </a:extLst>
          </p:cNvPr>
          <p:cNvSpPr txBox="1"/>
          <p:nvPr/>
        </p:nvSpPr>
        <p:spPr>
          <a:xfrm>
            <a:off x="9518947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MONITORING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76D526B-FFD4-597C-30FF-F8D6867D8CC8}"/>
              </a:ext>
            </a:extLst>
          </p:cNvPr>
          <p:cNvSpPr txBox="1"/>
          <p:nvPr/>
        </p:nvSpPr>
        <p:spPr>
          <a:xfrm>
            <a:off x="538476" y="545737"/>
            <a:ext cx="2638145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892102F-3128-798B-72E3-68BE00F197AE}"/>
              </a:ext>
            </a:extLst>
          </p:cNvPr>
          <p:cNvSpPr txBox="1"/>
          <p:nvPr/>
        </p:nvSpPr>
        <p:spPr>
          <a:xfrm>
            <a:off x="11224249" y="2349599"/>
            <a:ext cx="378826" cy="2331227"/>
          </a:xfrm>
          <a:prstGeom prst="rect">
            <a:avLst/>
          </a:prstGeom>
          <a:noFill/>
        </p:spPr>
        <p:txBody>
          <a:bodyPr vert="eaVert" wrap="none" lIns="0" tIns="0" rIns="0" bIns="0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DESIGN IMPLEMENTATION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4" name="图片 23" descr="电脑游戏画面&#10;&#10;AI 生成的内容可能不正确。">
            <a:extLst>
              <a:ext uri="{FF2B5EF4-FFF2-40B4-BE49-F238E27FC236}">
                <a16:creationId xmlns:a16="http://schemas.microsoft.com/office/drawing/2014/main" id="{492C3E8B-781E-BD5D-FEA6-07D57C8BA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063" y="990433"/>
            <a:ext cx="4433894" cy="485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09708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97E14-319F-EDBC-C620-1D71237D5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9D39E4B3-EDFB-FDA1-81A2-DA21DBE7FE97}"/>
              </a:ext>
            </a:extLst>
          </p:cNvPr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E648399-5E9D-EAED-F859-C8C42A526D11}"/>
              </a:ext>
            </a:extLst>
          </p:cNvPr>
          <p:cNvCxnSpPr>
            <a:cxnSpLocks/>
          </p:cNvCxnSpPr>
          <p:nvPr/>
        </p:nvCxnSpPr>
        <p:spPr>
          <a:xfrm flipH="1">
            <a:off x="3831068" y="792480"/>
            <a:ext cx="5243263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2AADCC3-C46C-810C-0CDD-0976351C9A9E}"/>
              </a:ext>
            </a:extLst>
          </p:cNvPr>
          <p:cNvSpPr txBox="1"/>
          <p:nvPr/>
        </p:nvSpPr>
        <p:spPr>
          <a:xfrm>
            <a:off x="1102068" y="583573"/>
            <a:ext cx="2540901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测试环境搭建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6177357C-8252-A9E1-BA18-EF0BFF796E13}"/>
              </a:ext>
            </a:extLst>
          </p:cNvPr>
          <p:cNvSpPr/>
          <p:nvPr/>
        </p:nvSpPr>
        <p:spPr>
          <a:xfrm>
            <a:off x="695325" y="1504858"/>
            <a:ext cx="1715750" cy="50956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/>
          <a:p>
            <a:pPr algn="ctr"/>
            <a:endParaRPr lang="en-US" altLang="zh-CN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C8A1733-6632-94A6-014F-7CF4B966BCF5}"/>
              </a:ext>
            </a:extLst>
          </p:cNvPr>
          <p:cNvSpPr txBox="1"/>
          <p:nvPr/>
        </p:nvSpPr>
        <p:spPr>
          <a:xfrm>
            <a:off x="1047792" y="1621140"/>
            <a:ext cx="1010816" cy="276999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思源黑体 CN Normal" panose="020B0400000000000000" pitchFamily="34" charset="-122"/>
              </a:rPr>
              <a:t>硬件环境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3EE8E52-2D30-CF5C-5DDD-F093B75DF19F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907CD898-CCDB-9E19-8232-093105729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59" y="1301631"/>
            <a:ext cx="5746283" cy="497279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7" name="Picture 5">
            <a:extLst>
              <a:ext uri="{FF2B5EF4-FFF2-40B4-BE49-F238E27FC236}">
                <a16:creationId xmlns:a16="http://schemas.microsoft.com/office/drawing/2014/main" id="{85888D9F-961E-5C23-4605-0F3C6C774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5325" y="2276241"/>
            <a:ext cx="254000" cy="254000"/>
          </a:xfrm>
          <a:prstGeom prst="rect">
            <a:avLst/>
          </a:prstGeom>
        </p:spPr>
      </p:pic>
      <p:sp>
        <p:nvSpPr>
          <p:cNvPr id="38" name="AutoShape 6">
            <a:extLst>
              <a:ext uri="{FF2B5EF4-FFF2-40B4-BE49-F238E27FC236}">
                <a16:creationId xmlns:a16="http://schemas.microsoft.com/office/drawing/2014/main" id="{3874CB39-2C7B-BAB7-5DEF-E6FD71473771}"/>
              </a:ext>
            </a:extLst>
          </p:cNvPr>
          <p:cNvSpPr/>
          <p:nvPr/>
        </p:nvSpPr>
        <p:spPr>
          <a:xfrm>
            <a:off x="1139825" y="2263540"/>
            <a:ext cx="3153256" cy="347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STM32F103C8T6 </a:t>
            </a:r>
            <a:r>
              <a:rPr lang="en-US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最小系统板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9" name="Picture 7">
            <a:extLst>
              <a:ext uri="{FF2B5EF4-FFF2-40B4-BE49-F238E27FC236}">
                <a16:creationId xmlns:a16="http://schemas.microsoft.com/office/drawing/2014/main" id="{A35174A9-94EE-5821-6273-C4905126E5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5325" y="2784241"/>
            <a:ext cx="254000" cy="254000"/>
          </a:xfrm>
          <a:prstGeom prst="rect">
            <a:avLst/>
          </a:prstGeom>
        </p:spPr>
      </p:pic>
      <p:sp>
        <p:nvSpPr>
          <p:cNvPr id="40" name="AutoShape 8">
            <a:extLst>
              <a:ext uri="{FF2B5EF4-FFF2-40B4-BE49-F238E27FC236}">
                <a16:creationId xmlns:a16="http://schemas.microsoft.com/office/drawing/2014/main" id="{862FEFAD-FF1E-50F9-C2B7-F7E14B0A82C1}"/>
              </a:ext>
            </a:extLst>
          </p:cNvPr>
          <p:cNvSpPr/>
          <p:nvPr/>
        </p:nvSpPr>
        <p:spPr>
          <a:xfrm>
            <a:off x="1139825" y="2771541"/>
            <a:ext cx="3153256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DHT11 </a:t>
            </a:r>
            <a:r>
              <a:rPr lang="en-US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温湿度传感器模块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41" name="Picture 9">
            <a:extLst>
              <a:ext uri="{FF2B5EF4-FFF2-40B4-BE49-F238E27FC236}">
                <a16:creationId xmlns:a16="http://schemas.microsoft.com/office/drawing/2014/main" id="{2A3F45D1-5F01-F131-2DA1-1E618BAAD87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5325" y="3292241"/>
            <a:ext cx="254000" cy="254000"/>
          </a:xfrm>
          <a:prstGeom prst="rect">
            <a:avLst/>
          </a:prstGeom>
        </p:spPr>
      </p:pic>
      <p:sp>
        <p:nvSpPr>
          <p:cNvPr id="42" name="AutoShape 10">
            <a:extLst>
              <a:ext uri="{FF2B5EF4-FFF2-40B4-BE49-F238E27FC236}">
                <a16:creationId xmlns:a16="http://schemas.microsoft.com/office/drawing/2014/main" id="{F008FFA1-C23D-B90D-EDC6-D099F8342A5A}"/>
              </a:ext>
            </a:extLst>
          </p:cNvPr>
          <p:cNvSpPr/>
          <p:nvPr/>
        </p:nvSpPr>
        <p:spPr>
          <a:xfrm>
            <a:off x="1139825" y="3279540"/>
            <a:ext cx="3153256" cy="3476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USB-TTL </a:t>
            </a:r>
            <a:r>
              <a:rPr lang="en-US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模块及杜邦线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43" name="Picture 11">
            <a:extLst>
              <a:ext uri="{FF2B5EF4-FFF2-40B4-BE49-F238E27FC236}">
                <a16:creationId xmlns:a16="http://schemas.microsoft.com/office/drawing/2014/main" id="{E7B09574-D148-9700-A589-7248A43E39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5325" y="3800241"/>
            <a:ext cx="254000" cy="254000"/>
          </a:xfrm>
          <a:prstGeom prst="rect">
            <a:avLst/>
          </a:prstGeom>
        </p:spPr>
      </p:pic>
      <p:sp>
        <p:nvSpPr>
          <p:cNvPr id="44" name="AutoShape 12">
            <a:extLst>
              <a:ext uri="{FF2B5EF4-FFF2-40B4-BE49-F238E27FC236}">
                <a16:creationId xmlns:a16="http://schemas.microsoft.com/office/drawing/2014/main" id="{F4FD08CC-ED15-8104-31A9-087EA4E3AFAB}"/>
              </a:ext>
            </a:extLst>
          </p:cNvPr>
          <p:cNvSpPr/>
          <p:nvPr/>
        </p:nvSpPr>
        <p:spPr>
          <a:xfrm>
            <a:off x="1139825" y="3787540"/>
            <a:ext cx="3153256" cy="34768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PC机一台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A21EC034-EB44-2638-F027-6326C069B804}"/>
              </a:ext>
            </a:extLst>
          </p:cNvPr>
          <p:cNvSpPr/>
          <p:nvPr/>
        </p:nvSpPr>
        <p:spPr>
          <a:xfrm>
            <a:off x="695325" y="4519437"/>
            <a:ext cx="1715750" cy="50956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/>
          <a:p>
            <a:pPr algn="ctr"/>
            <a:endParaRPr lang="en-US" altLang="zh-CN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B1A8C78-4D7E-00EC-F1D3-065C4131239B}"/>
              </a:ext>
            </a:extLst>
          </p:cNvPr>
          <p:cNvSpPr txBox="1"/>
          <p:nvPr/>
        </p:nvSpPr>
        <p:spPr>
          <a:xfrm>
            <a:off x="1047792" y="4635719"/>
            <a:ext cx="1010816" cy="276999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zh-CN" altLang="en-US" dirty="0">
                <a:latin typeface="+mj-ea"/>
                <a:ea typeface="+mj-ea"/>
                <a:cs typeface="思源黑体 CN Normal" panose="020B0400000000000000" pitchFamily="34" charset="-122"/>
              </a:rPr>
              <a:t>硬件环境</a:t>
            </a:r>
          </a:p>
        </p:txBody>
      </p:sp>
      <p:sp>
        <p:nvSpPr>
          <p:cNvPr id="48" name="AutoShape 6">
            <a:extLst>
              <a:ext uri="{FF2B5EF4-FFF2-40B4-BE49-F238E27FC236}">
                <a16:creationId xmlns:a16="http://schemas.microsoft.com/office/drawing/2014/main" id="{C68EAA6B-00EC-88A9-F61F-094A4A439244}"/>
              </a:ext>
            </a:extLst>
          </p:cNvPr>
          <p:cNvSpPr/>
          <p:nvPr/>
        </p:nvSpPr>
        <p:spPr>
          <a:xfrm>
            <a:off x="1139825" y="5278119"/>
            <a:ext cx="3389842" cy="34768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Windows 11/ Keil MDK-ARM V5</a:t>
            </a:r>
          </a:p>
        </p:txBody>
      </p:sp>
      <p:sp>
        <p:nvSpPr>
          <p:cNvPr id="50" name="AutoShape 8">
            <a:extLst>
              <a:ext uri="{FF2B5EF4-FFF2-40B4-BE49-F238E27FC236}">
                <a16:creationId xmlns:a16="http://schemas.microsoft.com/office/drawing/2014/main" id="{977D9FA2-C973-B697-AB82-C792511BC7F1}"/>
              </a:ext>
            </a:extLst>
          </p:cNvPr>
          <p:cNvSpPr/>
          <p:nvPr/>
        </p:nvSpPr>
        <p:spPr>
          <a:xfrm>
            <a:off x="1139825" y="5786119"/>
            <a:ext cx="3389842" cy="3461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Qt Creator 5.4.0 / </a:t>
            </a:r>
            <a:r>
              <a:rPr lang="zh-CN" altLang="en-US" b="0" i="0" u="none" strike="noStrike" dirty="0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串口调试助手</a:t>
            </a:r>
          </a:p>
        </p:txBody>
      </p:sp>
      <p:pic>
        <p:nvPicPr>
          <p:cNvPr id="55" name="Picture 14">
            <a:extLst>
              <a:ext uri="{FF2B5EF4-FFF2-40B4-BE49-F238E27FC236}">
                <a16:creationId xmlns:a16="http://schemas.microsoft.com/office/drawing/2014/main" id="{A45B2DF4-89FC-67D2-5AB3-E81D1B649A0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2150" y="5324960"/>
            <a:ext cx="254000" cy="254000"/>
          </a:xfrm>
          <a:prstGeom prst="rect">
            <a:avLst/>
          </a:prstGeom>
        </p:spPr>
      </p:pic>
      <p:pic>
        <p:nvPicPr>
          <p:cNvPr id="56" name="Picture 16">
            <a:extLst>
              <a:ext uri="{FF2B5EF4-FFF2-40B4-BE49-F238E27FC236}">
                <a16:creationId xmlns:a16="http://schemas.microsoft.com/office/drawing/2014/main" id="{089E6E9D-4331-075E-D1F4-BDB498759AB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2150" y="5797257"/>
            <a:ext cx="2540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96865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22A1D-E3EC-8A88-60C3-2D145B206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C4A6D5F-42C5-1EB5-9E1A-B087FC5A960D}"/>
              </a:ext>
            </a:extLst>
          </p:cNvPr>
          <p:cNvSpPr/>
          <p:nvPr/>
        </p:nvSpPr>
        <p:spPr>
          <a:xfrm>
            <a:off x="827773" y="1388534"/>
            <a:ext cx="10504369" cy="4873198"/>
          </a:xfrm>
          <a:prstGeom prst="roundRect">
            <a:avLst>
              <a:gd name="adj" fmla="val 7122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3B4025-5668-B98E-6C03-9DD9025F3FB3}"/>
              </a:ext>
            </a:extLst>
          </p:cNvPr>
          <p:cNvSpPr txBox="1"/>
          <p:nvPr/>
        </p:nvSpPr>
        <p:spPr>
          <a:xfrm>
            <a:off x="1077776" y="2288952"/>
            <a:ext cx="3985543" cy="2889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系统稳定采集并实时传输数据，无丢包现象。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383A6F-D6EB-E3C3-5DA6-92CED4F17DF5}"/>
              </a:ext>
            </a:extLst>
          </p:cNvPr>
          <p:cNvSpPr txBox="1"/>
          <p:nvPr/>
        </p:nvSpPr>
        <p:spPr>
          <a:xfrm>
            <a:off x="1457230" y="1759432"/>
            <a:ext cx="315734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7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uLnTx/>
                <a:uFillTx/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r>
              <a:rPr lang="zh-CN" altLang="en-US" sz="2000" dirty="0">
                <a:solidFill>
                  <a:schemeClr val="accent1"/>
                </a:solidFill>
              </a:rPr>
              <a:t>数据采集与传输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2F63D39-35D4-C7E6-16FB-FB0FB1DFD1BB}"/>
              </a:ext>
            </a:extLst>
          </p:cNvPr>
          <p:cNvSpPr txBox="1"/>
          <p:nvPr/>
        </p:nvSpPr>
        <p:spPr>
          <a:xfrm>
            <a:off x="1100088" y="3370073"/>
            <a:ext cx="4337309" cy="28892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思源黑体 CN Normal" panose="020B0400000000000000" pitchFamily="34" charset="-122"/>
                <a:cs typeface="OPPOSans R" panose="00020600040101010101" pitchFamily="18" charset="-122"/>
              </a:rPr>
              <a:t>上位机正确解析数据，并在文本框中准确显示。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E149401-3507-2B87-4ECF-03A74CE5D7D7}"/>
              </a:ext>
            </a:extLst>
          </p:cNvPr>
          <p:cNvSpPr txBox="1"/>
          <p:nvPr/>
        </p:nvSpPr>
        <p:spPr>
          <a:xfrm>
            <a:off x="1457230" y="2856654"/>
            <a:ext cx="303019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7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uLnTx/>
                <a:uFillTx/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r>
              <a:rPr lang="zh-CN" altLang="en-US" sz="2000" dirty="0">
                <a:solidFill>
                  <a:schemeClr val="accent1"/>
                </a:solidFill>
              </a:rPr>
              <a:t>数据解析与显示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3FCA274-B210-83C7-4B55-C137838432F0}"/>
              </a:ext>
            </a:extLst>
          </p:cNvPr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FBDA6598-AA77-0CBC-E344-FB226597DA89}"/>
              </a:ext>
            </a:extLst>
          </p:cNvPr>
          <p:cNvCxnSpPr>
            <a:cxnSpLocks/>
            <a:endCxn id="8" idx="3"/>
          </p:cNvCxnSpPr>
          <p:nvPr/>
        </p:nvCxnSpPr>
        <p:spPr>
          <a:xfrm flipH="1">
            <a:off x="4107975" y="792480"/>
            <a:ext cx="4966356" cy="12692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6EDE085-E38B-5488-D7B8-A10FE80B410E}"/>
              </a:ext>
            </a:extLst>
          </p:cNvPr>
          <p:cNvSpPr txBox="1"/>
          <p:nvPr/>
        </p:nvSpPr>
        <p:spPr>
          <a:xfrm>
            <a:off x="1102068" y="583573"/>
            <a:ext cx="3005907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测试结果与分析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53017B0-D0E3-9B83-5355-8A00198C7BEF}"/>
              </a:ext>
            </a:extLst>
          </p:cNvPr>
          <p:cNvSpPr txBox="1"/>
          <p:nvPr/>
        </p:nvSpPr>
        <p:spPr>
          <a:xfrm>
            <a:off x="1122400" y="4325797"/>
            <a:ext cx="4314997" cy="4233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30000"/>
              </a:lnSpc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动态绘制温湿度曲线，图表更新流畅。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70F7D8D-9EB9-6153-3C40-F1708ED7FD85}"/>
              </a:ext>
            </a:extLst>
          </p:cNvPr>
          <p:cNvSpPr txBox="1"/>
          <p:nvPr/>
        </p:nvSpPr>
        <p:spPr>
          <a:xfrm>
            <a:off x="1479542" y="3889596"/>
            <a:ext cx="2777886" cy="3401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实时曲线绘制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7731E23-DD75-2354-8D19-DF22C6C07D08}"/>
              </a:ext>
            </a:extLst>
          </p:cNvPr>
          <p:cNvSpPr/>
          <p:nvPr/>
        </p:nvSpPr>
        <p:spPr>
          <a:xfrm>
            <a:off x="1100088" y="3947351"/>
            <a:ext cx="218426" cy="21842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/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F717BC2-91E9-8E68-E720-0C346526DE2E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pic>
        <p:nvPicPr>
          <p:cNvPr id="21" name="图片 20" descr="图形用户界面, 图表&#10;&#10;AI 生成的内容可能不正确。">
            <a:extLst>
              <a:ext uri="{FF2B5EF4-FFF2-40B4-BE49-F238E27FC236}">
                <a16:creationId xmlns:a16="http://schemas.microsoft.com/office/drawing/2014/main" id="{E9223DA0-F00A-845E-742E-4E8B6C57D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224" y="1453314"/>
            <a:ext cx="5600118" cy="47703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2" name="椭圆 21">
            <a:extLst>
              <a:ext uri="{FF2B5EF4-FFF2-40B4-BE49-F238E27FC236}">
                <a16:creationId xmlns:a16="http://schemas.microsoft.com/office/drawing/2014/main" id="{14DFF31A-BD97-1116-0D15-F1D3DB4BE6FB}"/>
              </a:ext>
            </a:extLst>
          </p:cNvPr>
          <p:cNvSpPr/>
          <p:nvPr/>
        </p:nvSpPr>
        <p:spPr>
          <a:xfrm>
            <a:off x="1077776" y="1804108"/>
            <a:ext cx="218426" cy="21842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/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6446374-AB98-3A66-79CA-60085FEE3AD6}"/>
              </a:ext>
            </a:extLst>
          </p:cNvPr>
          <p:cNvSpPr/>
          <p:nvPr/>
        </p:nvSpPr>
        <p:spPr>
          <a:xfrm>
            <a:off x="1100088" y="2870506"/>
            <a:ext cx="218426" cy="21842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/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24" name="矩形: 圆角 50">
            <a:extLst>
              <a:ext uri="{FF2B5EF4-FFF2-40B4-BE49-F238E27FC236}">
                <a16:creationId xmlns:a16="http://schemas.microsoft.com/office/drawing/2014/main" id="{27220B4F-B721-E975-6B0B-99743A067F75}"/>
              </a:ext>
            </a:extLst>
          </p:cNvPr>
          <p:cNvSpPr/>
          <p:nvPr/>
        </p:nvSpPr>
        <p:spPr>
          <a:xfrm>
            <a:off x="4188600" y="2296864"/>
            <a:ext cx="766800" cy="768140"/>
          </a:xfrm>
          <a:prstGeom prst="roundRect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矩形: 圆角 50">
            <a:extLst>
              <a:ext uri="{FF2B5EF4-FFF2-40B4-BE49-F238E27FC236}">
                <a16:creationId xmlns:a16="http://schemas.microsoft.com/office/drawing/2014/main" id="{B8E31B9E-617E-746D-C2C6-36E1F2E129F2}"/>
              </a:ext>
            </a:extLst>
          </p:cNvPr>
          <p:cNvSpPr/>
          <p:nvPr/>
        </p:nvSpPr>
        <p:spPr>
          <a:xfrm>
            <a:off x="4341000" y="2449264"/>
            <a:ext cx="766800" cy="768140"/>
          </a:xfrm>
          <a:prstGeom prst="roundRect">
            <a:avLst/>
          </a:prstGeom>
          <a:solidFill>
            <a:schemeClr val="tx2">
              <a:alpha val="30000"/>
            </a:schemeClr>
          </a:solidFill>
          <a:ln w="60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BA6FE2B-CBF3-D77F-0B6B-54572551CBCE}"/>
              </a:ext>
            </a:extLst>
          </p:cNvPr>
          <p:cNvSpPr txBox="1"/>
          <p:nvPr/>
        </p:nvSpPr>
        <p:spPr>
          <a:xfrm>
            <a:off x="1100088" y="5452101"/>
            <a:ext cx="4314997" cy="4233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just">
              <a:lnSpc>
                <a:spcPct val="130000"/>
              </a:lnSpc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cs typeface="+mj-cs"/>
              </a:rPr>
              <a:t>连续运行无崩溃或数据异常。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cs typeface="+mj-cs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E676039-BF71-D6FE-6C76-5E762CDC7AB6}"/>
              </a:ext>
            </a:extLst>
          </p:cNvPr>
          <p:cNvSpPr txBox="1"/>
          <p:nvPr/>
        </p:nvSpPr>
        <p:spPr>
          <a:xfrm>
            <a:off x="1457230" y="5015900"/>
            <a:ext cx="2777886" cy="34011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ea"/>
                <a:ea typeface="+mj-ea"/>
                <a:cs typeface="+mn-cs"/>
              </a:rPr>
              <a:t>长时间稳定性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5FBC3B8-86B7-A2BF-2472-86B3B9D5B46E}"/>
              </a:ext>
            </a:extLst>
          </p:cNvPr>
          <p:cNvSpPr/>
          <p:nvPr/>
        </p:nvSpPr>
        <p:spPr>
          <a:xfrm>
            <a:off x="1077776" y="5073655"/>
            <a:ext cx="218426" cy="218426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/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8867127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056DB-E61D-5387-576D-1F1E85194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>
            <a:extLst>
              <a:ext uri="{FF2B5EF4-FFF2-40B4-BE49-F238E27FC236}">
                <a16:creationId xmlns:a16="http://schemas.microsoft.com/office/drawing/2014/main" id="{126D38F6-D331-D23D-01E4-FCA510D7464B}"/>
              </a:ext>
            </a:extLst>
          </p:cNvPr>
          <p:cNvSpPr txBox="1"/>
          <p:nvPr/>
        </p:nvSpPr>
        <p:spPr>
          <a:xfrm>
            <a:off x="588925" y="1156464"/>
            <a:ext cx="10053675" cy="13875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500" b="1" kern="100" dirty="0">
                <a:ln w="12700">
                  <a:solidFill>
                    <a:schemeClr val="accent1">
                      <a:alpha val="13000"/>
                    </a:schemeClr>
                  </a:solidFill>
                </a:ln>
                <a:noFill/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PROGRAM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5173444-5EE7-FFE4-2955-6D82D98E007D}"/>
              </a:ext>
            </a:extLst>
          </p:cNvPr>
          <p:cNvSpPr/>
          <p:nvPr/>
        </p:nvSpPr>
        <p:spPr>
          <a:xfrm>
            <a:off x="11224249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74F25499-BC12-DEA9-C038-C2952C84FE8F}"/>
              </a:ext>
            </a:extLst>
          </p:cNvPr>
          <p:cNvSpPr/>
          <p:nvPr/>
        </p:nvSpPr>
        <p:spPr>
          <a:xfrm>
            <a:off x="1087055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F04DD1C-4CAC-42DA-653F-0A5BF60395EC}"/>
              </a:ext>
            </a:extLst>
          </p:cNvPr>
          <p:cNvSpPr/>
          <p:nvPr/>
        </p:nvSpPr>
        <p:spPr>
          <a:xfrm>
            <a:off x="10516863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6634D07-A014-FB2C-9148-F7441CF5485C}"/>
              </a:ext>
            </a:extLst>
          </p:cNvPr>
          <p:cNvSpPr/>
          <p:nvPr/>
        </p:nvSpPr>
        <p:spPr>
          <a:xfrm>
            <a:off x="10163171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8840834-365F-8C6F-B723-4D495CF6A000}"/>
              </a:ext>
            </a:extLst>
          </p:cNvPr>
          <p:cNvCxnSpPr/>
          <p:nvPr/>
        </p:nvCxnSpPr>
        <p:spPr>
          <a:xfrm>
            <a:off x="3117669" y="792480"/>
            <a:ext cx="66707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3F15646E-40D9-A395-3CDC-DE42326A859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14165" y="2803444"/>
            <a:ext cx="5276002" cy="187622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871" tIns="43436" rIns="86871" bIns="43436" rtlCol="0" anchor="ctr"/>
          <a:lstStyle/>
          <a:p>
            <a:pPr algn="ctr"/>
            <a:endParaRPr lang="zh-CN" altLang="en-US" sz="1710">
              <a:solidFill>
                <a:schemeClr val="bg1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7077BC16-6FD1-CD57-59A0-F34EEBCB18F0}"/>
              </a:ext>
            </a:extLst>
          </p:cNvPr>
          <p:cNvSpPr txBox="1"/>
          <p:nvPr/>
        </p:nvSpPr>
        <p:spPr>
          <a:xfrm>
            <a:off x="733472" y="2142391"/>
            <a:ext cx="5515428" cy="931217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sz="6600" b="1" dirty="0">
                <a:solidFill>
                  <a:schemeClr val="bg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PART SIX</a:t>
            </a:r>
            <a:endParaRPr lang="zh-CN" altLang="en-US" sz="6600" b="1" dirty="0">
              <a:solidFill>
                <a:schemeClr val="bg1"/>
              </a:solidFill>
              <a:latin typeface="+mj-ea"/>
              <a:ea typeface="+mj-ea"/>
              <a:cs typeface="江城圆体 500W" panose="020B0600000000000000" pitchFamily="34" charset="-122"/>
              <a:sym typeface="江城圆体 600W" panose="020B0800000000000000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7CF1ED9-BCB7-4594-1E25-48F9CA10CCB7}"/>
              </a:ext>
            </a:extLst>
          </p:cNvPr>
          <p:cNvSpPr txBox="1"/>
          <p:nvPr/>
        </p:nvSpPr>
        <p:spPr>
          <a:xfrm>
            <a:off x="632104" y="3251010"/>
            <a:ext cx="6573912" cy="997196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7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总结与展望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85A66605-30F3-FA15-D9D0-C1F4E5B26757}"/>
              </a:ext>
            </a:extLst>
          </p:cNvPr>
          <p:cNvSpPr txBox="1"/>
          <p:nvPr/>
        </p:nvSpPr>
        <p:spPr>
          <a:xfrm>
            <a:off x="780684" y="4680826"/>
            <a:ext cx="4886567" cy="2290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Summary and Outlook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C3F7CCDA-3413-1AFD-2340-91A147AF11E3}"/>
              </a:ext>
            </a:extLst>
          </p:cNvPr>
          <p:cNvCxnSpPr/>
          <p:nvPr/>
        </p:nvCxnSpPr>
        <p:spPr>
          <a:xfrm flipH="1">
            <a:off x="11476353" y="1058779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950977D3-3234-B217-A8EF-F1576C491235}"/>
              </a:ext>
            </a:extLst>
          </p:cNvPr>
          <p:cNvCxnSpPr/>
          <p:nvPr/>
        </p:nvCxnSpPr>
        <p:spPr>
          <a:xfrm flipH="1">
            <a:off x="11476353" y="4833325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257CA473-536B-2344-3B76-87F6EA7F5119}"/>
              </a:ext>
            </a:extLst>
          </p:cNvPr>
          <p:cNvSpPr/>
          <p:nvPr/>
        </p:nvSpPr>
        <p:spPr>
          <a:xfrm>
            <a:off x="695325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9F66F247-375B-0B6B-3D03-0D14F8A481E5}"/>
              </a:ext>
            </a:extLst>
          </p:cNvPr>
          <p:cNvSpPr/>
          <p:nvPr/>
        </p:nvSpPr>
        <p:spPr>
          <a:xfrm>
            <a:off x="850394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9F73F9-A1CB-8AF4-0B48-81E8DFD3A888}"/>
              </a:ext>
            </a:extLst>
          </p:cNvPr>
          <p:cNvSpPr txBox="1"/>
          <p:nvPr/>
        </p:nvSpPr>
        <p:spPr>
          <a:xfrm>
            <a:off x="987723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TEMPERATURE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ECFE3AA2-8C51-467F-113E-6081DA1E4EF2}"/>
              </a:ext>
            </a:extLst>
          </p:cNvPr>
          <p:cNvSpPr/>
          <p:nvPr/>
        </p:nvSpPr>
        <p:spPr>
          <a:xfrm>
            <a:off x="3539066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3E50D47-5510-3CF3-1A6E-7518049A3280}"/>
              </a:ext>
            </a:extLst>
          </p:cNvPr>
          <p:cNvSpPr/>
          <p:nvPr/>
        </p:nvSpPr>
        <p:spPr>
          <a:xfrm>
            <a:off x="3694135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FDF510E-78C0-E937-0A91-BC22D2AC448E}"/>
              </a:ext>
            </a:extLst>
          </p:cNvPr>
          <p:cNvSpPr txBox="1"/>
          <p:nvPr/>
        </p:nvSpPr>
        <p:spPr>
          <a:xfrm>
            <a:off x="3831464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HUMIDITY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3A4F515-16D6-4134-5E58-68B7202CD0FC}"/>
              </a:ext>
            </a:extLst>
          </p:cNvPr>
          <p:cNvSpPr/>
          <p:nvPr/>
        </p:nvSpPr>
        <p:spPr>
          <a:xfrm>
            <a:off x="6382807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24BBE58-548F-0CC9-5A22-5458C846C50D}"/>
              </a:ext>
            </a:extLst>
          </p:cNvPr>
          <p:cNvSpPr/>
          <p:nvPr/>
        </p:nvSpPr>
        <p:spPr>
          <a:xfrm>
            <a:off x="6537876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645987-78A9-A4F4-409E-31C3A2A1CE9C}"/>
              </a:ext>
            </a:extLst>
          </p:cNvPr>
          <p:cNvSpPr txBox="1"/>
          <p:nvPr/>
        </p:nvSpPr>
        <p:spPr>
          <a:xfrm>
            <a:off x="6675205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COLLECTION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0649DFA-451B-BB6B-E24A-99143A2515E6}"/>
              </a:ext>
            </a:extLst>
          </p:cNvPr>
          <p:cNvSpPr/>
          <p:nvPr/>
        </p:nvSpPr>
        <p:spPr>
          <a:xfrm>
            <a:off x="9226549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185CC86-3A66-FCF4-27C4-A693B92B82BF}"/>
              </a:ext>
            </a:extLst>
          </p:cNvPr>
          <p:cNvSpPr/>
          <p:nvPr/>
        </p:nvSpPr>
        <p:spPr>
          <a:xfrm>
            <a:off x="9381618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E72A5D-0481-CDC5-9CE8-8858BD2320D0}"/>
              </a:ext>
            </a:extLst>
          </p:cNvPr>
          <p:cNvSpPr txBox="1"/>
          <p:nvPr/>
        </p:nvSpPr>
        <p:spPr>
          <a:xfrm>
            <a:off x="9518947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MONITORING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9F17175-6F83-EA33-13B4-F27FD32E79A9}"/>
              </a:ext>
            </a:extLst>
          </p:cNvPr>
          <p:cNvSpPr txBox="1"/>
          <p:nvPr/>
        </p:nvSpPr>
        <p:spPr>
          <a:xfrm>
            <a:off x="538476" y="545737"/>
            <a:ext cx="2638145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64A2762-53C1-B398-207C-F9782DF6E803}"/>
              </a:ext>
            </a:extLst>
          </p:cNvPr>
          <p:cNvSpPr txBox="1"/>
          <p:nvPr/>
        </p:nvSpPr>
        <p:spPr>
          <a:xfrm>
            <a:off x="11224249" y="2349599"/>
            <a:ext cx="378826" cy="2331227"/>
          </a:xfrm>
          <a:prstGeom prst="rect">
            <a:avLst/>
          </a:prstGeom>
          <a:noFill/>
        </p:spPr>
        <p:txBody>
          <a:bodyPr vert="eaVert" wrap="none" lIns="0" tIns="0" rIns="0" bIns="0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DESIGN IMPLEMENTATION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24" name="图片 23" descr="电脑游戏画面&#10;&#10;AI 生成的内容可能不正确。">
            <a:extLst>
              <a:ext uri="{FF2B5EF4-FFF2-40B4-BE49-F238E27FC236}">
                <a16:creationId xmlns:a16="http://schemas.microsoft.com/office/drawing/2014/main" id="{BF693942-D661-6EC8-5F8E-6D8599EB20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063" y="990433"/>
            <a:ext cx="4433894" cy="485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3560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05A0D-DFF4-8CF2-870A-C97EB5243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B9C54E61-C974-FEC1-0E4D-89B3CB1BD747}"/>
              </a:ext>
            </a:extLst>
          </p:cNvPr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382AAB0-1A8A-E9A4-67FF-1B13A09CBA2D}"/>
              </a:ext>
            </a:extLst>
          </p:cNvPr>
          <p:cNvCxnSpPr/>
          <p:nvPr/>
        </p:nvCxnSpPr>
        <p:spPr>
          <a:xfrm flipH="1">
            <a:off x="2912533" y="792480"/>
            <a:ext cx="6161798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03BDC0B-A74A-47B1-B0EE-77F977B567F3}"/>
              </a:ext>
            </a:extLst>
          </p:cNvPr>
          <p:cNvSpPr txBox="1"/>
          <p:nvPr/>
        </p:nvSpPr>
        <p:spPr>
          <a:xfrm>
            <a:off x="1102069" y="583573"/>
            <a:ext cx="1648630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项目总结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07754D4-2173-A925-C998-DAC568078142}"/>
              </a:ext>
            </a:extLst>
          </p:cNvPr>
          <p:cNvSpPr/>
          <p:nvPr/>
        </p:nvSpPr>
        <p:spPr>
          <a:xfrm flipH="1">
            <a:off x="860289" y="1709387"/>
            <a:ext cx="5077535" cy="4293479"/>
          </a:xfrm>
          <a:prstGeom prst="roundRect">
            <a:avLst>
              <a:gd name="adj" fmla="val 13528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D9AA0F8-DE57-09BD-856A-BE7D9127889D}"/>
              </a:ext>
            </a:extLst>
          </p:cNvPr>
          <p:cNvSpPr/>
          <p:nvPr/>
        </p:nvSpPr>
        <p:spPr>
          <a:xfrm>
            <a:off x="1742462" y="1957717"/>
            <a:ext cx="567690" cy="567690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2A45D8D-963F-95BB-6A78-FD66778514B6}"/>
              </a:ext>
            </a:extLst>
          </p:cNvPr>
          <p:cNvSpPr txBox="1"/>
          <p:nvPr/>
        </p:nvSpPr>
        <p:spPr>
          <a:xfrm>
            <a:off x="2433131" y="2032423"/>
            <a:ext cx="232546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7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uLnTx/>
                <a:uFillTx/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accent1"/>
                </a:solidFill>
              </a:rPr>
              <a:t>项目完成情况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EF93777-B104-7741-35E8-68F1367331A1}"/>
              </a:ext>
            </a:extLst>
          </p:cNvPr>
          <p:cNvSpPr/>
          <p:nvPr/>
        </p:nvSpPr>
        <p:spPr>
          <a:xfrm flipH="1">
            <a:off x="6665034" y="1709386"/>
            <a:ext cx="4847516" cy="4293475"/>
          </a:xfrm>
          <a:prstGeom prst="roundRect">
            <a:avLst>
              <a:gd name="adj" fmla="val 13528"/>
            </a:avLst>
          </a:prstGeom>
          <a:noFill/>
          <a:ln w="10414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81" tIns="37490" rIns="74981" bIns="37490" rtlCol="0" anchor="ctr"/>
          <a:lstStyle/>
          <a:p>
            <a:pPr algn="ctr"/>
            <a:endParaRPr lang="zh-CN" altLang="en-US" sz="1475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6B77D36B-E3F9-4EF4-B9BB-5D876796A22F}"/>
              </a:ext>
            </a:extLst>
          </p:cNvPr>
          <p:cNvSpPr/>
          <p:nvPr/>
        </p:nvSpPr>
        <p:spPr>
          <a:xfrm>
            <a:off x="7466737" y="1957717"/>
            <a:ext cx="567690" cy="567690"/>
          </a:xfrm>
          <a:prstGeom prst="ellipse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6" tIns="48463" rIns="96926" bIns="48463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910">
              <a:solidFill>
                <a:schemeClr val="tx1"/>
              </a:solidFill>
              <a:cs typeface="OPPOSans R" panose="00020600040101010101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69A4995-ED54-E9BE-CE4B-4A9A669F2111}"/>
              </a:ext>
            </a:extLst>
          </p:cNvPr>
          <p:cNvSpPr txBox="1"/>
          <p:nvPr/>
        </p:nvSpPr>
        <p:spPr>
          <a:xfrm>
            <a:off x="8034427" y="2006459"/>
            <a:ext cx="232546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7200" b="0" i="0" u="none" strike="noStrike" cap="none" spc="0" normalizeH="0" baseline="0">
                <a:ln>
                  <a:noFill/>
                </a:ln>
                <a:gradFill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0000">
                      <a:schemeClr val="accent1"/>
                    </a:gs>
                  </a:gsLst>
                  <a:lin ang="5400000" scaled="1"/>
                </a:gradFill>
                <a:uLnTx/>
                <a:uFillTx/>
                <a:latin typeface="+mj-ea"/>
                <a:ea typeface="+mj-ea"/>
                <a:cs typeface="OPPOSans B" panose="00020600040101010101" pitchFamily="18" charset="-122"/>
              </a:defRPr>
            </a:lvl1pPr>
          </a:lstStyle>
          <a:p>
            <a:pPr algn="ctr"/>
            <a:r>
              <a:rPr lang="zh-CN" altLang="en-US" sz="2800" dirty="0">
                <a:solidFill>
                  <a:schemeClr val="accent1"/>
                </a:solidFill>
              </a:rPr>
              <a:t>个人收获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01D9623-ED78-C00D-11B1-4C6893565DF7}"/>
              </a:ext>
            </a:extLst>
          </p:cNvPr>
          <p:cNvSpPr txBox="1"/>
          <p:nvPr/>
        </p:nvSpPr>
        <p:spPr>
          <a:xfrm>
            <a:off x="1850184" y="2097819"/>
            <a:ext cx="326846" cy="287487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2000">
                <a:latin typeface="+mj-ea"/>
                <a:ea typeface="+mj-ea"/>
                <a:cs typeface="思源黑体 CN Normal" panose="020B0400000000000000" pitchFamily="34" charset="-122"/>
              </a:rPr>
              <a:t>01</a:t>
            </a:r>
            <a:endParaRPr lang="zh-CN" altLang="en-US" sz="2000">
              <a:latin typeface="+mj-ea"/>
              <a:ea typeface="+mj-ea"/>
              <a:cs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D1413F2-59C6-5A74-DD22-61D13959661E}"/>
              </a:ext>
            </a:extLst>
          </p:cNvPr>
          <p:cNvSpPr txBox="1"/>
          <p:nvPr/>
        </p:nvSpPr>
        <p:spPr>
          <a:xfrm>
            <a:off x="7589716" y="2097819"/>
            <a:ext cx="326846" cy="287487"/>
          </a:xfrm>
          <a:prstGeom prst="rect">
            <a:avLst/>
          </a:prstGeom>
          <a:noFill/>
          <a:effectLst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altLang="zh-CN" sz="2000">
                <a:latin typeface="+mj-ea"/>
                <a:ea typeface="+mj-ea"/>
                <a:cs typeface="思源黑体 CN Normal" panose="020B0400000000000000" pitchFamily="34" charset="-122"/>
              </a:rPr>
              <a:t>02</a:t>
            </a:r>
            <a:endParaRPr lang="zh-CN" altLang="en-US" sz="2000">
              <a:latin typeface="+mj-ea"/>
              <a:ea typeface="+mj-ea"/>
              <a:cs typeface="思源黑体 CN Normal" panose="020B0400000000000000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21574549-0BA9-D00C-1DF0-3538C731D6CA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76E2107F-55D1-7D71-3143-CAAA3D4C2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6360" y="2948805"/>
            <a:ext cx="254000" cy="254000"/>
          </a:xfrm>
          <a:prstGeom prst="rect">
            <a:avLst/>
          </a:prstGeom>
        </p:spPr>
      </p:pic>
      <p:sp>
        <p:nvSpPr>
          <p:cNvPr id="33" name="AutoShape 8">
            <a:extLst>
              <a:ext uri="{FF2B5EF4-FFF2-40B4-BE49-F238E27FC236}">
                <a16:creationId xmlns:a16="http://schemas.microsoft.com/office/drawing/2014/main" id="{2D2D17A9-B13F-2CB9-B1B1-B223627ADFD2}"/>
              </a:ext>
            </a:extLst>
          </p:cNvPr>
          <p:cNvSpPr/>
          <p:nvPr/>
        </p:nvSpPr>
        <p:spPr>
          <a:xfrm>
            <a:off x="1587500" y="2832100"/>
            <a:ext cx="39497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b="1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成功搭建基于STM32和DHT11的下位机数据采集系统。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35" name="Picture 9">
            <a:extLst>
              <a:ext uri="{FF2B5EF4-FFF2-40B4-BE49-F238E27FC236}">
                <a16:creationId xmlns:a16="http://schemas.microsoft.com/office/drawing/2014/main" id="{41CF12CA-E00C-7646-4CFA-FE5C01EFD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6360" y="3953804"/>
            <a:ext cx="254000" cy="254000"/>
          </a:xfrm>
          <a:prstGeom prst="rect">
            <a:avLst/>
          </a:prstGeom>
        </p:spPr>
      </p:pic>
      <p:sp>
        <p:nvSpPr>
          <p:cNvPr id="36" name="AutoShape 10">
            <a:extLst>
              <a:ext uri="{FF2B5EF4-FFF2-40B4-BE49-F238E27FC236}">
                <a16:creationId xmlns:a16="http://schemas.microsoft.com/office/drawing/2014/main" id="{CC5D4211-DABB-9530-734E-5DE0B283BDB5}"/>
              </a:ext>
            </a:extLst>
          </p:cNvPr>
          <p:cNvSpPr/>
          <p:nvPr/>
        </p:nvSpPr>
        <p:spPr>
          <a:xfrm>
            <a:off x="1587500" y="3797306"/>
            <a:ext cx="39497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b="1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开发基于Qt的上位机监控软件，实现数据解析与可视化</a:t>
            </a:r>
            <a:r>
              <a:rPr lang="en-US" b="1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37" name="Picture 11">
            <a:extLst>
              <a:ext uri="{FF2B5EF4-FFF2-40B4-BE49-F238E27FC236}">
                <a16:creationId xmlns:a16="http://schemas.microsoft.com/office/drawing/2014/main" id="{1DDC80E7-B93A-DDB3-CD42-E3979EF62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96360" y="4958803"/>
            <a:ext cx="254000" cy="254000"/>
          </a:xfrm>
          <a:prstGeom prst="rect">
            <a:avLst/>
          </a:prstGeom>
        </p:spPr>
      </p:pic>
      <p:sp>
        <p:nvSpPr>
          <p:cNvPr id="38" name="AutoShape 12">
            <a:extLst>
              <a:ext uri="{FF2B5EF4-FFF2-40B4-BE49-F238E27FC236}">
                <a16:creationId xmlns:a16="http://schemas.microsoft.com/office/drawing/2014/main" id="{BC91ED06-FA12-1C50-E085-373FF0A35D3B}"/>
              </a:ext>
            </a:extLst>
          </p:cNvPr>
          <p:cNvSpPr/>
          <p:nvPr/>
        </p:nvSpPr>
        <p:spPr>
          <a:xfrm>
            <a:off x="1592336" y="4762512"/>
            <a:ext cx="39497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b="1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完成系统联调测试，验证了系统的稳定性和可靠性</a:t>
            </a:r>
            <a:r>
              <a:rPr lang="zh-CN" altLang="en-US" b="1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39" name="Picture 15">
            <a:extLst>
              <a:ext uri="{FF2B5EF4-FFF2-40B4-BE49-F238E27FC236}">
                <a16:creationId xmlns:a16="http://schemas.microsoft.com/office/drawing/2014/main" id="{12D3A9C8-E0DD-C26D-657F-71D4F9DC4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8845" y="2940609"/>
            <a:ext cx="254000" cy="254000"/>
          </a:xfrm>
          <a:prstGeom prst="rect">
            <a:avLst/>
          </a:prstGeom>
        </p:spPr>
      </p:pic>
      <p:sp>
        <p:nvSpPr>
          <p:cNvPr id="40" name="AutoShape 16">
            <a:extLst>
              <a:ext uri="{FF2B5EF4-FFF2-40B4-BE49-F238E27FC236}">
                <a16:creationId xmlns:a16="http://schemas.microsoft.com/office/drawing/2014/main" id="{941C5C66-F3CF-96BC-B047-F4F586943B04}"/>
              </a:ext>
            </a:extLst>
          </p:cNvPr>
          <p:cNvSpPr/>
          <p:nvPr/>
        </p:nvSpPr>
        <p:spPr>
          <a:xfrm>
            <a:off x="7460771" y="2865221"/>
            <a:ext cx="387094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b="1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深入实践STM32单片机外设配置与编程。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41" name="Picture 17">
            <a:extLst>
              <a:ext uri="{FF2B5EF4-FFF2-40B4-BE49-F238E27FC236}">
                <a16:creationId xmlns:a16="http://schemas.microsoft.com/office/drawing/2014/main" id="{623FAACF-3D2C-5C72-BBD8-04EF41387F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78489" y="3949706"/>
            <a:ext cx="254000" cy="254000"/>
          </a:xfrm>
          <a:prstGeom prst="rect">
            <a:avLst/>
          </a:prstGeom>
        </p:spPr>
      </p:pic>
      <p:sp>
        <p:nvSpPr>
          <p:cNvPr id="42" name="AutoShape 18">
            <a:extLst>
              <a:ext uri="{FF2B5EF4-FFF2-40B4-BE49-F238E27FC236}">
                <a16:creationId xmlns:a16="http://schemas.microsoft.com/office/drawing/2014/main" id="{98248858-DB6B-61FD-5FC2-16DE98E1ED91}"/>
              </a:ext>
            </a:extLst>
          </p:cNvPr>
          <p:cNvSpPr/>
          <p:nvPr/>
        </p:nvSpPr>
        <p:spPr>
          <a:xfrm>
            <a:off x="7472011" y="3851896"/>
            <a:ext cx="3541327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b="1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掌握DHT11传感器驱动及单总线协议。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43" name="Picture 19">
            <a:extLst>
              <a:ext uri="{FF2B5EF4-FFF2-40B4-BE49-F238E27FC236}">
                <a16:creationId xmlns:a16="http://schemas.microsoft.com/office/drawing/2014/main" id="{A85C4F4F-3F2F-E444-D569-9D51209461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91011" y="4958803"/>
            <a:ext cx="254000" cy="254000"/>
          </a:xfrm>
          <a:prstGeom prst="rect">
            <a:avLst/>
          </a:prstGeom>
        </p:spPr>
      </p:pic>
      <p:sp>
        <p:nvSpPr>
          <p:cNvPr id="44" name="AutoShape 20">
            <a:extLst>
              <a:ext uri="{FF2B5EF4-FFF2-40B4-BE49-F238E27FC236}">
                <a16:creationId xmlns:a16="http://schemas.microsoft.com/office/drawing/2014/main" id="{B44E974B-DF8D-A83B-512A-80F7833A27C1}"/>
              </a:ext>
            </a:extLst>
          </p:cNvPr>
          <p:cNvSpPr/>
          <p:nvPr/>
        </p:nvSpPr>
        <p:spPr>
          <a:xfrm>
            <a:off x="7472011" y="4767595"/>
            <a:ext cx="3541327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b="1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熟练运用Qt框架进行GUI及数据可视化开发</a:t>
            </a:r>
            <a:r>
              <a:rPr lang="en-US" b="1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32840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00AC3E-E5BF-AC56-C5EE-848EF69D3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>
            <a:extLst>
              <a:ext uri="{FF2B5EF4-FFF2-40B4-BE49-F238E27FC236}">
                <a16:creationId xmlns:a16="http://schemas.microsoft.com/office/drawing/2014/main" id="{9CF0D42C-0E3F-6591-99DD-BE2215409FAB}"/>
              </a:ext>
            </a:extLst>
          </p:cNvPr>
          <p:cNvSpPr/>
          <p:nvPr/>
        </p:nvSpPr>
        <p:spPr>
          <a:xfrm flipH="1">
            <a:off x="69532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9E692A0D-AFFD-3FA7-4446-AC51A27CAB2E}"/>
              </a:ext>
            </a:extLst>
          </p:cNvPr>
          <p:cNvCxnSpPr/>
          <p:nvPr/>
        </p:nvCxnSpPr>
        <p:spPr>
          <a:xfrm flipH="1">
            <a:off x="2912533" y="792480"/>
            <a:ext cx="6161798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73E6212-1702-A6AA-C01D-9D7B1E6DDC39}"/>
              </a:ext>
            </a:extLst>
          </p:cNvPr>
          <p:cNvSpPr txBox="1"/>
          <p:nvPr/>
        </p:nvSpPr>
        <p:spPr>
          <a:xfrm>
            <a:off x="1102069" y="583573"/>
            <a:ext cx="1648630" cy="4431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未来展望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0A847BEE-5672-C4C9-D27B-C212F9ABD250}"/>
              </a:ext>
            </a:extLst>
          </p:cNvPr>
          <p:cNvSpPr txBox="1"/>
          <p:nvPr/>
        </p:nvSpPr>
        <p:spPr>
          <a:xfrm flipH="1">
            <a:off x="9010168" y="583575"/>
            <a:ext cx="2824199" cy="32447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pic>
        <p:nvPicPr>
          <p:cNvPr id="36" name="Picture 5">
            <a:extLst>
              <a:ext uri="{FF2B5EF4-FFF2-40B4-BE49-F238E27FC236}">
                <a16:creationId xmlns:a16="http://schemas.microsoft.com/office/drawing/2014/main" id="{D92C9232-42E0-A8F7-17E1-1CD6A8CAB9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998" y="1623345"/>
            <a:ext cx="506269" cy="506269"/>
          </a:xfrm>
          <a:prstGeom prst="rect">
            <a:avLst/>
          </a:prstGeom>
        </p:spPr>
      </p:pic>
      <p:sp>
        <p:nvSpPr>
          <p:cNvPr id="37" name="AutoShape 6">
            <a:extLst>
              <a:ext uri="{FF2B5EF4-FFF2-40B4-BE49-F238E27FC236}">
                <a16:creationId xmlns:a16="http://schemas.microsoft.com/office/drawing/2014/main" id="{2D5CD431-231B-055A-491F-9519B582FCBA}"/>
              </a:ext>
            </a:extLst>
          </p:cNvPr>
          <p:cNvSpPr/>
          <p:nvPr/>
        </p:nvSpPr>
        <p:spPr>
          <a:xfrm>
            <a:off x="1275403" y="1647803"/>
            <a:ext cx="4154793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dirty="0" err="1">
                <a:solidFill>
                  <a:schemeClr val="accent1"/>
                </a:solidFill>
                <a:latin typeface="+mj-ea"/>
                <a:ea typeface="+mj-ea"/>
                <a:sym typeface="Roboto"/>
              </a:rPr>
              <a:t>增加无线通信</a:t>
            </a:r>
            <a:endParaRPr 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8" name="AutoShape 7">
            <a:extLst>
              <a:ext uri="{FF2B5EF4-FFF2-40B4-BE49-F238E27FC236}">
                <a16:creationId xmlns:a16="http://schemas.microsoft.com/office/drawing/2014/main" id="{0F430164-A290-6722-07A4-2C7A0BEA055E}"/>
              </a:ext>
            </a:extLst>
          </p:cNvPr>
          <p:cNvSpPr/>
          <p:nvPr/>
        </p:nvSpPr>
        <p:spPr>
          <a:xfrm>
            <a:off x="1275401" y="2138639"/>
            <a:ext cx="4154793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5000"/>
              </a:lnSpc>
              <a:defRPr/>
            </a:pPr>
            <a:r>
              <a:rPr lang="en-US" b="0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将有线串口通信改为无线方式（蓝牙、Wi-Fi</a:t>
            </a:r>
            <a:r>
              <a:rPr lang="en-US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），</a:t>
            </a:r>
            <a:r>
              <a:rPr lang="en-US" b="0" i="0" u="none" strike="noStrike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提高系统灵活性</a:t>
            </a:r>
            <a:r>
              <a:rPr lang="en-US" b="0" i="0" u="none" strike="noStrike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39" name="Picture 8">
            <a:extLst>
              <a:ext uri="{FF2B5EF4-FFF2-40B4-BE49-F238E27FC236}">
                <a16:creationId xmlns:a16="http://schemas.microsoft.com/office/drawing/2014/main" id="{B12AD723-8DF9-6D54-A375-8A45CE0BCA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548" y="3233045"/>
            <a:ext cx="507600" cy="507600"/>
          </a:xfrm>
          <a:prstGeom prst="rect">
            <a:avLst/>
          </a:prstGeom>
        </p:spPr>
      </p:pic>
      <p:sp>
        <p:nvSpPr>
          <p:cNvPr id="40" name="AutoShape 9">
            <a:extLst>
              <a:ext uri="{FF2B5EF4-FFF2-40B4-BE49-F238E27FC236}">
                <a16:creationId xmlns:a16="http://schemas.microsoft.com/office/drawing/2014/main" id="{64A3F6E7-A806-0B56-1ADE-4449F8F87ABE}"/>
              </a:ext>
            </a:extLst>
          </p:cNvPr>
          <p:cNvSpPr/>
          <p:nvPr/>
        </p:nvSpPr>
        <p:spPr>
          <a:xfrm>
            <a:off x="1275402" y="3251200"/>
            <a:ext cx="4154793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dirty="0" err="1">
                <a:solidFill>
                  <a:schemeClr val="accent1"/>
                </a:solidFill>
                <a:latin typeface="+mj-ea"/>
                <a:ea typeface="+mj-ea"/>
                <a:sym typeface="Roboto"/>
              </a:rPr>
              <a:t>实现多传感器网络</a:t>
            </a:r>
            <a:endParaRPr 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1" name="AutoShape 10">
            <a:extLst>
              <a:ext uri="{FF2B5EF4-FFF2-40B4-BE49-F238E27FC236}">
                <a16:creationId xmlns:a16="http://schemas.microsoft.com/office/drawing/2014/main" id="{809B544C-A8FF-7EBE-ECBB-F7506C998705}"/>
              </a:ext>
            </a:extLst>
          </p:cNvPr>
          <p:cNvSpPr/>
          <p:nvPr/>
        </p:nvSpPr>
        <p:spPr>
          <a:xfrm>
            <a:off x="1275404" y="3742036"/>
            <a:ext cx="4371862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5000"/>
              </a:lnSpc>
              <a:defRPr/>
            </a:pPr>
            <a:r>
              <a:rPr lang="en-US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扩展系统支持多个传感器节点，实现大范围环境监测</a:t>
            </a:r>
            <a:r>
              <a:rPr lang="en-US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dirty="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42" name="Picture 11">
            <a:extLst>
              <a:ext uri="{FF2B5EF4-FFF2-40B4-BE49-F238E27FC236}">
                <a16:creationId xmlns:a16="http://schemas.microsoft.com/office/drawing/2014/main" id="{FC6B02EE-751C-3DFF-E61A-404BC9E599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548" y="4727055"/>
            <a:ext cx="507600" cy="507600"/>
          </a:xfrm>
          <a:prstGeom prst="rect">
            <a:avLst/>
          </a:prstGeom>
        </p:spPr>
      </p:pic>
      <p:sp>
        <p:nvSpPr>
          <p:cNvPr id="43" name="AutoShape 12">
            <a:extLst>
              <a:ext uri="{FF2B5EF4-FFF2-40B4-BE49-F238E27FC236}">
                <a16:creationId xmlns:a16="http://schemas.microsoft.com/office/drawing/2014/main" id="{C2E1E4C4-05CD-0DFF-1AB9-D17688C53885}"/>
              </a:ext>
            </a:extLst>
          </p:cNvPr>
          <p:cNvSpPr/>
          <p:nvPr/>
        </p:nvSpPr>
        <p:spPr>
          <a:xfrm>
            <a:off x="1275404" y="4742415"/>
            <a:ext cx="4154793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dirty="0" err="1">
                <a:solidFill>
                  <a:schemeClr val="accent1"/>
                </a:solidFill>
                <a:latin typeface="+mj-ea"/>
                <a:ea typeface="+mj-ea"/>
                <a:sym typeface="Roboto"/>
              </a:rPr>
              <a:t>数据存储与查询</a:t>
            </a:r>
            <a:endParaRPr 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4" name="AutoShape 13">
            <a:extLst>
              <a:ext uri="{FF2B5EF4-FFF2-40B4-BE49-F238E27FC236}">
                <a16:creationId xmlns:a16="http://schemas.microsoft.com/office/drawing/2014/main" id="{AC72F4A9-D95D-EE3E-3564-F93D9A2B7DB5}"/>
              </a:ext>
            </a:extLst>
          </p:cNvPr>
          <p:cNvSpPr/>
          <p:nvPr/>
        </p:nvSpPr>
        <p:spPr>
          <a:xfrm>
            <a:off x="1275402" y="5272429"/>
            <a:ext cx="4154793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5000"/>
              </a:lnSpc>
              <a:defRPr/>
            </a:pPr>
            <a:r>
              <a:rPr lang="en-US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完善数据存储，支持历史数据的查询、导出与分析</a:t>
            </a:r>
            <a:r>
              <a:rPr lang="en-US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dirty="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45" name="Picture 15">
            <a:extLst>
              <a:ext uri="{FF2B5EF4-FFF2-40B4-BE49-F238E27FC236}">
                <a16:creationId xmlns:a16="http://schemas.microsoft.com/office/drawing/2014/main" id="{29B06B4F-1DAC-29B1-A36E-23D9BFC057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3485" y="1493533"/>
            <a:ext cx="507600" cy="507600"/>
          </a:xfrm>
          <a:prstGeom prst="rect">
            <a:avLst/>
          </a:prstGeom>
        </p:spPr>
      </p:pic>
      <p:sp>
        <p:nvSpPr>
          <p:cNvPr id="46" name="AutoShape 16">
            <a:extLst>
              <a:ext uri="{FF2B5EF4-FFF2-40B4-BE49-F238E27FC236}">
                <a16:creationId xmlns:a16="http://schemas.microsoft.com/office/drawing/2014/main" id="{D230CCA0-0C3A-760C-8032-CCEAAFD8F601}"/>
              </a:ext>
            </a:extLst>
          </p:cNvPr>
          <p:cNvSpPr/>
          <p:nvPr/>
        </p:nvSpPr>
        <p:spPr>
          <a:xfrm>
            <a:off x="6993209" y="1574289"/>
            <a:ext cx="4371863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dirty="0" err="1">
                <a:solidFill>
                  <a:schemeClr val="accent1"/>
                </a:solidFill>
                <a:latin typeface="+mj-ea"/>
                <a:ea typeface="+mj-ea"/>
                <a:sym typeface="Roboto"/>
              </a:rPr>
              <a:t>增加报警功能</a:t>
            </a:r>
            <a:endParaRPr 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7" name="AutoShape 17">
            <a:extLst>
              <a:ext uri="{FF2B5EF4-FFF2-40B4-BE49-F238E27FC236}">
                <a16:creationId xmlns:a16="http://schemas.microsoft.com/office/drawing/2014/main" id="{24A12E8A-FDF3-AE64-A9D7-1E5ED90FE737}"/>
              </a:ext>
            </a:extLst>
          </p:cNvPr>
          <p:cNvSpPr/>
          <p:nvPr/>
        </p:nvSpPr>
        <p:spPr>
          <a:xfrm>
            <a:off x="7019597" y="2138639"/>
            <a:ext cx="4371862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5000"/>
              </a:lnSpc>
              <a:defRPr/>
            </a:pPr>
            <a:r>
              <a:rPr lang="en-US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设置温湿度阈值，通过声音、弹窗等方式进行超限报警</a:t>
            </a:r>
            <a:r>
              <a:rPr lang="en-US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dirty="0">
              <a:solidFill>
                <a:schemeClr val="bg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48" name="Picture 18">
            <a:extLst>
              <a:ext uri="{FF2B5EF4-FFF2-40B4-BE49-F238E27FC236}">
                <a16:creationId xmlns:a16="http://schemas.microsoft.com/office/drawing/2014/main" id="{339D8171-997D-4CF8-118E-79C7D327803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3485" y="3175200"/>
            <a:ext cx="507600" cy="507600"/>
          </a:xfrm>
          <a:prstGeom prst="rect">
            <a:avLst/>
          </a:prstGeom>
        </p:spPr>
      </p:pic>
      <p:sp>
        <p:nvSpPr>
          <p:cNvPr id="49" name="AutoShape 19">
            <a:extLst>
              <a:ext uri="{FF2B5EF4-FFF2-40B4-BE49-F238E27FC236}">
                <a16:creationId xmlns:a16="http://schemas.microsoft.com/office/drawing/2014/main" id="{053259DF-CA53-8119-9DB1-A4C085140700}"/>
              </a:ext>
            </a:extLst>
          </p:cNvPr>
          <p:cNvSpPr/>
          <p:nvPr/>
        </p:nvSpPr>
        <p:spPr>
          <a:xfrm>
            <a:off x="6993210" y="3233045"/>
            <a:ext cx="4371862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dirty="0" err="1">
                <a:solidFill>
                  <a:schemeClr val="accent1"/>
                </a:solidFill>
                <a:latin typeface="+mj-ea"/>
                <a:ea typeface="+mj-ea"/>
                <a:sym typeface="Roboto"/>
              </a:rPr>
              <a:t>优化UI设计</a:t>
            </a:r>
            <a:endParaRPr lang="en-US" sz="24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0" name="AutoShape 20">
            <a:extLst>
              <a:ext uri="{FF2B5EF4-FFF2-40B4-BE49-F238E27FC236}">
                <a16:creationId xmlns:a16="http://schemas.microsoft.com/office/drawing/2014/main" id="{A9C3677E-9B81-F69C-43D8-446D8989DE5A}"/>
              </a:ext>
            </a:extLst>
          </p:cNvPr>
          <p:cNvSpPr/>
          <p:nvPr/>
        </p:nvSpPr>
        <p:spPr>
          <a:xfrm>
            <a:off x="7019597" y="3740645"/>
            <a:ext cx="4371862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5000"/>
              </a:lnSpc>
              <a:defRPr/>
            </a:pPr>
            <a:r>
              <a:rPr lang="en-US" dirty="0" err="1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使界面更美观易用，并增加更多个性化设置选项</a:t>
            </a:r>
            <a:r>
              <a:rPr lang="zh-CN" altLang="en-US" dirty="0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。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56247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框 52"/>
          <p:cNvSpPr txBox="1"/>
          <p:nvPr/>
        </p:nvSpPr>
        <p:spPr>
          <a:xfrm>
            <a:off x="588925" y="1039224"/>
            <a:ext cx="10053675" cy="1387554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11500" b="1" kern="100" dirty="0">
                <a:ln w="12700">
                  <a:solidFill>
                    <a:schemeClr val="accent1">
                      <a:alpha val="13000"/>
                    </a:schemeClr>
                  </a:solidFill>
                </a:ln>
                <a:noFill/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PROGRAM</a:t>
            </a:r>
          </a:p>
        </p:txBody>
      </p:sp>
      <p:sp>
        <p:nvSpPr>
          <p:cNvPr id="2" name="椭圆 1"/>
          <p:cNvSpPr/>
          <p:nvPr/>
        </p:nvSpPr>
        <p:spPr>
          <a:xfrm>
            <a:off x="11224249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10870555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10516863" y="635624"/>
            <a:ext cx="272425" cy="272425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0163171" y="635624"/>
            <a:ext cx="272425" cy="2724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/>
          <p:nvPr/>
        </p:nvCxnSpPr>
        <p:spPr>
          <a:xfrm>
            <a:off x="3117669" y="792480"/>
            <a:ext cx="6670765" cy="0"/>
          </a:xfrm>
          <a:prstGeom prst="straightConnector1">
            <a:avLst/>
          </a:prstGeom>
          <a:ln w="127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: 圆角 47"/>
          <p:cNvSpPr/>
          <p:nvPr>
            <p:custDataLst>
              <p:tags r:id="rId1"/>
            </p:custDataLst>
          </p:nvPr>
        </p:nvSpPr>
        <p:spPr>
          <a:xfrm>
            <a:off x="695325" y="2995887"/>
            <a:ext cx="5135956" cy="247415"/>
          </a:xfrm>
          <a:prstGeom prst="round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4556" tIns="57278" rIns="114556" bIns="57278" rtlCol="0" anchor="ctr"/>
          <a:lstStyle/>
          <a:p>
            <a:pPr algn="ctr"/>
            <a:endParaRPr lang="zh-CN" altLang="en-US" sz="2255">
              <a:solidFill>
                <a:schemeClr val="bg1"/>
              </a:solidFill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20787" y="2014126"/>
            <a:ext cx="5346410" cy="1401892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10000">
                <a:solidFill>
                  <a:schemeClr val="bg1"/>
                </a:solidFill>
                <a:latin typeface="+mj-ea"/>
                <a:ea typeface="+mj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汇报结束</a:t>
            </a:r>
          </a:p>
        </p:txBody>
      </p:sp>
      <p:sp>
        <p:nvSpPr>
          <p:cNvPr id="50" name="文本框 49"/>
          <p:cNvSpPr txBox="1"/>
          <p:nvPr/>
        </p:nvSpPr>
        <p:spPr>
          <a:xfrm>
            <a:off x="718898" y="3481903"/>
            <a:ext cx="6625178" cy="58169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4200" dirty="0">
                <a:solidFill>
                  <a:schemeClr val="accent1"/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温湿度采集与监测程序</a:t>
            </a:r>
          </a:p>
        </p:txBody>
      </p:sp>
      <p:cxnSp>
        <p:nvCxnSpPr>
          <p:cNvPr id="57" name="直接连接符 56"/>
          <p:cNvCxnSpPr/>
          <p:nvPr/>
        </p:nvCxnSpPr>
        <p:spPr>
          <a:xfrm flipH="1">
            <a:off x="11476353" y="1058779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H="1">
            <a:off x="11476353" y="4833325"/>
            <a:ext cx="0" cy="1138321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椭圆 73"/>
          <p:cNvSpPr/>
          <p:nvPr/>
        </p:nvSpPr>
        <p:spPr>
          <a:xfrm>
            <a:off x="695325" y="4790048"/>
            <a:ext cx="505098" cy="5050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1200150" y="4916748"/>
            <a:ext cx="2027555" cy="5492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汇报人：李吉聪</a:t>
            </a:r>
          </a:p>
        </p:txBody>
      </p:sp>
      <p:sp>
        <p:nvSpPr>
          <p:cNvPr id="76" name="文本框 75"/>
          <p:cNvSpPr txBox="1"/>
          <p:nvPr/>
        </p:nvSpPr>
        <p:spPr>
          <a:xfrm>
            <a:off x="3745678" y="4916563"/>
            <a:ext cx="3155110" cy="3077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时间：</a:t>
            </a:r>
            <a:r>
              <a:rPr lang="en-US" altLang="zh-CN" sz="2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2025.12.31</a:t>
            </a:r>
            <a:endParaRPr lang="zh-CN" altLang="en-US" sz="2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7" name="椭圆 76"/>
          <p:cNvSpPr/>
          <p:nvPr/>
        </p:nvSpPr>
        <p:spPr>
          <a:xfrm>
            <a:off x="3727189" y="4790048"/>
            <a:ext cx="505098" cy="50509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8" name="组合 77"/>
          <p:cNvGrpSpPr/>
          <p:nvPr/>
        </p:nvGrpSpPr>
        <p:grpSpPr>
          <a:xfrm>
            <a:off x="846727" y="4923167"/>
            <a:ext cx="211961" cy="211961"/>
            <a:chOff x="7832" y="7296"/>
            <a:chExt cx="454" cy="454"/>
          </a:xfrm>
        </p:grpSpPr>
        <p:sp>
          <p:nvSpPr>
            <p:cNvPr id="79" name="泪滴形 78"/>
            <p:cNvSpPr/>
            <p:nvPr/>
          </p:nvSpPr>
          <p:spPr>
            <a:xfrm rot="8100000">
              <a:off x="7832" y="7296"/>
              <a:ext cx="455" cy="455"/>
            </a:xfrm>
            <a:prstGeom prst="teardrop">
              <a:avLst>
                <a:gd name="adj" fmla="val 9946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椭圆 79"/>
            <p:cNvSpPr/>
            <p:nvPr/>
          </p:nvSpPr>
          <p:spPr>
            <a:xfrm>
              <a:off x="7986" y="7450"/>
              <a:ext cx="147" cy="147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/>
          <p:cNvGrpSpPr/>
          <p:nvPr/>
        </p:nvGrpSpPr>
        <p:grpSpPr>
          <a:xfrm>
            <a:off x="3862552" y="4934598"/>
            <a:ext cx="234371" cy="218964"/>
            <a:chOff x="12668" y="5115"/>
            <a:chExt cx="502" cy="469"/>
          </a:xfrm>
        </p:grpSpPr>
        <p:sp>
          <p:nvSpPr>
            <p:cNvPr id="82" name="矩形: 圆角 81"/>
            <p:cNvSpPr/>
            <p:nvPr/>
          </p:nvSpPr>
          <p:spPr>
            <a:xfrm>
              <a:off x="12668" y="5115"/>
              <a:ext cx="503" cy="370"/>
            </a:xfrm>
            <a:prstGeom prst="roundRect">
              <a:avLst>
                <a:gd name="adj" fmla="val 22972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: 圆角 82"/>
            <p:cNvSpPr/>
            <p:nvPr/>
          </p:nvSpPr>
          <p:spPr>
            <a:xfrm>
              <a:off x="12778" y="5528"/>
              <a:ext cx="283" cy="57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4" name="组合 83"/>
            <p:cNvGrpSpPr/>
            <p:nvPr/>
          </p:nvGrpSpPr>
          <p:grpSpPr>
            <a:xfrm>
              <a:off x="12801" y="5215"/>
              <a:ext cx="238" cy="170"/>
              <a:chOff x="12778" y="5190"/>
              <a:chExt cx="238" cy="170"/>
            </a:xfrm>
          </p:grpSpPr>
          <p:sp>
            <p:nvSpPr>
              <p:cNvPr id="85" name="矩形: 圆角 84"/>
              <p:cNvSpPr/>
              <p:nvPr/>
            </p:nvSpPr>
            <p:spPr>
              <a:xfrm>
                <a:off x="12778" y="5275"/>
                <a:ext cx="45" cy="85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矩形: 圆角 85"/>
              <p:cNvSpPr/>
              <p:nvPr>
                <p:custDataLst>
                  <p:tags r:id="rId2"/>
                </p:custDataLst>
              </p:nvPr>
            </p:nvSpPr>
            <p:spPr>
              <a:xfrm>
                <a:off x="12875" y="5230"/>
                <a:ext cx="45" cy="13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7" name="矩形: 圆角 86"/>
              <p:cNvSpPr/>
              <p:nvPr>
                <p:custDataLst>
                  <p:tags r:id="rId3"/>
                </p:custDataLst>
              </p:nvPr>
            </p:nvSpPr>
            <p:spPr>
              <a:xfrm>
                <a:off x="12972" y="5190"/>
                <a:ext cx="45" cy="17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1C12CB9-AD1F-66B3-1EC8-C1940969BBB5}"/>
              </a:ext>
            </a:extLst>
          </p:cNvPr>
          <p:cNvSpPr/>
          <p:nvPr/>
        </p:nvSpPr>
        <p:spPr>
          <a:xfrm>
            <a:off x="695325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C9206649-E950-F1DB-812E-32EABAB23C8F}"/>
              </a:ext>
            </a:extLst>
          </p:cNvPr>
          <p:cNvSpPr/>
          <p:nvPr/>
        </p:nvSpPr>
        <p:spPr>
          <a:xfrm>
            <a:off x="850394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9B3E64-D133-5B71-EA4D-DB3E4988F6A7}"/>
              </a:ext>
            </a:extLst>
          </p:cNvPr>
          <p:cNvSpPr txBox="1"/>
          <p:nvPr/>
        </p:nvSpPr>
        <p:spPr>
          <a:xfrm>
            <a:off x="987723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TEMPERATURE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FE12C95-647D-5831-92DD-72BC193C4DAB}"/>
              </a:ext>
            </a:extLst>
          </p:cNvPr>
          <p:cNvSpPr/>
          <p:nvPr/>
        </p:nvSpPr>
        <p:spPr>
          <a:xfrm>
            <a:off x="3539066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548E85CB-33CD-A301-449F-1CFE9F47FA73}"/>
              </a:ext>
            </a:extLst>
          </p:cNvPr>
          <p:cNvSpPr/>
          <p:nvPr/>
        </p:nvSpPr>
        <p:spPr>
          <a:xfrm>
            <a:off x="3694135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8C153-46A7-BA2C-2A83-A485CC2684F3}"/>
              </a:ext>
            </a:extLst>
          </p:cNvPr>
          <p:cNvSpPr txBox="1"/>
          <p:nvPr/>
        </p:nvSpPr>
        <p:spPr>
          <a:xfrm>
            <a:off x="3831464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HUMIDITY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348CD4E-ADA3-369B-3075-98BD4DB13C87}"/>
              </a:ext>
            </a:extLst>
          </p:cNvPr>
          <p:cNvSpPr/>
          <p:nvPr/>
        </p:nvSpPr>
        <p:spPr>
          <a:xfrm>
            <a:off x="6382807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B1B874D9-95F8-6530-BDED-567F56BAADEA}"/>
              </a:ext>
            </a:extLst>
          </p:cNvPr>
          <p:cNvSpPr/>
          <p:nvPr/>
        </p:nvSpPr>
        <p:spPr>
          <a:xfrm>
            <a:off x="6537876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27B5413-D7E7-426E-920D-B7AE9A1F2540}"/>
              </a:ext>
            </a:extLst>
          </p:cNvPr>
          <p:cNvSpPr txBox="1"/>
          <p:nvPr/>
        </p:nvSpPr>
        <p:spPr>
          <a:xfrm>
            <a:off x="6675205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COLLECTION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643F3F5-86EE-A293-8E2A-89D83E387FA1}"/>
              </a:ext>
            </a:extLst>
          </p:cNvPr>
          <p:cNvSpPr/>
          <p:nvPr/>
        </p:nvSpPr>
        <p:spPr>
          <a:xfrm>
            <a:off x="9226549" y="6113166"/>
            <a:ext cx="2270125" cy="407014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9459629-28FF-7219-45C8-F5CEE4EF17E8}"/>
              </a:ext>
            </a:extLst>
          </p:cNvPr>
          <p:cNvSpPr/>
          <p:nvPr/>
        </p:nvSpPr>
        <p:spPr>
          <a:xfrm>
            <a:off x="9381618" y="6226461"/>
            <a:ext cx="180424" cy="180424"/>
          </a:xfrm>
          <a:prstGeom prst="ellipse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F1DE4D-ADD2-AC02-FB37-6EDEEA944085}"/>
              </a:ext>
            </a:extLst>
          </p:cNvPr>
          <p:cNvSpPr txBox="1"/>
          <p:nvPr/>
        </p:nvSpPr>
        <p:spPr>
          <a:xfrm>
            <a:off x="9518947" y="6142614"/>
            <a:ext cx="1977726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kern="100" dirty="0">
                <a:solidFill>
                  <a:schemeClr val="bg1">
                    <a:lumMod val="75000"/>
                    <a:lumOff val="25000"/>
                  </a:schemeClr>
                </a:solidFill>
                <a:latin typeface="+mn-ea"/>
                <a:cs typeface="汉仪旗黑-55简" panose="00020600040101010101" charset="-128"/>
                <a:sym typeface="汉仪旗黑-55简" panose="00020600040101010101" charset="-128"/>
              </a:rPr>
              <a:t>MONITORING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EABBC42-939D-4C28-84FC-9E64F0648D1E}"/>
              </a:ext>
            </a:extLst>
          </p:cNvPr>
          <p:cNvSpPr txBox="1"/>
          <p:nvPr/>
        </p:nvSpPr>
        <p:spPr>
          <a:xfrm>
            <a:off x="718898" y="4163341"/>
            <a:ext cx="5771980" cy="229088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dist">
              <a:lnSpc>
                <a:spcPct val="90000"/>
              </a:lnSpc>
            </a:pPr>
            <a:r>
              <a:rPr lang="en-US" altLang="zh-CN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+mn-ea"/>
                <a:cs typeface="江城圆体 500W" panose="020B0600000000000000" pitchFamily="34" charset="-122"/>
                <a:sym typeface="江城圆体 600W" panose="020B0800000000000000" pitchFamily="34" charset="-122"/>
              </a:rPr>
              <a:t>Temperature and Humidity Collection and Monitoring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4AD1B4-5B15-3E8A-17A4-00AFCC4B2A69}"/>
              </a:ext>
            </a:extLst>
          </p:cNvPr>
          <p:cNvSpPr txBox="1"/>
          <p:nvPr/>
        </p:nvSpPr>
        <p:spPr>
          <a:xfrm>
            <a:off x="538476" y="545737"/>
            <a:ext cx="2638145" cy="36036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400" kern="100" dirty="0">
                <a:solidFill>
                  <a:schemeClr val="bg1"/>
                </a:solidFill>
                <a:latin typeface="+mj-ea"/>
                <a:ea typeface="+mj-ea"/>
                <a:cs typeface="汉仪旗黑-55简" panose="00020600040101010101" charset="-128"/>
                <a:sym typeface="汉仪旗黑-55简" panose="00020600040101010101" charset="-128"/>
              </a:rPr>
              <a:t>SUMMARY REPORT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491C8B3-FC13-BDD7-DE66-185200C844C6}"/>
              </a:ext>
            </a:extLst>
          </p:cNvPr>
          <p:cNvSpPr txBox="1"/>
          <p:nvPr/>
        </p:nvSpPr>
        <p:spPr>
          <a:xfrm>
            <a:off x="11224249" y="2349599"/>
            <a:ext cx="378826" cy="2331227"/>
          </a:xfrm>
          <a:prstGeom prst="rect">
            <a:avLst/>
          </a:prstGeom>
          <a:noFill/>
        </p:spPr>
        <p:txBody>
          <a:bodyPr vert="eaVert" wrap="none" lIns="0" tIns="0" rIns="0" bIns="0" rtlCol="0">
            <a:no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</a:rPr>
              <a:t>DESIGN IMPLEMENTATION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4" name="图片 13" descr="电脑游戏画面&#10;&#10;AI 生成的内容可能不正确。">
            <a:extLst>
              <a:ext uri="{FF2B5EF4-FFF2-40B4-BE49-F238E27FC236}">
                <a16:creationId xmlns:a16="http://schemas.microsoft.com/office/drawing/2014/main" id="{DED06E5F-9B83-1551-8092-8004251B79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9053" y="990433"/>
            <a:ext cx="4607904" cy="485081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09103C12-DDCC-343D-46B8-98318A2D6362}"/>
              </a:ext>
            </a:extLst>
          </p:cNvPr>
          <p:cNvSpPr txBox="1"/>
          <p:nvPr/>
        </p:nvSpPr>
        <p:spPr>
          <a:xfrm>
            <a:off x="803942" y="5466518"/>
            <a:ext cx="5292058" cy="40701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6600" i="0" u="none" strike="noStrike" cap="none" spc="0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字由文艺黑" panose="00020600040101010101" pitchFamily="18" charset="-122"/>
                <a:ea typeface="字由文艺黑" panose="00020600040101010101" pitchFamily="18" charset="-122"/>
                <a:cs typeface="阿里巴巴普惠体 2.0 95 ExtraBold" panose="00020600040101010101" pitchFamily="18" charset="-122"/>
              </a:defRPr>
            </a:lvl1pPr>
          </a:lstStyle>
          <a:p>
            <a:pPr algn="ctr"/>
            <a:r>
              <a:rPr lang="zh-CN" altLang="en-US" sz="18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其他成员：温志超、陈梓欣、明鑫、白甲鑫、吕明昊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4.05.14"/>
  <p:tag name="AS_TITLE" val="Aspose.Slides for .NET 4.0 Client Profile"/>
  <p:tag name="AS_VERSION" val="24.5"/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2.59178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9.47312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9.47312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9.47312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9.47312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9.47312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9.47312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87.46598425196848,&quot;left&quot;:394.5611023622047,&quot;top&quot;:238.44700787401575,&quot;width&quot;:487.665433070866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.89406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0.32960629921268,&quot;left&quot;:447.6156692913386,&quot;top&quot;:247.68488188976374,&quot;width&quot;:508.63181102362194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.894067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59645669291339,&quot;left&quot;:54.75,&quot;top&quot;:376.7356692913386,&quot;width&quot;:875.689448818897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59645669291339,&quot;left&quot;:54.75,&quot;top&quot;:376.7356692913386,&quot;width&quot;:875.689448818897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59645669291339,&quot;left&quot;:54.75,&quot;top&quot;:376.7356692913386,&quot;width&quot;:875.689448818897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59645669291339,&quot;left&quot;:54.75,&quot;top&quot;:376.7356692913386,&quot;width&quot;:875.689448818897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59645669291339,&quot;left&quot;:54.75,&quot;top&quot;:376.7356692913386,&quot;width&quot;:875.689448818897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59645669291339,&quot;left&quot;:54.75,&quot;top&quot;:376.7356692913386,&quot;width&quot;:875.689448818897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59645669291339,&quot;left&quot;:54.75,&quot;top&quot;:376.7356692913386,&quot;width&quot;:875.689448818897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3.59645669291339,&quot;left&quot;:54.75,&quot;top&quot;:376.7356692913386,&quot;width&quot;:875.689448818897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.89406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.89406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5173228346464,&quot;left&quot;:502.0418110236221,&quot;top&quot;:122.65929133858268,&quot;width&quot;:381.53102362204726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5173228346464,&quot;left&quot;:502.0418110236221,&quot;top&quot;:122.65929133858268,&quot;width&quot;:381.53102362204726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5173228346464,&quot;left&quot;:502.0418110236221,&quot;top&quot;:122.65929133858268,&quot;width&quot;:381.53102362204726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5173228346464,&quot;left&quot;:502.0418110236221,&quot;top&quot;:122.65929133858268,&quot;width&quot;:381.53102362204726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5173228346464,&quot;left&quot;:502.0418110236221,&quot;top&quot;:122.65929133858268,&quot;width&quot;:381.53102362204726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5173228346464,&quot;left&quot;:502.0418110236221,&quot;top&quot;:122.65929133858268,&quot;width&quot;:381.53102362204726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3.15173228346464,&quot;left&quot;:502.0418110236221,&quot;top&quot;:122.65929133858268,&quot;width&quot;:381.53102362204726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.89406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1.894067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3.00646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5">
  <a:themeElements>
    <a:clrScheme name="比格">
      <a:dk1>
        <a:srgbClr val="FFFFFF"/>
      </a:dk1>
      <a:lt1>
        <a:srgbClr val="151515"/>
      </a:lt1>
      <a:dk2>
        <a:srgbClr val="F1F1F1"/>
      </a:dk2>
      <a:lt2>
        <a:srgbClr val="757587"/>
      </a:lt2>
      <a:accent1>
        <a:srgbClr val="1A51AD"/>
      </a:accent1>
      <a:accent2>
        <a:srgbClr val="3E7CE1"/>
      </a:accent2>
      <a:accent3>
        <a:srgbClr val="0C2856"/>
      </a:accent3>
      <a:accent4>
        <a:srgbClr val="133C81"/>
      </a:accent4>
      <a:accent5>
        <a:srgbClr val="5C90E6"/>
      </a:accent5>
      <a:accent6>
        <a:srgbClr val="92B5EE"/>
      </a:accent6>
      <a:hlink>
        <a:srgbClr val="467886"/>
      </a:hlink>
      <a:folHlink>
        <a:srgbClr val="96607D"/>
      </a:folHlink>
    </a:clrScheme>
    <a:fontScheme name="自定义 20">
      <a:majorFont>
        <a:latin typeface="思源黑体 CN Bold"/>
        <a:ea typeface="思源黑体 CN Bold"/>
        <a:cs typeface="Arial"/>
      </a:majorFont>
      <a:minorFont>
        <a:latin typeface="思源黑体 CN Medium"/>
        <a:ea typeface="思源黑体 CN Medium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>
        <a:no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P世界</Template>
  <TotalTime>234</TotalTime>
  <Words>932</Words>
  <Application>Microsoft Office PowerPoint</Application>
  <PresentationFormat>宽屏</PresentationFormat>
  <Paragraphs>237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OPPOSans R</vt:lpstr>
      <vt:lpstr>思源黑体 CN Normal</vt:lpstr>
      <vt:lpstr>Arial</vt:lpstr>
      <vt:lpstr>Calibri</vt:lpstr>
      <vt:lpstr>Noto Sans SC</vt:lpstr>
      <vt:lpstr>Roboto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梓欣 陈</cp:lastModifiedBy>
  <cp:revision>25</cp:revision>
  <dcterms:created xsi:type="dcterms:W3CDTF">2025-05-27T09:55:32Z</dcterms:created>
  <dcterms:modified xsi:type="dcterms:W3CDTF">2025-12-30T11:13:29Z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00DCE485F18270D5138C3568221A9DB9_43</vt:lpwstr>
  </property>
  <property fmtid="{D5CDD505-2E9C-101B-9397-08002B2CF9AE}" pid="3" name="KSOProductBuildVer">
    <vt:lpwstr>2052-7.4.1.8983</vt:lpwstr>
  </property>
</Properties>
</file>