
<file path=[Content_Types].xml><?xml version="1.0" encoding="utf-8"?>
<Types xmlns="http://schemas.openxmlformats.org/package/2006/content-types">
  <Default Extension="jpeg" ContentType="image/jpeg"/>
  <Default Extension="png" ContentType="image/png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7" r:id="rId3"/>
    <p:sldId id="256" r:id="rId4"/>
    <p:sldId id="261" r:id="rId5"/>
    <p:sldId id="262" r:id="rId6"/>
    <p:sldId id="263" r:id="rId7"/>
    <p:sldId id="264" r:id="rId8"/>
    <p:sldId id="258" r:id="rId10"/>
    <p:sldId id="267" r:id="rId11"/>
    <p:sldId id="268" r:id="rId12"/>
    <p:sldId id="259" r:id="rId13"/>
    <p:sldId id="271" r:id="rId14"/>
    <p:sldId id="272" r:id="rId15"/>
    <p:sldId id="273" r:id="rId16"/>
    <p:sldId id="274" r:id="rId17"/>
    <p:sldId id="275" r:id="rId18"/>
    <p:sldId id="278" r:id="rId19"/>
    <p:sldId id="277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90" r:id="rId31"/>
    <p:sldId id="291" r:id="rId3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4.emf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2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28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2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2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2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28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1" Type="http://schemas.openxmlformats.org/officeDocument/2006/relationships/image" Target="../media/image28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1" Type="http://schemas.openxmlformats.org/officeDocument/2006/relationships/image" Target="../media/image28.jpe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28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1" Type="http://schemas.openxmlformats.org/officeDocument/2006/relationships/image" Target="../media/image28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7.GIF"/><Relationship Id="rId2" Type="http://schemas.openxmlformats.org/officeDocument/2006/relationships/image" Target="../media/image46.png"/><Relationship Id="rId1" Type="http://schemas.openxmlformats.org/officeDocument/2006/relationships/image" Target="../media/image28.jpe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28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1" Type="http://schemas.openxmlformats.org/officeDocument/2006/relationships/image" Target="../media/image5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1" Type="http://schemas.openxmlformats.org/officeDocument/2006/relationships/image" Target="../media/image51.jpe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hero3-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765" y="-13335"/>
            <a:ext cx="12241530" cy="68853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803910" y="2829560"/>
            <a:ext cx="10584180" cy="1198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/>
            <a:r>
              <a:rPr lang="zh-CN" altLang="en-US" sz="7200">
                <a:solidFill>
                  <a:srgbClr val="FFFF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基于</a:t>
            </a:r>
            <a:r>
              <a:rPr lang="en-US" altLang="zh-CN" sz="7200">
                <a:solidFill>
                  <a:srgbClr val="FFFF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PROTEUS</a:t>
            </a:r>
            <a:r>
              <a:rPr lang="zh-CN" altLang="en-US" sz="7200">
                <a:solidFill>
                  <a:srgbClr val="FFFF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sz="7200">
                <a:solidFill>
                  <a:srgbClr val="FFFF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PCB</a:t>
            </a:r>
            <a:r>
              <a:rPr lang="zh-CN" altLang="en-US" sz="7200">
                <a:solidFill>
                  <a:srgbClr val="FFFF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设计</a:t>
            </a:r>
            <a:endParaRPr lang="zh-CN" altLang="en-US" sz="7200">
              <a:solidFill>
                <a:srgbClr val="FFFF00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slide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-13335"/>
            <a:ext cx="12202160" cy="6866255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4325959" y="1441450"/>
            <a:ext cx="4537075" cy="784225"/>
          </a:xfrm>
          <a:prstGeom prst="rect">
            <a:avLst/>
          </a:prstGeom>
          <a:solidFill>
            <a:srgbClr val="01B1ED"/>
          </a:solidFill>
          <a:ln w="3175" cap="flat" cmpd="sng" algn="ctr">
            <a:solidFill>
              <a:srgbClr val="EAEAE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80000" anchor="ctr"/>
          <a:p>
            <a:pPr marL="171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zh-CN" sz="2400" kern="0" dirty="0">
              <a:solidFill>
                <a:srgbClr val="4D4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19"/>
          <p:cNvSpPr/>
          <p:nvPr/>
        </p:nvSpPr>
        <p:spPr>
          <a:xfrm>
            <a:off x="3076575" y="1441450"/>
            <a:ext cx="1131888" cy="1044575"/>
          </a:xfrm>
          <a:custGeom>
            <a:avLst/>
            <a:gdLst/>
            <a:ahLst/>
            <a:cxnLst/>
            <a:rect l="l" t="t" r="r" b="b"/>
            <a:pathLst>
              <a:path w="1871662" h="1727200">
                <a:moveTo>
                  <a:pt x="0" y="0"/>
                </a:moveTo>
                <a:lnTo>
                  <a:pt x="1871662" y="0"/>
                </a:lnTo>
                <a:lnTo>
                  <a:pt x="1871662" y="1308095"/>
                </a:lnTo>
                <a:lnTo>
                  <a:pt x="935831" y="1727200"/>
                </a:lnTo>
                <a:lnTo>
                  <a:pt x="0" y="1308095"/>
                </a:lnTo>
                <a:close/>
              </a:path>
            </a:pathLst>
          </a:custGeom>
          <a:solidFill>
            <a:srgbClr val="96D5F7"/>
          </a:solidFill>
          <a:ln w="25400" cap="flat" cmpd="sng" algn="ctr">
            <a:noFill/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bIns="324000" anchor="ctr"/>
          <a:p>
            <a:pPr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295775" y="2357438"/>
            <a:ext cx="4556125" cy="782637"/>
          </a:xfrm>
          <a:prstGeom prst="rect">
            <a:avLst/>
          </a:prstGeom>
          <a:solidFill>
            <a:srgbClr val="01B1ED"/>
          </a:solidFill>
          <a:ln w="3175" cap="flat" cmpd="sng" algn="ctr">
            <a:solidFill>
              <a:srgbClr val="EAEAE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80000" anchor="ctr"/>
          <a:p>
            <a:pPr marL="171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000" kern="0" dirty="0">
              <a:solidFill>
                <a:srgbClr val="4D4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20"/>
          <p:cNvSpPr/>
          <p:nvPr/>
        </p:nvSpPr>
        <p:spPr>
          <a:xfrm>
            <a:off x="3076575" y="2355850"/>
            <a:ext cx="1131888" cy="1044575"/>
          </a:xfrm>
          <a:custGeom>
            <a:avLst/>
            <a:gdLst/>
            <a:ahLst/>
            <a:cxnLst/>
            <a:rect l="l" t="t" r="r" b="b"/>
            <a:pathLst>
              <a:path w="1871662" h="1727200">
                <a:moveTo>
                  <a:pt x="0" y="0"/>
                </a:moveTo>
                <a:lnTo>
                  <a:pt x="935831" y="458779"/>
                </a:lnTo>
                <a:lnTo>
                  <a:pt x="1871662" y="0"/>
                </a:lnTo>
                <a:lnTo>
                  <a:pt x="1871662" y="1268421"/>
                </a:lnTo>
                <a:lnTo>
                  <a:pt x="935831" y="1727200"/>
                </a:lnTo>
                <a:lnTo>
                  <a:pt x="0" y="1268421"/>
                </a:lnTo>
                <a:close/>
              </a:path>
            </a:pathLst>
          </a:custGeom>
          <a:solidFill>
            <a:srgbClr val="96D5F7"/>
          </a:solidFill>
          <a:ln w="25400" cap="flat" cmpd="sng" algn="ctr">
            <a:noFill/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anchor="ctr"/>
          <a:p>
            <a:pPr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281488" y="3270250"/>
            <a:ext cx="4570412" cy="777875"/>
          </a:xfrm>
          <a:prstGeom prst="rect">
            <a:avLst/>
          </a:prstGeom>
          <a:solidFill>
            <a:srgbClr val="01B1ED"/>
          </a:solidFill>
          <a:ln w="3175" cap="flat" cmpd="sng" algn="ctr">
            <a:solidFill>
              <a:srgbClr val="EAEAE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80000" anchor="ctr"/>
          <a:p>
            <a:pPr marL="171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zh-CN" sz="1000" kern="0" dirty="0">
              <a:solidFill>
                <a:srgbClr val="4D4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21"/>
          <p:cNvSpPr/>
          <p:nvPr/>
        </p:nvSpPr>
        <p:spPr>
          <a:xfrm>
            <a:off x="3076575" y="3279775"/>
            <a:ext cx="1131888" cy="1044575"/>
          </a:xfrm>
          <a:custGeom>
            <a:avLst/>
            <a:gdLst/>
            <a:ahLst/>
            <a:cxnLst/>
            <a:rect l="l" t="t" r="r" b="b"/>
            <a:pathLst>
              <a:path w="1871662" h="1727200">
                <a:moveTo>
                  <a:pt x="0" y="0"/>
                </a:moveTo>
                <a:lnTo>
                  <a:pt x="935831" y="458779"/>
                </a:lnTo>
                <a:lnTo>
                  <a:pt x="1871662" y="0"/>
                </a:lnTo>
                <a:lnTo>
                  <a:pt x="1871662" y="1268421"/>
                </a:lnTo>
                <a:lnTo>
                  <a:pt x="935831" y="1727200"/>
                </a:lnTo>
                <a:lnTo>
                  <a:pt x="0" y="1268421"/>
                </a:lnTo>
                <a:close/>
              </a:path>
            </a:pathLst>
          </a:custGeom>
          <a:solidFill>
            <a:srgbClr val="96D5F7"/>
          </a:solidFill>
          <a:ln w="25400" cap="flat" cmpd="sng" algn="ctr">
            <a:noFill/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anchor="ctr"/>
          <a:p>
            <a:pPr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81488" y="4173538"/>
            <a:ext cx="4570412" cy="777875"/>
          </a:xfrm>
          <a:prstGeom prst="rect">
            <a:avLst/>
          </a:prstGeom>
          <a:solidFill>
            <a:srgbClr val="01B1ED"/>
          </a:solidFill>
          <a:ln w="3175" cap="flat" cmpd="sng" algn="ctr">
            <a:solidFill>
              <a:srgbClr val="EAEAE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80000" anchor="ctr"/>
          <a:p>
            <a:pPr marL="171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zh-CN" sz="1000" kern="0" dirty="0">
              <a:solidFill>
                <a:srgbClr val="4D4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21"/>
          <p:cNvSpPr/>
          <p:nvPr/>
        </p:nvSpPr>
        <p:spPr>
          <a:xfrm>
            <a:off x="3076575" y="4183063"/>
            <a:ext cx="1131888" cy="1044575"/>
          </a:xfrm>
          <a:custGeom>
            <a:avLst/>
            <a:gdLst/>
            <a:ahLst/>
            <a:cxnLst/>
            <a:rect l="l" t="t" r="r" b="b"/>
            <a:pathLst>
              <a:path w="1871662" h="1727200">
                <a:moveTo>
                  <a:pt x="0" y="0"/>
                </a:moveTo>
                <a:lnTo>
                  <a:pt x="935831" y="458779"/>
                </a:lnTo>
                <a:lnTo>
                  <a:pt x="1871662" y="0"/>
                </a:lnTo>
                <a:lnTo>
                  <a:pt x="1871662" y="1268421"/>
                </a:lnTo>
                <a:lnTo>
                  <a:pt x="935831" y="1727200"/>
                </a:lnTo>
                <a:lnTo>
                  <a:pt x="0" y="1268421"/>
                </a:lnTo>
                <a:close/>
              </a:path>
            </a:pathLst>
          </a:custGeom>
          <a:solidFill>
            <a:srgbClr val="96D5F7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p>
            <a:pPr algn="ctr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zh-CN" altLang="en-US" b="1" kern="0" dirty="0">
              <a:solidFill>
                <a:srgbClr val="4D4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6" name="TextBox 12"/>
          <p:cNvSpPr txBox="1">
            <a:spLocks noChangeArrowheads="1"/>
          </p:cNvSpPr>
          <p:nvPr/>
        </p:nvSpPr>
        <p:spPr bwMode="auto">
          <a:xfrm>
            <a:off x="1719263" y="512763"/>
            <a:ext cx="2928937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p>
            <a:r>
              <a:rPr lang="zh-CN" altLang="en-US" sz="36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目 录</a:t>
            </a:r>
            <a:endParaRPr lang="zh-CN" altLang="en-US" sz="360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7" name="矩形 20"/>
          <p:cNvSpPr>
            <a:spLocks noChangeArrowheads="1"/>
          </p:cNvSpPr>
          <p:nvPr/>
        </p:nvSpPr>
        <p:spPr bwMode="auto">
          <a:xfrm>
            <a:off x="5232154" y="2500313"/>
            <a:ext cx="2957054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法制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规则设置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8" name="矩形 21"/>
          <p:cNvSpPr>
            <a:spLocks noChangeArrowheads="1"/>
          </p:cNvSpPr>
          <p:nvPr/>
        </p:nvSpPr>
        <p:spPr bwMode="auto">
          <a:xfrm>
            <a:off x="5232154" y="3441700"/>
            <a:ext cx="2957054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布局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先谋后动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9" name="矩形 22"/>
          <p:cNvSpPr>
            <a:spLocks noChangeArrowheads="1"/>
          </p:cNvSpPr>
          <p:nvPr/>
        </p:nvSpPr>
        <p:spPr bwMode="auto">
          <a:xfrm>
            <a:off x="4433878" y="1655763"/>
            <a:ext cx="4429156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从原理图到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PCB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最后的的完善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0" name="矩形 21"/>
          <p:cNvSpPr>
            <a:spLocks noChangeArrowheads="1"/>
          </p:cNvSpPr>
          <p:nvPr/>
        </p:nvSpPr>
        <p:spPr bwMode="auto">
          <a:xfrm>
            <a:off x="5230564" y="4370388"/>
            <a:ext cx="325079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布线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自动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&amp;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手动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281469" y="5084774"/>
            <a:ext cx="4570412" cy="777875"/>
          </a:xfrm>
          <a:prstGeom prst="rect">
            <a:avLst/>
          </a:prstGeom>
          <a:solidFill>
            <a:srgbClr val="01B1ED"/>
          </a:solidFill>
          <a:ln w="3175" cap="flat" cmpd="sng" algn="ctr">
            <a:solidFill>
              <a:srgbClr val="EAEAE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80000" anchor="ctr"/>
          <a:p>
            <a:pPr marL="171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zh-CN" sz="1000" kern="0" dirty="0">
              <a:solidFill>
                <a:srgbClr val="4D4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矩形 21"/>
          <p:cNvSpPr/>
          <p:nvPr/>
        </p:nvSpPr>
        <p:spPr>
          <a:xfrm>
            <a:off x="3076556" y="5094299"/>
            <a:ext cx="1131888" cy="1044575"/>
          </a:xfrm>
          <a:custGeom>
            <a:avLst/>
            <a:gdLst/>
            <a:ahLst/>
            <a:cxnLst/>
            <a:rect l="l" t="t" r="r" b="b"/>
            <a:pathLst>
              <a:path w="1871662" h="1727200">
                <a:moveTo>
                  <a:pt x="0" y="0"/>
                </a:moveTo>
                <a:lnTo>
                  <a:pt x="935831" y="458779"/>
                </a:lnTo>
                <a:lnTo>
                  <a:pt x="1871662" y="0"/>
                </a:lnTo>
                <a:lnTo>
                  <a:pt x="1871662" y="1268421"/>
                </a:lnTo>
                <a:lnTo>
                  <a:pt x="935831" y="1727200"/>
                </a:lnTo>
                <a:lnTo>
                  <a:pt x="0" y="1268421"/>
                </a:lnTo>
                <a:close/>
              </a:path>
            </a:pathLst>
          </a:custGeom>
          <a:solidFill>
            <a:srgbClr val="96D5F7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p>
            <a:pPr algn="ctr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zh-CN" altLang="en-US" b="1" kern="0" dirty="0">
              <a:solidFill>
                <a:srgbClr val="4D4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1"/>
          <p:cNvSpPr>
            <a:spLocks noChangeArrowheads="1"/>
          </p:cNvSpPr>
          <p:nvPr/>
        </p:nvSpPr>
        <p:spPr bwMode="auto">
          <a:xfrm>
            <a:off x="5230564" y="5299088"/>
            <a:ext cx="363247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输出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交付生产加工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0"/>
          <p:cNvSpPr>
            <a:spLocks noChangeArrowheads="1"/>
          </p:cNvSpPr>
          <p:nvPr/>
        </p:nvSpPr>
        <p:spPr bwMode="auto">
          <a:xfrm>
            <a:off x="4911084" y="788651"/>
            <a:ext cx="319318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p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 20"/>
          <p:cNvSpPr>
            <a:spLocks noChangeArrowheads="1"/>
          </p:cNvSpPr>
          <p:nvPr/>
        </p:nvSpPr>
        <p:spPr bwMode="auto">
          <a:xfrm>
            <a:off x="3462322" y="1655750"/>
            <a:ext cx="365806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p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0"/>
          <p:cNvSpPr>
            <a:spLocks noChangeArrowheads="1"/>
          </p:cNvSpPr>
          <p:nvPr/>
        </p:nvSpPr>
        <p:spPr bwMode="auto">
          <a:xfrm>
            <a:off x="3505184" y="2727320"/>
            <a:ext cx="365806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p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 20"/>
          <p:cNvSpPr>
            <a:spLocks noChangeArrowheads="1"/>
          </p:cNvSpPr>
          <p:nvPr/>
        </p:nvSpPr>
        <p:spPr bwMode="auto">
          <a:xfrm>
            <a:off x="3433746" y="3656014"/>
            <a:ext cx="365806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p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矩形 20"/>
          <p:cNvSpPr>
            <a:spLocks noChangeArrowheads="1"/>
          </p:cNvSpPr>
          <p:nvPr/>
        </p:nvSpPr>
        <p:spPr bwMode="auto">
          <a:xfrm>
            <a:off x="3505184" y="4584708"/>
            <a:ext cx="365806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p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20"/>
          <p:cNvSpPr>
            <a:spLocks noChangeArrowheads="1"/>
          </p:cNvSpPr>
          <p:nvPr/>
        </p:nvSpPr>
        <p:spPr bwMode="auto">
          <a:xfrm>
            <a:off x="3505184" y="5513402"/>
            <a:ext cx="365806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p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slide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-13335"/>
            <a:ext cx="12202160" cy="6866255"/>
          </a:xfrm>
          <a:prstGeom prst="rect">
            <a:avLst/>
          </a:prstGeom>
        </p:spPr>
      </p:pic>
      <p:sp>
        <p:nvSpPr>
          <p:cNvPr id="2" name="饼形 8"/>
          <p:cNvSpPr/>
          <p:nvPr/>
        </p:nvSpPr>
        <p:spPr bwMode="auto">
          <a:xfrm>
            <a:off x="5370513" y="3821113"/>
            <a:ext cx="2251075" cy="2251075"/>
          </a:xfrm>
          <a:prstGeom prst="pie">
            <a:avLst>
              <a:gd name="adj1" fmla="val 9125686"/>
              <a:gd name="adj2" fmla="val 1620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C000"/>
              </a:solidFill>
            </a:endParaRPr>
          </a:p>
        </p:txBody>
      </p:sp>
      <p:sp>
        <p:nvSpPr>
          <p:cNvPr id="39" name="饼形 15"/>
          <p:cNvSpPr/>
          <p:nvPr/>
        </p:nvSpPr>
        <p:spPr bwMode="auto">
          <a:xfrm rot="10834574">
            <a:off x="2147888" y="511175"/>
            <a:ext cx="2251075" cy="2251075"/>
          </a:xfrm>
          <a:prstGeom prst="pie">
            <a:avLst>
              <a:gd name="adj1" fmla="val 9125686"/>
              <a:gd name="adj2" fmla="val 1620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C000"/>
              </a:solidFill>
            </a:endParaRPr>
          </a:p>
        </p:txBody>
      </p:sp>
      <p:sp>
        <p:nvSpPr>
          <p:cNvPr id="9234" name="矩形 6"/>
          <p:cNvSpPr>
            <a:spLocks noChangeArrowheads="1"/>
          </p:cNvSpPr>
          <p:nvPr/>
        </p:nvSpPr>
        <p:spPr bwMode="auto">
          <a:xfrm>
            <a:off x="328295" y="59055"/>
            <a:ext cx="1077595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一、从原理图到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PCB</a:t>
            </a:r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最后的的完善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用设计流览器钮检查封装</a:t>
            </a:r>
            <a:endParaRPr lang="zh-CN" altLang="en-US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22950" y="3349625"/>
            <a:ext cx="6181090" cy="347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1130" y="821055"/>
            <a:ext cx="4491990" cy="382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1005840"/>
            <a:ext cx="1652905" cy="1688465"/>
          </a:xfrm>
          <a:prstGeom prst="rect">
            <a:avLst/>
          </a:prstGeom>
        </p:spPr>
      </p:pic>
      <p:sp>
        <p:nvSpPr>
          <p:cNvPr id="159" name=" 159"/>
          <p:cNvSpPr/>
          <p:nvPr/>
        </p:nvSpPr>
        <p:spPr>
          <a:xfrm>
            <a:off x="4999355" y="1633855"/>
            <a:ext cx="1433195" cy="432435"/>
          </a:xfrm>
          <a:custGeom>
            <a:avLst/>
            <a:gdLst>
              <a:gd name="connsiteX0" fmla="*/ 545178 w 812503"/>
              <a:gd name="connsiteY0" fmla="*/ 0 h 310097"/>
              <a:gd name="connsiteX1" fmla="*/ 812503 w 812503"/>
              <a:gd name="connsiteY1" fmla="*/ 155049 h 310097"/>
              <a:gd name="connsiteX2" fmla="*/ 545178 w 812503"/>
              <a:gd name="connsiteY2" fmla="*/ 310097 h 310097"/>
              <a:gd name="connsiteX3" fmla="*/ 545178 w 812503"/>
              <a:gd name="connsiteY3" fmla="*/ 212220 h 310097"/>
              <a:gd name="connsiteX4" fmla="*/ 0 w 812503"/>
              <a:gd name="connsiteY4" fmla="*/ 259590 h 310097"/>
              <a:gd name="connsiteX5" fmla="*/ 160832 w 812503"/>
              <a:gd name="connsiteY5" fmla="*/ 155049 h 310097"/>
              <a:gd name="connsiteX6" fmla="*/ 0 w 812503"/>
              <a:gd name="connsiteY6" fmla="*/ 50507 h 310097"/>
              <a:gd name="connsiteX7" fmla="*/ 545178 w 812503"/>
              <a:gd name="connsiteY7" fmla="*/ 97878 h 310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503" h="310097">
                <a:moveTo>
                  <a:pt x="545178" y="0"/>
                </a:moveTo>
                <a:lnTo>
                  <a:pt x="812503" y="155049"/>
                </a:lnTo>
                <a:lnTo>
                  <a:pt x="545178" y="310097"/>
                </a:lnTo>
                <a:lnTo>
                  <a:pt x="545178" y="212220"/>
                </a:lnTo>
                <a:lnTo>
                  <a:pt x="0" y="259590"/>
                </a:lnTo>
                <a:lnTo>
                  <a:pt x="160832" y="155049"/>
                </a:lnTo>
                <a:lnTo>
                  <a:pt x="0" y="50507"/>
                </a:lnTo>
                <a:lnTo>
                  <a:pt x="545178" y="97878"/>
                </a:lnTo>
                <a:close/>
              </a:path>
            </a:pathLst>
          </a:cu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" name="右弧形箭头 5"/>
          <p:cNvSpPr/>
          <p:nvPr/>
        </p:nvSpPr>
        <p:spPr>
          <a:xfrm>
            <a:off x="8428355" y="1885950"/>
            <a:ext cx="798195" cy="1318260"/>
          </a:xfrm>
          <a:prstGeom prst="curvedLeftArrow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2" name=" 272"/>
          <p:cNvSpPr/>
          <p:nvPr/>
        </p:nvSpPr>
        <p:spPr>
          <a:xfrm>
            <a:off x="5937885" y="4483100"/>
            <a:ext cx="1510665" cy="462280"/>
          </a:xfrm>
          <a:custGeom>
            <a:avLst/>
            <a:gdLst>
              <a:gd name="connsiteX0" fmla="*/ 1293718 w 2587436"/>
              <a:gd name="connsiteY0" fmla="*/ 105586 h 2587437"/>
              <a:gd name="connsiteX1" fmla="*/ 105586 w 2587436"/>
              <a:gd name="connsiteY1" fmla="*/ 1293718 h 2587437"/>
              <a:gd name="connsiteX2" fmla="*/ 1293718 w 2587436"/>
              <a:gd name="connsiteY2" fmla="*/ 2481850 h 2587437"/>
              <a:gd name="connsiteX3" fmla="*/ 2481850 w 2587436"/>
              <a:gd name="connsiteY3" fmla="*/ 1293718 h 2587437"/>
              <a:gd name="connsiteX4" fmla="*/ 1293718 w 2587436"/>
              <a:gd name="connsiteY4" fmla="*/ 105586 h 2587437"/>
              <a:gd name="connsiteX5" fmla="*/ 1178351 w 2587436"/>
              <a:gd name="connsiteY5" fmla="*/ 781 h 2587437"/>
              <a:gd name="connsiteX6" fmla="*/ 1293718 w 2587436"/>
              <a:gd name="connsiteY6" fmla="*/ 92011 h 2587437"/>
              <a:gd name="connsiteX7" fmla="*/ 1409085 w 2587436"/>
              <a:gd name="connsiteY7" fmla="*/ 781 h 2587437"/>
              <a:gd name="connsiteX8" fmla="*/ 1472207 w 2587436"/>
              <a:gd name="connsiteY8" fmla="*/ 43607 h 2587437"/>
              <a:gd name="connsiteX9" fmla="*/ 1484604 w 2587436"/>
              <a:gd name="connsiteY9" fmla="*/ 88506 h 2587437"/>
              <a:gd name="connsiteX10" fmla="*/ 1510269 w 2587436"/>
              <a:gd name="connsiteY10" fmla="*/ 49635 h 2587437"/>
              <a:gd name="connsiteX11" fmla="*/ 1665065 w 2587436"/>
              <a:gd name="connsiteY11" fmla="*/ 150827 h 2587437"/>
              <a:gd name="connsiteX12" fmla="*/ 1849776 w 2587436"/>
              <a:gd name="connsiteY12" fmla="*/ 159948 h 2587437"/>
              <a:gd name="connsiteX13" fmla="*/ 1847820 w 2587436"/>
              <a:gd name="connsiteY13" fmla="*/ 203618 h 2587437"/>
              <a:gd name="connsiteX14" fmla="*/ 1858676 w 2587436"/>
              <a:gd name="connsiteY14" fmla="*/ 192501 h 2587437"/>
              <a:gd name="connsiteX15" fmla="*/ 2000063 w 2587436"/>
              <a:gd name="connsiteY15" fmla="*/ 321517 h 2587437"/>
              <a:gd name="connsiteX16" fmla="*/ 2172915 w 2587436"/>
              <a:gd name="connsiteY16" fmla="*/ 387271 h 2587437"/>
              <a:gd name="connsiteX17" fmla="*/ 2157560 w 2587436"/>
              <a:gd name="connsiteY17" fmla="*/ 428199 h 2587437"/>
              <a:gd name="connsiteX18" fmla="*/ 2171320 w 2587436"/>
              <a:gd name="connsiteY18" fmla="*/ 420980 h 2587437"/>
              <a:gd name="connsiteX19" fmla="*/ 2265919 w 2587436"/>
              <a:gd name="connsiteY19" fmla="*/ 587373 h 2587437"/>
              <a:gd name="connsiteX20" fmla="*/ 2409992 w 2587436"/>
              <a:gd name="connsiteY20" fmla="*/ 703323 h 2587437"/>
              <a:gd name="connsiteX21" fmla="*/ 2382741 w 2587436"/>
              <a:gd name="connsiteY21" fmla="*/ 737503 h 2587437"/>
              <a:gd name="connsiteX22" fmla="*/ 2398059 w 2587436"/>
              <a:gd name="connsiteY22" fmla="*/ 734889 h 2587437"/>
              <a:gd name="connsiteX23" fmla="*/ 2436609 w 2587436"/>
              <a:gd name="connsiteY23" fmla="*/ 922371 h 2587437"/>
              <a:gd name="connsiteX24" fmla="*/ 2537801 w 2587436"/>
              <a:gd name="connsiteY24" fmla="*/ 1077167 h 2587437"/>
              <a:gd name="connsiteX25" fmla="*/ 2501321 w 2587436"/>
              <a:gd name="connsiteY25" fmla="*/ 1101253 h 2587437"/>
              <a:gd name="connsiteX26" fmla="*/ 2516697 w 2587436"/>
              <a:gd name="connsiteY26" fmla="*/ 1103501 h 2587437"/>
              <a:gd name="connsiteX27" fmla="*/ 2495425 w 2587436"/>
              <a:gd name="connsiteY27" fmla="*/ 1293719 h 2587437"/>
              <a:gd name="connsiteX28" fmla="*/ 2543829 w 2587436"/>
              <a:gd name="connsiteY28" fmla="*/ 1472208 h 2587437"/>
              <a:gd name="connsiteX29" fmla="*/ 2498930 w 2587436"/>
              <a:gd name="connsiteY29" fmla="*/ 1484605 h 2587437"/>
              <a:gd name="connsiteX30" fmla="*/ 2537800 w 2587436"/>
              <a:gd name="connsiteY30" fmla="*/ 1510270 h 2587437"/>
              <a:gd name="connsiteX31" fmla="*/ 2436609 w 2587436"/>
              <a:gd name="connsiteY31" fmla="*/ 1665066 h 2587437"/>
              <a:gd name="connsiteX32" fmla="*/ 2427488 w 2587436"/>
              <a:gd name="connsiteY32" fmla="*/ 1849777 h 2587437"/>
              <a:gd name="connsiteX33" fmla="*/ 2383816 w 2587436"/>
              <a:gd name="connsiteY33" fmla="*/ 1847821 h 2587437"/>
              <a:gd name="connsiteX34" fmla="*/ 2394935 w 2587436"/>
              <a:gd name="connsiteY34" fmla="*/ 1858678 h 2587437"/>
              <a:gd name="connsiteX35" fmla="*/ 2265918 w 2587436"/>
              <a:gd name="connsiteY35" fmla="*/ 2000065 h 2587437"/>
              <a:gd name="connsiteX36" fmla="*/ 2200165 w 2587436"/>
              <a:gd name="connsiteY36" fmla="*/ 2172917 h 2587437"/>
              <a:gd name="connsiteX37" fmla="*/ 2159237 w 2587436"/>
              <a:gd name="connsiteY37" fmla="*/ 2157562 h 2587437"/>
              <a:gd name="connsiteX38" fmla="*/ 2166455 w 2587436"/>
              <a:gd name="connsiteY38" fmla="*/ 2171321 h 2587437"/>
              <a:gd name="connsiteX39" fmla="*/ 2000062 w 2587436"/>
              <a:gd name="connsiteY39" fmla="*/ 2265920 h 2587437"/>
              <a:gd name="connsiteX40" fmla="*/ 1884113 w 2587436"/>
              <a:gd name="connsiteY40" fmla="*/ 2409993 h 2587437"/>
              <a:gd name="connsiteX41" fmla="*/ 1849933 w 2587436"/>
              <a:gd name="connsiteY41" fmla="*/ 2382742 h 2587437"/>
              <a:gd name="connsiteX42" fmla="*/ 1852546 w 2587436"/>
              <a:gd name="connsiteY42" fmla="*/ 2398060 h 2587437"/>
              <a:gd name="connsiteX43" fmla="*/ 1665064 w 2587436"/>
              <a:gd name="connsiteY43" fmla="*/ 2436610 h 2587437"/>
              <a:gd name="connsiteX44" fmla="*/ 1510269 w 2587436"/>
              <a:gd name="connsiteY44" fmla="*/ 2537802 h 2587437"/>
              <a:gd name="connsiteX45" fmla="*/ 1486184 w 2587436"/>
              <a:gd name="connsiteY45" fmla="*/ 2501323 h 2587437"/>
              <a:gd name="connsiteX46" fmla="*/ 1483936 w 2587436"/>
              <a:gd name="connsiteY46" fmla="*/ 2516698 h 2587437"/>
              <a:gd name="connsiteX47" fmla="*/ 1293717 w 2587436"/>
              <a:gd name="connsiteY47" fmla="*/ 2495426 h 2587437"/>
              <a:gd name="connsiteX48" fmla="*/ 1103499 w 2587436"/>
              <a:gd name="connsiteY48" fmla="*/ 2516698 h 2587437"/>
              <a:gd name="connsiteX49" fmla="*/ 1101252 w 2587436"/>
              <a:gd name="connsiteY49" fmla="*/ 2501322 h 2587437"/>
              <a:gd name="connsiteX50" fmla="*/ 1077165 w 2587436"/>
              <a:gd name="connsiteY50" fmla="*/ 2537801 h 2587437"/>
              <a:gd name="connsiteX51" fmla="*/ 922369 w 2587436"/>
              <a:gd name="connsiteY51" fmla="*/ 2436610 h 2587437"/>
              <a:gd name="connsiteX52" fmla="*/ 734888 w 2587436"/>
              <a:gd name="connsiteY52" fmla="*/ 2398060 h 2587437"/>
              <a:gd name="connsiteX53" fmla="*/ 737501 w 2587436"/>
              <a:gd name="connsiteY53" fmla="*/ 2382741 h 2587437"/>
              <a:gd name="connsiteX54" fmla="*/ 703321 w 2587436"/>
              <a:gd name="connsiteY54" fmla="*/ 2409993 h 2587437"/>
              <a:gd name="connsiteX55" fmla="*/ 587371 w 2587436"/>
              <a:gd name="connsiteY55" fmla="*/ 2265919 h 2587437"/>
              <a:gd name="connsiteX56" fmla="*/ 420978 w 2587436"/>
              <a:gd name="connsiteY56" fmla="*/ 2171321 h 2587437"/>
              <a:gd name="connsiteX57" fmla="*/ 426346 w 2587436"/>
              <a:gd name="connsiteY57" fmla="*/ 2161089 h 2587437"/>
              <a:gd name="connsiteX58" fmla="*/ 416114 w 2587436"/>
              <a:gd name="connsiteY58" fmla="*/ 2166457 h 2587437"/>
              <a:gd name="connsiteX59" fmla="*/ 321515 w 2587436"/>
              <a:gd name="connsiteY59" fmla="*/ 2000064 h 2587437"/>
              <a:gd name="connsiteX60" fmla="*/ 192499 w 2587436"/>
              <a:gd name="connsiteY60" fmla="*/ 1858678 h 2587437"/>
              <a:gd name="connsiteX61" fmla="*/ 200768 w 2587436"/>
              <a:gd name="connsiteY61" fmla="*/ 1850603 h 2587437"/>
              <a:gd name="connsiteX62" fmla="*/ 189375 w 2587436"/>
              <a:gd name="connsiteY62" fmla="*/ 1852547 h 2587437"/>
              <a:gd name="connsiteX63" fmla="*/ 150825 w 2587436"/>
              <a:gd name="connsiteY63" fmla="*/ 1665065 h 2587437"/>
              <a:gd name="connsiteX64" fmla="*/ 49634 w 2587436"/>
              <a:gd name="connsiteY64" fmla="*/ 1510270 h 2587437"/>
              <a:gd name="connsiteX65" fmla="*/ 86113 w 2587436"/>
              <a:gd name="connsiteY65" fmla="*/ 1486184 h 2587437"/>
              <a:gd name="connsiteX66" fmla="*/ 70739 w 2587436"/>
              <a:gd name="connsiteY66" fmla="*/ 1483937 h 2587437"/>
              <a:gd name="connsiteX67" fmla="*/ 92010 w 2587436"/>
              <a:gd name="connsiteY67" fmla="*/ 1293718 h 2587437"/>
              <a:gd name="connsiteX68" fmla="*/ 70739 w 2587436"/>
              <a:gd name="connsiteY68" fmla="*/ 1103500 h 2587437"/>
              <a:gd name="connsiteX69" fmla="*/ 86114 w 2587436"/>
              <a:gd name="connsiteY69" fmla="*/ 1101253 h 2587437"/>
              <a:gd name="connsiteX70" fmla="*/ 49634 w 2587436"/>
              <a:gd name="connsiteY70" fmla="*/ 1077166 h 2587437"/>
              <a:gd name="connsiteX71" fmla="*/ 150825 w 2587436"/>
              <a:gd name="connsiteY71" fmla="*/ 922370 h 2587437"/>
              <a:gd name="connsiteX72" fmla="*/ 189375 w 2587436"/>
              <a:gd name="connsiteY72" fmla="*/ 734889 h 2587437"/>
              <a:gd name="connsiteX73" fmla="*/ 200767 w 2587436"/>
              <a:gd name="connsiteY73" fmla="*/ 736833 h 2587437"/>
              <a:gd name="connsiteX74" fmla="*/ 192499 w 2587436"/>
              <a:gd name="connsiteY74" fmla="*/ 728759 h 2587437"/>
              <a:gd name="connsiteX75" fmla="*/ 321516 w 2587436"/>
              <a:gd name="connsiteY75" fmla="*/ 587372 h 2587437"/>
              <a:gd name="connsiteX76" fmla="*/ 416114 w 2587436"/>
              <a:gd name="connsiteY76" fmla="*/ 420980 h 2587437"/>
              <a:gd name="connsiteX77" fmla="*/ 426347 w 2587436"/>
              <a:gd name="connsiteY77" fmla="*/ 426349 h 2587437"/>
              <a:gd name="connsiteX78" fmla="*/ 420979 w 2587436"/>
              <a:gd name="connsiteY78" fmla="*/ 416115 h 2587437"/>
              <a:gd name="connsiteX79" fmla="*/ 587372 w 2587436"/>
              <a:gd name="connsiteY79" fmla="*/ 321517 h 2587437"/>
              <a:gd name="connsiteX80" fmla="*/ 728758 w 2587436"/>
              <a:gd name="connsiteY80" fmla="*/ 192500 h 2587437"/>
              <a:gd name="connsiteX81" fmla="*/ 736832 w 2587436"/>
              <a:gd name="connsiteY81" fmla="*/ 200768 h 2587437"/>
              <a:gd name="connsiteX82" fmla="*/ 734888 w 2587436"/>
              <a:gd name="connsiteY82" fmla="*/ 189377 h 2587437"/>
              <a:gd name="connsiteX83" fmla="*/ 922370 w 2587436"/>
              <a:gd name="connsiteY83" fmla="*/ 150826 h 2587437"/>
              <a:gd name="connsiteX84" fmla="*/ 1077165 w 2587436"/>
              <a:gd name="connsiteY84" fmla="*/ 49635 h 2587437"/>
              <a:gd name="connsiteX85" fmla="*/ 1101686 w 2587436"/>
              <a:gd name="connsiteY85" fmla="*/ 86772 h 2587437"/>
              <a:gd name="connsiteX86" fmla="*/ 1102495 w 2587436"/>
              <a:gd name="connsiteY86" fmla="*/ 74529 h 2587437"/>
              <a:gd name="connsiteX87" fmla="*/ 1178351 w 2587436"/>
              <a:gd name="connsiteY87" fmla="*/ 781 h 2587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2587436" h="2587437">
                <a:moveTo>
                  <a:pt x="1293718" y="105586"/>
                </a:moveTo>
                <a:cubicBezTo>
                  <a:pt x="637531" y="105586"/>
                  <a:pt x="105586" y="637531"/>
                  <a:pt x="105586" y="1293718"/>
                </a:cubicBezTo>
                <a:cubicBezTo>
                  <a:pt x="105586" y="1949905"/>
                  <a:pt x="637531" y="2481850"/>
                  <a:pt x="1293718" y="2481850"/>
                </a:cubicBezTo>
                <a:cubicBezTo>
                  <a:pt x="1949905" y="2481850"/>
                  <a:pt x="2481850" y="1949905"/>
                  <a:pt x="2481850" y="1293718"/>
                </a:cubicBezTo>
                <a:cubicBezTo>
                  <a:pt x="2481850" y="637531"/>
                  <a:pt x="1949905" y="105586"/>
                  <a:pt x="1293718" y="105586"/>
                </a:cubicBezTo>
                <a:close/>
                <a:moveTo>
                  <a:pt x="1178351" y="781"/>
                </a:moveTo>
                <a:cubicBezTo>
                  <a:pt x="1220450" y="-5049"/>
                  <a:pt x="1268508" y="21422"/>
                  <a:pt x="1293718" y="92011"/>
                </a:cubicBezTo>
                <a:cubicBezTo>
                  <a:pt x="1318929" y="21422"/>
                  <a:pt x="1366986" y="-5049"/>
                  <a:pt x="1409085" y="781"/>
                </a:cubicBezTo>
                <a:cubicBezTo>
                  <a:pt x="1434345" y="4279"/>
                  <a:pt x="1457459" y="19405"/>
                  <a:pt x="1472207" y="43607"/>
                </a:cubicBezTo>
                <a:lnTo>
                  <a:pt x="1484604" y="88506"/>
                </a:lnTo>
                <a:lnTo>
                  <a:pt x="1510269" y="49635"/>
                </a:lnTo>
                <a:cubicBezTo>
                  <a:pt x="1567616" y="408"/>
                  <a:pt x="1661604" y="30947"/>
                  <a:pt x="1665065" y="150827"/>
                </a:cubicBezTo>
                <a:cubicBezTo>
                  <a:pt x="1738329" y="55877"/>
                  <a:pt x="1832316" y="86415"/>
                  <a:pt x="1849776" y="159948"/>
                </a:cubicBezTo>
                <a:lnTo>
                  <a:pt x="1847820" y="203618"/>
                </a:lnTo>
                <a:lnTo>
                  <a:pt x="1858676" y="192501"/>
                </a:lnTo>
                <a:cubicBezTo>
                  <a:pt x="1932101" y="134716"/>
                  <a:pt x="2038035" y="192050"/>
                  <a:pt x="2000063" y="321517"/>
                </a:cubicBezTo>
                <a:cubicBezTo>
                  <a:pt x="2099082" y="253854"/>
                  <a:pt x="2179033" y="311942"/>
                  <a:pt x="2172915" y="387271"/>
                </a:cubicBezTo>
                <a:lnTo>
                  <a:pt x="2157560" y="428199"/>
                </a:lnTo>
                <a:lnTo>
                  <a:pt x="2171320" y="420980"/>
                </a:lnTo>
                <a:cubicBezTo>
                  <a:pt x="2259007" y="388713"/>
                  <a:pt x="2342040" y="475977"/>
                  <a:pt x="2265919" y="587373"/>
                </a:cubicBezTo>
                <a:cubicBezTo>
                  <a:pt x="2381000" y="553620"/>
                  <a:pt x="2439088" y="633571"/>
                  <a:pt x="2409992" y="703323"/>
                </a:cubicBezTo>
                <a:lnTo>
                  <a:pt x="2382741" y="737503"/>
                </a:lnTo>
                <a:lnTo>
                  <a:pt x="2398059" y="734889"/>
                </a:lnTo>
                <a:cubicBezTo>
                  <a:pt x="2491425" y="731298"/>
                  <a:pt x="2543428" y="839949"/>
                  <a:pt x="2436609" y="922371"/>
                </a:cubicBezTo>
                <a:cubicBezTo>
                  <a:pt x="2556489" y="925832"/>
                  <a:pt x="2587027" y="1019820"/>
                  <a:pt x="2537801" y="1077167"/>
                </a:cubicBezTo>
                <a:lnTo>
                  <a:pt x="2501321" y="1101253"/>
                </a:lnTo>
                <a:lnTo>
                  <a:pt x="2516697" y="1103501"/>
                </a:lnTo>
                <a:cubicBezTo>
                  <a:pt x="2606603" y="1128937"/>
                  <a:pt x="2622486" y="1248340"/>
                  <a:pt x="2495425" y="1293719"/>
                </a:cubicBezTo>
                <a:cubicBezTo>
                  <a:pt x="2608368" y="1334056"/>
                  <a:pt x="2608368" y="1432880"/>
                  <a:pt x="2543829" y="1472208"/>
                </a:cubicBezTo>
                <a:lnTo>
                  <a:pt x="2498930" y="1484605"/>
                </a:lnTo>
                <a:lnTo>
                  <a:pt x="2537800" y="1510270"/>
                </a:lnTo>
                <a:cubicBezTo>
                  <a:pt x="2587027" y="1567617"/>
                  <a:pt x="2556488" y="1661605"/>
                  <a:pt x="2436609" y="1665066"/>
                </a:cubicBezTo>
                <a:cubicBezTo>
                  <a:pt x="2531559" y="1738330"/>
                  <a:pt x="2501021" y="1832318"/>
                  <a:pt x="2427488" y="1849777"/>
                </a:cubicBezTo>
                <a:lnTo>
                  <a:pt x="2383816" y="1847821"/>
                </a:lnTo>
                <a:lnTo>
                  <a:pt x="2394935" y="1858678"/>
                </a:lnTo>
                <a:cubicBezTo>
                  <a:pt x="2452719" y="1932103"/>
                  <a:pt x="2395386" y="2038037"/>
                  <a:pt x="2265918" y="2000065"/>
                </a:cubicBezTo>
                <a:cubicBezTo>
                  <a:pt x="2333581" y="2099084"/>
                  <a:pt x="2275494" y="2179035"/>
                  <a:pt x="2200165" y="2172917"/>
                </a:cubicBezTo>
                <a:lnTo>
                  <a:pt x="2159237" y="2157562"/>
                </a:lnTo>
                <a:lnTo>
                  <a:pt x="2166455" y="2171321"/>
                </a:lnTo>
                <a:cubicBezTo>
                  <a:pt x="2198722" y="2259008"/>
                  <a:pt x="2111459" y="2342041"/>
                  <a:pt x="2000062" y="2265920"/>
                </a:cubicBezTo>
                <a:cubicBezTo>
                  <a:pt x="2033815" y="2381001"/>
                  <a:pt x="1953865" y="2439089"/>
                  <a:pt x="1884113" y="2409993"/>
                </a:cubicBezTo>
                <a:lnTo>
                  <a:pt x="1849933" y="2382742"/>
                </a:lnTo>
                <a:lnTo>
                  <a:pt x="1852546" y="2398060"/>
                </a:lnTo>
                <a:cubicBezTo>
                  <a:pt x="1856137" y="2491426"/>
                  <a:pt x="1747486" y="2543429"/>
                  <a:pt x="1665064" y="2436610"/>
                </a:cubicBezTo>
                <a:cubicBezTo>
                  <a:pt x="1661603" y="2556490"/>
                  <a:pt x="1567616" y="2587028"/>
                  <a:pt x="1510269" y="2537802"/>
                </a:cubicBezTo>
                <a:lnTo>
                  <a:pt x="1486184" y="2501323"/>
                </a:lnTo>
                <a:lnTo>
                  <a:pt x="1483936" y="2516698"/>
                </a:lnTo>
                <a:cubicBezTo>
                  <a:pt x="1458499" y="2606604"/>
                  <a:pt x="1339096" y="2622487"/>
                  <a:pt x="1293717" y="2495426"/>
                </a:cubicBezTo>
                <a:cubicBezTo>
                  <a:pt x="1248339" y="2622487"/>
                  <a:pt x="1128936" y="2606604"/>
                  <a:pt x="1103499" y="2516698"/>
                </a:cubicBezTo>
                <a:lnTo>
                  <a:pt x="1101252" y="2501322"/>
                </a:lnTo>
                <a:lnTo>
                  <a:pt x="1077165" y="2537801"/>
                </a:lnTo>
                <a:cubicBezTo>
                  <a:pt x="1019818" y="2587028"/>
                  <a:pt x="925830" y="2556489"/>
                  <a:pt x="922369" y="2436610"/>
                </a:cubicBezTo>
                <a:cubicBezTo>
                  <a:pt x="839947" y="2543429"/>
                  <a:pt x="731297" y="2491426"/>
                  <a:pt x="734888" y="2398060"/>
                </a:cubicBezTo>
                <a:lnTo>
                  <a:pt x="737501" y="2382741"/>
                </a:lnTo>
                <a:lnTo>
                  <a:pt x="703321" y="2409993"/>
                </a:lnTo>
                <a:cubicBezTo>
                  <a:pt x="633569" y="2439089"/>
                  <a:pt x="553618" y="2381001"/>
                  <a:pt x="587371" y="2265919"/>
                </a:cubicBezTo>
                <a:cubicBezTo>
                  <a:pt x="475975" y="2342040"/>
                  <a:pt x="388712" y="2259008"/>
                  <a:pt x="420978" y="2171321"/>
                </a:cubicBezTo>
                <a:lnTo>
                  <a:pt x="426346" y="2161089"/>
                </a:lnTo>
                <a:lnTo>
                  <a:pt x="416114" y="2166457"/>
                </a:lnTo>
                <a:cubicBezTo>
                  <a:pt x="328427" y="2198724"/>
                  <a:pt x="245394" y="2111461"/>
                  <a:pt x="321515" y="2000064"/>
                </a:cubicBezTo>
                <a:cubicBezTo>
                  <a:pt x="192048" y="2038036"/>
                  <a:pt x="134715" y="1932102"/>
                  <a:pt x="192499" y="1858678"/>
                </a:cubicBezTo>
                <a:lnTo>
                  <a:pt x="200768" y="1850603"/>
                </a:lnTo>
                <a:lnTo>
                  <a:pt x="189375" y="1852547"/>
                </a:lnTo>
                <a:cubicBezTo>
                  <a:pt x="96009" y="1856138"/>
                  <a:pt x="44006" y="1747487"/>
                  <a:pt x="150825" y="1665065"/>
                </a:cubicBezTo>
                <a:cubicBezTo>
                  <a:pt x="30946" y="1661604"/>
                  <a:pt x="407" y="1567617"/>
                  <a:pt x="49634" y="1510270"/>
                </a:cubicBezTo>
                <a:lnTo>
                  <a:pt x="86113" y="1486184"/>
                </a:lnTo>
                <a:lnTo>
                  <a:pt x="70739" y="1483937"/>
                </a:lnTo>
                <a:cubicBezTo>
                  <a:pt x="-19168" y="1458500"/>
                  <a:pt x="-35050" y="1339097"/>
                  <a:pt x="92010" y="1293718"/>
                </a:cubicBezTo>
                <a:cubicBezTo>
                  <a:pt x="-35050" y="1248340"/>
                  <a:pt x="-19168" y="1128937"/>
                  <a:pt x="70739" y="1103500"/>
                </a:cubicBezTo>
                <a:lnTo>
                  <a:pt x="86114" y="1101253"/>
                </a:lnTo>
                <a:lnTo>
                  <a:pt x="49634" y="1077166"/>
                </a:lnTo>
                <a:cubicBezTo>
                  <a:pt x="407" y="1019820"/>
                  <a:pt x="30946" y="925832"/>
                  <a:pt x="150825" y="922370"/>
                </a:cubicBezTo>
                <a:cubicBezTo>
                  <a:pt x="44006" y="839949"/>
                  <a:pt x="96009" y="731298"/>
                  <a:pt x="189375" y="734889"/>
                </a:cubicBezTo>
                <a:lnTo>
                  <a:pt x="200767" y="736833"/>
                </a:lnTo>
                <a:lnTo>
                  <a:pt x="192499" y="728759"/>
                </a:lnTo>
                <a:cubicBezTo>
                  <a:pt x="134715" y="655335"/>
                  <a:pt x="192049" y="549401"/>
                  <a:pt x="321516" y="587372"/>
                </a:cubicBezTo>
                <a:cubicBezTo>
                  <a:pt x="245395" y="475976"/>
                  <a:pt x="328427" y="388713"/>
                  <a:pt x="416114" y="420980"/>
                </a:cubicBezTo>
                <a:lnTo>
                  <a:pt x="426347" y="426349"/>
                </a:lnTo>
                <a:lnTo>
                  <a:pt x="420979" y="416115"/>
                </a:lnTo>
                <a:cubicBezTo>
                  <a:pt x="388712" y="328428"/>
                  <a:pt x="475975" y="245396"/>
                  <a:pt x="587372" y="321517"/>
                </a:cubicBezTo>
                <a:cubicBezTo>
                  <a:pt x="549400" y="192050"/>
                  <a:pt x="655334" y="134716"/>
                  <a:pt x="728758" y="192500"/>
                </a:cubicBezTo>
                <a:lnTo>
                  <a:pt x="736832" y="200768"/>
                </a:lnTo>
                <a:lnTo>
                  <a:pt x="734888" y="189377"/>
                </a:lnTo>
                <a:cubicBezTo>
                  <a:pt x="731297" y="96010"/>
                  <a:pt x="839948" y="44008"/>
                  <a:pt x="922370" y="150826"/>
                </a:cubicBezTo>
                <a:cubicBezTo>
                  <a:pt x="925831" y="30947"/>
                  <a:pt x="1019818" y="408"/>
                  <a:pt x="1077165" y="49635"/>
                </a:cubicBezTo>
                <a:lnTo>
                  <a:pt x="1101686" y="86772"/>
                </a:lnTo>
                <a:lnTo>
                  <a:pt x="1102495" y="74529"/>
                </a:lnTo>
                <a:cubicBezTo>
                  <a:pt x="1112942" y="32385"/>
                  <a:pt x="1143619" y="5591"/>
                  <a:pt x="1178351" y="781"/>
                </a:cubicBezTo>
                <a:close/>
              </a:path>
            </a:pathLst>
          </a:custGeom>
          <a:solidFill>
            <a:schemeClr val="accent1"/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 272"/>
          <p:cNvSpPr/>
          <p:nvPr/>
        </p:nvSpPr>
        <p:spPr>
          <a:xfrm>
            <a:off x="10586720" y="4273550"/>
            <a:ext cx="1510665" cy="462280"/>
          </a:xfrm>
          <a:custGeom>
            <a:avLst/>
            <a:gdLst>
              <a:gd name="connsiteX0" fmla="*/ 1293718 w 2587436"/>
              <a:gd name="connsiteY0" fmla="*/ 105586 h 2587437"/>
              <a:gd name="connsiteX1" fmla="*/ 105586 w 2587436"/>
              <a:gd name="connsiteY1" fmla="*/ 1293718 h 2587437"/>
              <a:gd name="connsiteX2" fmla="*/ 1293718 w 2587436"/>
              <a:gd name="connsiteY2" fmla="*/ 2481850 h 2587437"/>
              <a:gd name="connsiteX3" fmla="*/ 2481850 w 2587436"/>
              <a:gd name="connsiteY3" fmla="*/ 1293718 h 2587437"/>
              <a:gd name="connsiteX4" fmla="*/ 1293718 w 2587436"/>
              <a:gd name="connsiteY4" fmla="*/ 105586 h 2587437"/>
              <a:gd name="connsiteX5" fmla="*/ 1178351 w 2587436"/>
              <a:gd name="connsiteY5" fmla="*/ 781 h 2587437"/>
              <a:gd name="connsiteX6" fmla="*/ 1293718 w 2587436"/>
              <a:gd name="connsiteY6" fmla="*/ 92011 h 2587437"/>
              <a:gd name="connsiteX7" fmla="*/ 1409085 w 2587436"/>
              <a:gd name="connsiteY7" fmla="*/ 781 h 2587437"/>
              <a:gd name="connsiteX8" fmla="*/ 1472207 w 2587436"/>
              <a:gd name="connsiteY8" fmla="*/ 43607 h 2587437"/>
              <a:gd name="connsiteX9" fmla="*/ 1484604 w 2587436"/>
              <a:gd name="connsiteY9" fmla="*/ 88506 h 2587437"/>
              <a:gd name="connsiteX10" fmla="*/ 1510269 w 2587436"/>
              <a:gd name="connsiteY10" fmla="*/ 49635 h 2587437"/>
              <a:gd name="connsiteX11" fmla="*/ 1665065 w 2587436"/>
              <a:gd name="connsiteY11" fmla="*/ 150827 h 2587437"/>
              <a:gd name="connsiteX12" fmla="*/ 1849776 w 2587436"/>
              <a:gd name="connsiteY12" fmla="*/ 159948 h 2587437"/>
              <a:gd name="connsiteX13" fmla="*/ 1847820 w 2587436"/>
              <a:gd name="connsiteY13" fmla="*/ 203618 h 2587437"/>
              <a:gd name="connsiteX14" fmla="*/ 1858676 w 2587436"/>
              <a:gd name="connsiteY14" fmla="*/ 192501 h 2587437"/>
              <a:gd name="connsiteX15" fmla="*/ 2000063 w 2587436"/>
              <a:gd name="connsiteY15" fmla="*/ 321517 h 2587437"/>
              <a:gd name="connsiteX16" fmla="*/ 2172915 w 2587436"/>
              <a:gd name="connsiteY16" fmla="*/ 387271 h 2587437"/>
              <a:gd name="connsiteX17" fmla="*/ 2157560 w 2587436"/>
              <a:gd name="connsiteY17" fmla="*/ 428199 h 2587437"/>
              <a:gd name="connsiteX18" fmla="*/ 2171320 w 2587436"/>
              <a:gd name="connsiteY18" fmla="*/ 420980 h 2587437"/>
              <a:gd name="connsiteX19" fmla="*/ 2265919 w 2587436"/>
              <a:gd name="connsiteY19" fmla="*/ 587373 h 2587437"/>
              <a:gd name="connsiteX20" fmla="*/ 2409992 w 2587436"/>
              <a:gd name="connsiteY20" fmla="*/ 703323 h 2587437"/>
              <a:gd name="connsiteX21" fmla="*/ 2382741 w 2587436"/>
              <a:gd name="connsiteY21" fmla="*/ 737503 h 2587437"/>
              <a:gd name="connsiteX22" fmla="*/ 2398059 w 2587436"/>
              <a:gd name="connsiteY22" fmla="*/ 734889 h 2587437"/>
              <a:gd name="connsiteX23" fmla="*/ 2436609 w 2587436"/>
              <a:gd name="connsiteY23" fmla="*/ 922371 h 2587437"/>
              <a:gd name="connsiteX24" fmla="*/ 2537801 w 2587436"/>
              <a:gd name="connsiteY24" fmla="*/ 1077167 h 2587437"/>
              <a:gd name="connsiteX25" fmla="*/ 2501321 w 2587436"/>
              <a:gd name="connsiteY25" fmla="*/ 1101253 h 2587437"/>
              <a:gd name="connsiteX26" fmla="*/ 2516697 w 2587436"/>
              <a:gd name="connsiteY26" fmla="*/ 1103501 h 2587437"/>
              <a:gd name="connsiteX27" fmla="*/ 2495425 w 2587436"/>
              <a:gd name="connsiteY27" fmla="*/ 1293719 h 2587437"/>
              <a:gd name="connsiteX28" fmla="*/ 2543829 w 2587436"/>
              <a:gd name="connsiteY28" fmla="*/ 1472208 h 2587437"/>
              <a:gd name="connsiteX29" fmla="*/ 2498930 w 2587436"/>
              <a:gd name="connsiteY29" fmla="*/ 1484605 h 2587437"/>
              <a:gd name="connsiteX30" fmla="*/ 2537800 w 2587436"/>
              <a:gd name="connsiteY30" fmla="*/ 1510270 h 2587437"/>
              <a:gd name="connsiteX31" fmla="*/ 2436609 w 2587436"/>
              <a:gd name="connsiteY31" fmla="*/ 1665066 h 2587437"/>
              <a:gd name="connsiteX32" fmla="*/ 2427488 w 2587436"/>
              <a:gd name="connsiteY32" fmla="*/ 1849777 h 2587437"/>
              <a:gd name="connsiteX33" fmla="*/ 2383816 w 2587436"/>
              <a:gd name="connsiteY33" fmla="*/ 1847821 h 2587437"/>
              <a:gd name="connsiteX34" fmla="*/ 2394935 w 2587436"/>
              <a:gd name="connsiteY34" fmla="*/ 1858678 h 2587437"/>
              <a:gd name="connsiteX35" fmla="*/ 2265918 w 2587436"/>
              <a:gd name="connsiteY35" fmla="*/ 2000065 h 2587437"/>
              <a:gd name="connsiteX36" fmla="*/ 2200165 w 2587436"/>
              <a:gd name="connsiteY36" fmla="*/ 2172917 h 2587437"/>
              <a:gd name="connsiteX37" fmla="*/ 2159237 w 2587436"/>
              <a:gd name="connsiteY37" fmla="*/ 2157562 h 2587437"/>
              <a:gd name="connsiteX38" fmla="*/ 2166455 w 2587436"/>
              <a:gd name="connsiteY38" fmla="*/ 2171321 h 2587437"/>
              <a:gd name="connsiteX39" fmla="*/ 2000062 w 2587436"/>
              <a:gd name="connsiteY39" fmla="*/ 2265920 h 2587437"/>
              <a:gd name="connsiteX40" fmla="*/ 1884113 w 2587436"/>
              <a:gd name="connsiteY40" fmla="*/ 2409993 h 2587437"/>
              <a:gd name="connsiteX41" fmla="*/ 1849933 w 2587436"/>
              <a:gd name="connsiteY41" fmla="*/ 2382742 h 2587437"/>
              <a:gd name="connsiteX42" fmla="*/ 1852546 w 2587436"/>
              <a:gd name="connsiteY42" fmla="*/ 2398060 h 2587437"/>
              <a:gd name="connsiteX43" fmla="*/ 1665064 w 2587436"/>
              <a:gd name="connsiteY43" fmla="*/ 2436610 h 2587437"/>
              <a:gd name="connsiteX44" fmla="*/ 1510269 w 2587436"/>
              <a:gd name="connsiteY44" fmla="*/ 2537802 h 2587437"/>
              <a:gd name="connsiteX45" fmla="*/ 1486184 w 2587436"/>
              <a:gd name="connsiteY45" fmla="*/ 2501323 h 2587437"/>
              <a:gd name="connsiteX46" fmla="*/ 1483936 w 2587436"/>
              <a:gd name="connsiteY46" fmla="*/ 2516698 h 2587437"/>
              <a:gd name="connsiteX47" fmla="*/ 1293717 w 2587436"/>
              <a:gd name="connsiteY47" fmla="*/ 2495426 h 2587437"/>
              <a:gd name="connsiteX48" fmla="*/ 1103499 w 2587436"/>
              <a:gd name="connsiteY48" fmla="*/ 2516698 h 2587437"/>
              <a:gd name="connsiteX49" fmla="*/ 1101252 w 2587436"/>
              <a:gd name="connsiteY49" fmla="*/ 2501322 h 2587437"/>
              <a:gd name="connsiteX50" fmla="*/ 1077165 w 2587436"/>
              <a:gd name="connsiteY50" fmla="*/ 2537801 h 2587437"/>
              <a:gd name="connsiteX51" fmla="*/ 922369 w 2587436"/>
              <a:gd name="connsiteY51" fmla="*/ 2436610 h 2587437"/>
              <a:gd name="connsiteX52" fmla="*/ 734888 w 2587436"/>
              <a:gd name="connsiteY52" fmla="*/ 2398060 h 2587437"/>
              <a:gd name="connsiteX53" fmla="*/ 737501 w 2587436"/>
              <a:gd name="connsiteY53" fmla="*/ 2382741 h 2587437"/>
              <a:gd name="connsiteX54" fmla="*/ 703321 w 2587436"/>
              <a:gd name="connsiteY54" fmla="*/ 2409993 h 2587437"/>
              <a:gd name="connsiteX55" fmla="*/ 587371 w 2587436"/>
              <a:gd name="connsiteY55" fmla="*/ 2265919 h 2587437"/>
              <a:gd name="connsiteX56" fmla="*/ 420978 w 2587436"/>
              <a:gd name="connsiteY56" fmla="*/ 2171321 h 2587437"/>
              <a:gd name="connsiteX57" fmla="*/ 426346 w 2587436"/>
              <a:gd name="connsiteY57" fmla="*/ 2161089 h 2587437"/>
              <a:gd name="connsiteX58" fmla="*/ 416114 w 2587436"/>
              <a:gd name="connsiteY58" fmla="*/ 2166457 h 2587437"/>
              <a:gd name="connsiteX59" fmla="*/ 321515 w 2587436"/>
              <a:gd name="connsiteY59" fmla="*/ 2000064 h 2587437"/>
              <a:gd name="connsiteX60" fmla="*/ 192499 w 2587436"/>
              <a:gd name="connsiteY60" fmla="*/ 1858678 h 2587437"/>
              <a:gd name="connsiteX61" fmla="*/ 200768 w 2587436"/>
              <a:gd name="connsiteY61" fmla="*/ 1850603 h 2587437"/>
              <a:gd name="connsiteX62" fmla="*/ 189375 w 2587436"/>
              <a:gd name="connsiteY62" fmla="*/ 1852547 h 2587437"/>
              <a:gd name="connsiteX63" fmla="*/ 150825 w 2587436"/>
              <a:gd name="connsiteY63" fmla="*/ 1665065 h 2587437"/>
              <a:gd name="connsiteX64" fmla="*/ 49634 w 2587436"/>
              <a:gd name="connsiteY64" fmla="*/ 1510270 h 2587437"/>
              <a:gd name="connsiteX65" fmla="*/ 86113 w 2587436"/>
              <a:gd name="connsiteY65" fmla="*/ 1486184 h 2587437"/>
              <a:gd name="connsiteX66" fmla="*/ 70739 w 2587436"/>
              <a:gd name="connsiteY66" fmla="*/ 1483937 h 2587437"/>
              <a:gd name="connsiteX67" fmla="*/ 92010 w 2587436"/>
              <a:gd name="connsiteY67" fmla="*/ 1293718 h 2587437"/>
              <a:gd name="connsiteX68" fmla="*/ 70739 w 2587436"/>
              <a:gd name="connsiteY68" fmla="*/ 1103500 h 2587437"/>
              <a:gd name="connsiteX69" fmla="*/ 86114 w 2587436"/>
              <a:gd name="connsiteY69" fmla="*/ 1101253 h 2587437"/>
              <a:gd name="connsiteX70" fmla="*/ 49634 w 2587436"/>
              <a:gd name="connsiteY70" fmla="*/ 1077166 h 2587437"/>
              <a:gd name="connsiteX71" fmla="*/ 150825 w 2587436"/>
              <a:gd name="connsiteY71" fmla="*/ 922370 h 2587437"/>
              <a:gd name="connsiteX72" fmla="*/ 189375 w 2587436"/>
              <a:gd name="connsiteY72" fmla="*/ 734889 h 2587437"/>
              <a:gd name="connsiteX73" fmla="*/ 200767 w 2587436"/>
              <a:gd name="connsiteY73" fmla="*/ 736833 h 2587437"/>
              <a:gd name="connsiteX74" fmla="*/ 192499 w 2587436"/>
              <a:gd name="connsiteY74" fmla="*/ 728759 h 2587437"/>
              <a:gd name="connsiteX75" fmla="*/ 321516 w 2587436"/>
              <a:gd name="connsiteY75" fmla="*/ 587372 h 2587437"/>
              <a:gd name="connsiteX76" fmla="*/ 416114 w 2587436"/>
              <a:gd name="connsiteY76" fmla="*/ 420980 h 2587437"/>
              <a:gd name="connsiteX77" fmla="*/ 426347 w 2587436"/>
              <a:gd name="connsiteY77" fmla="*/ 426349 h 2587437"/>
              <a:gd name="connsiteX78" fmla="*/ 420979 w 2587436"/>
              <a:gd name="connsiteY78" fmla="*/ 416115 h 2587437"/>
              <a:gd name="connsiteX79" fmla="*/ 587372 w 2587436"/>
              <a:gd name="connsiteY79" fmla="*/ 321517 h 2587437"/>
              <a:gd name="connsiteX80" fmla="*/ 728758 w 2587436"/>
              <a:gd name="connsiteY80" fmla="*/ 192500 h 2587437"/>
              <a:gd name="connsiteX81" fmla="*/ 736832 w 2587436"/>
              <a:gd name="connsiteY81" fmla="*/ 200768 h 2587437"/>
              <a:gd name="connsiteX82" fmla="*/ 734888 w 2587436"/>
              <a:gd name="connsiteY82" fmla="*/ 189377 h 2587437"/>
              <a:gd name="connsiteX83" fmla="*/ 922370 w 2587436"/>
              <a:gd name="connsiteY83" fmla="*/ 150826 h 2587437"/>
              <a:gd name="connsiteX84" fmla="*/ 1077165 w 2587436"/>
              <a:gd name="connsiteY84" fmla="*/ 49635 h 2587437"/>
              <a:gd name="connsiteX85" fmla="*/ 1101686 w 2587436"/>
              <a:gd name="connsiteY85" fmla="*/ 86772 h 2587437"/>
              <a:gd name="connsiteX86" fmla="*/ 1102495 w 2587436"/>
              <a:gd name="connsiteY86" fmla="*/ 74529 h 2587437"/>
              <a:gd name="connsiteX87" fmla="*/ 1178351 w 2587436"/>
              <a:gd name="connsiteY87" fmla="*/ 781 h 2587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2587436" h="2587437">
                <a:moveTo>
                  <a:pt x="1293718" y="105586"/>
                </a:moveTo>
                <a:cubicBezTo>
                  <a:pt x="637531" y="105586"/>
                  <a:pt x="105586" y="637531"/>
                  <a:pt x="105586" y="1293718"/>
                </a:cubicBezTo>
                <a:cubicBezTo>
                  <a:pt x="105586" y="1949905"/>
                  <a:pt x="637531" y="2481850"/>
                  <a:pt x="1293718" y="2481850"/>
                </a:cubicBezTo>
                <a:cubicBezTo>
                  <a:pt x="1949905" y="2481850"/>
                  <a:pt x="2481850" y="1949905"/>
                  <a:pt x="2481850" y="1293718"/>
                </a:cubicBezTo>
                <a:cubicBezTo>
                  <a:pt x="2481850" y="637531"/>
                  <a:pt x="1949905" y="105586"/>
                  <a:pt x="1293718" y="105586"/>
                </a:cubicBezTo>
                <a:close/>
                <a:moveTo>
                  <a:pt x="1178351" y="781"/>
                </a:moveTo>
                <a:cubicBezTo>
                  <a:pt x="1220450" y="-5049"/>
                  <a:pt x="1268508" y="21422"/>
                  <a:pt x="1293718" y="92011"/>
                </a:cubicBezTo>
                <a:cubicBezTo>
                  <a:pt x="1318929" y="21422"/>
                  <a:pt x="1366986" y="-5049"/>
                  <a:pt x="1409085" y="781"/>
                </a:cubicBezTo>
                <a:cubicBezTo>
                  <a:pt x="1434345" y="4279"/>
                  <a:pt x="1457459" y="19405"/>
                  <a:pt x="1472207" y="43607"/>
                </a:cubicBezTo>
                <a:lnTo>
                  <a:pt x="1484604" y="88506"/>
                </a:lnTo>
                <a:lnTo>
                  <a:pt x="1510269" y="49635"/>
                </a:lnTo>
                <a:cubicBezTo>
                  <a:pt x="1567616" y="408"/>
                  <a:pt x="1661604" y="30947"/>
                  <a:pt x="1665065" y="150827"/>
                </a:cubicBezTo>
                <a:cubicBezTo>
                  <a:pt x="1738329" y="55877"/>
                  <a:pt x="1832316" y="86415"/>
                  <a:pt x="1849776" y="159948"/>
                </a:cubicBezTo>
                <a:lnTo>
                  <a:pt x="1847820" y="203618"/>
                </a:lnTo>
                <a:lnTo>
                  <a:pt x="1858676" y="192501"/>
                </a:lnTo>
                <a:cubicBezTo>
                  <a:pt x="1932101" y="134716"/>
                  <a:pt x="2038035" y="192050"/>
                  <a:pt x="2000063" y="321517"/>
                </a:cubicBezTo>
                <a:cubicBezTo>
                  <a:pt x="2099082" y="253854"/>
                  <a:pt x="2179033" y="311942"/>
                  <a:pt x="2172915" y="387271"/>
                </a:cubicBezTo>
                <a:lnTo>
                  <a:pt x="2157560" y="428199"/>
                </a:lnTo>
                <a:lnTo>
                  <a:pt x="2171320" y="420980"/>
                </a:lnTo>
                <a:cubicBezTo>
                  <a:pt x="2259007" y="388713"/>
                  <a:pt x="2342040" y="475977"/>
                  <a:pt x="2265919" y="587373"/>
                </a:cubicBezTo>
                <a:cubicBezTo>
                  <a:pt x="2381000" y="553620"/>
                  <a:pt x="2439088" y="633571"/>
                  <a:pt x="2409992" y="703323"/>
                </a:cubicBezTo>
                <a:lnTo>
                  <a:pt x="2382741" y="737503"/>
                </a:lnTo>
                <a:lnTo>
                  <a:pt x="2398059" y="734889"/>
                </a:lnTo>
                <a:cubicBezTo>
                  <a:pt x="2491425" y="731298"/>
                  <a:pt x="2543428" y="839949"/>
                  <a:pt x="2436609" y="922371"/>
                </a:cubicBezTo>
                <a:cubicBezTo>
                  <a:pt x="2556489" y="925832"/>
                  <a:pt x="2587027" y="1019820"/>
                  <a:pt x="2537801" y="1077167"/>
                </a:cubicBezTo>
                <a:lnTo>
                  <a:pt x="2501321" y="1101253"/>
                </a:lnTo>
                <a:lnTo>
                  <a:pt x="2516697" y="1103501"/>
                </a:lnTo>
                <a:cubicBezTo>
                  <a:pt x="2606603" y="1128937"/>
                  <a:pt x="2622486" y="1248340"/>
                  <a:pt x="2495425" y="1293719"/>
                </a:cubicBezTo>
                <a:cubicBezTo>
                  <a:pt x="2608368" y="1334056"/>
                  <a:pt x="2608368" y="1432880"/>
                  <a:pt x="2543829" y="1472208"/>
                </a:cubicBezTo>
                <a:lnTo>
                  <a:pt x="2498930" y="1484605"/>
                </a:lnTo>
                <a:lnTo>
                  <a:pt x="2537800" y="1510270"/>
                </a:lnTo>
                <a:cubicBezTo>
                  <a:pt x="2587027" y="1567617"/>
                  <a:pt x="2556488" y="1661605"/>
                  <a:pt x="2436609" y="1665066"/>
                </a:cubicBezTo>
                <a:cubicBezTo>
                  <a:pt x="2531559" y="1738330"/>
                  <a:pt x="2501021" y="1832318"/>
                  <a:pt x="2427488" y="1849777"/>
                </a:cubicBezTo>
                <a:lnTo>
                  <a:pt x="2383816" y="1847821"/>
                </a:lnTo>
                <a:lnTo>
                  <a:pt x="2394935" y="1858678"/>
                </a:lnTo>
                <a:cubicBezTo>
                  <a:pt x="2452719" y="1932103"/>
                  <a:pt x="2395386" y="2038037"/>
                  <a:pt x="2265918" y="2000065"/>
                </a:cubicBezTo>
                <a:cubicBezTo>
                  <a:pt x="2333581" y="2099084"/>
                  <a:pt x="2275494" y="2179035"/>
                  <a:pt x="2200165" y="2172917"/>
                </a:cubicBezTo>
                <a:lnTo>
                  <a:pt x="2159237" y="2157562"/>
                </a:lnTo>
                <a:lnTo>
                  <a:pt x="2166455" y="2171321"/>
                </a:lnTo>
                <a:cubicBezTo>
                  <a:pt x="2198722" y="2259008"/>
                  <a:pt x="2111459" y="2342041"/>
                  <a:pt x="2000062" y="2265920"/>
                </a:cubicBezTo>
                <a:cubicBezTo>
                  <a:pt x="2033815" y="2381001"/>
                  <a:pt x="1953865" y="2439089"/>
                  <a:pt x="1884113" y="2409993"/>
                </a:cubicBezTo>
                <a:lnTo>
                  <a:pt x="1849933" y="2382742"/>
                </a:lnTo>
                <a:lnTo>
                  <a:pt x="1852546" y="2398060"/>
                </a:lnTo>
                <a:cubicBezTo>
                  <a:pt x="1856137" y="2491426"/>
                  <a:pt x="1747486" y="2543429"/>
                  <a:pt x="1665064" y="2436610"/>
                </a:cubicBezTo>
                <a:cubicBezTo>
                  <a:pt x="1661603" y="2556490"/>
                  <a:pt x="1567616" y="2587028"/>
                  <a:pt x="1510269" y="2537802"/>
                </a:cubicBezTo>
                <a:lnTo>
                  <a:pt x="1486184" y="2501323"/>
                </a:lnTo>
                <a:lnTo>
                  <a:pt x="1483936" y="2516698"/>
                </a:lnTo>
                <a:cubicBezTo>
                  <a:pt x="1458499" y="2606604"/>
                  <a:pt x="1339096" y="2622487"/>
                  <a:pt x="1293717" y="2495426"/>
                </a:cubicBezTo>
                <a:cubicBezTo>
                  <a:pt x="1248339" y="2622487"/>
                  <a:pt x="1128936" y="2606604"/>
                  <a:pt x="1103499" y="2516698"/>
                </a:cubicBezTo>
                <a:lnTo>
                  <a:pt x="1101252" y="2501322"/>
                </a:lnTo>
                <a:lnTo>
                  <a:pt x="1077165" y="2537801"/>
                </a:lnTo>
                <a:cubicBezTo>
                  <a:pt x="1019818" y="2587028"/>
                  <a:pt x="925830" y="2556489"/>
                  <a:pt x="922369" y="2436610"/>
                </a:cubicBezTo>
                <a:cubicBezTo>
                  <a:pt x="839947" y="2543429"/>
                  <a:pt x="731297" y="2491426"/>
                  <a:pt x="734888" y="2398060"/>
                </a:cubicBezTo>
                <a:lnTo>
                  <a:pt x="737501" y="2382741"/>
                </a:lnTo>
                <a:lnTo>
                  <a:pt x="703321" y="2409993"/>
                </a:lnTo>
                <a:cubicBezTo>
                  <a:pt x="633569" y="2439089"/>
                  <a:pt x="553618" y="2381001"/>
                  <a:pt x="587371" y="2265919"/>
                </a:cubicBezTo>
                <a:cubicBezTo>
                  <a:pt x="475975" y="2342040"/>
                  <a:pt x="388712" y="2259008"/>
                  <a:pt x="420978" y="2171321"/>
                </a:cubicBezTo>
                <a:lnTo>
                  <a:pt x="426346" y="2161089"/>
                </a:lnTo>
                <a:lnTo>
                  <a:pt x="416114" y="2166457"/>
                </a:lnTo>
                <a:cubicBezTo>
                  <a:pt x="328427" y="2198724"/>
                  <a:pt x="245394" y="2111461"/>
                  <a:pt x="321515" y="2000064"/>
                </a:cubicBezTo>
                <a:cubicBezTo>
                  <a:pt x="192048" y="2038036"/>
                  <a:pt x="134715" y="1932102"/>
                  <a:pt x="192499" y="1858678"/>
                </a:cubicBezTo>
                <a:lnTo>
                  <a:pt x="200768" y="1850603"/>
                </a:lnTo>
                <a:lnTo>
                  <a:pt x="189375" y="1852547"/>
                </a:lnTo>
                <a:cubicBezTo>
                  <a:pt x="96009" y="1856138"/>
                  <a:pt x="44006" y="1747487"/>
                  <a:pt x="150825" y="1665065"/>
                </a:cubicBezTo>
                <a:cubicBezTo>
                  <a:pt x="30946" y="1661604"/>
                  <a:pt x="407" y="1567617"/>
                  <a:pt x="49634" y="1510270"/>
                </a:cubicBezTo>
                <a:lnTo>
                  <a:pt x="86113" y="1486184"/>
                </a:lnTo>
                <a:lnTo>
                  <a:pt x="70739" y="1483937"/>
                </a:lnTo>
                <a:cubicBezTo>
                  <a:pt x="-19168" y="1458500"/>
                  <a:pt x="-35050" y="1339097"/>
                  <a:pt x="92010" y="1293718"/>
                </a:cubicBezTo>
                <a:cubicBezTo>
                  <a:pt x="-35050" y="1248340"/>
                  <a:pt x="-19168" y="1128937"/>
                  <a:pt x="70739" y="1103500"/>
                </a:cubicBezTo>
                <a:lnTo>
                  <a:pt x="86114" y="1101253"/>
                </a:lnTo>
                <a:lnTo>
                  <a:pt x="49634" y="1077166"/>
                </a:lnTo>
                <a:cubicBezTo>
                  <a:pt x="407" y="1019820"/>
                  <a:pt x="30946" y="925832"/>
                  <a:pt x="150825" y="922370"/>
                </a:cubicBezTo>
                <a:cubicBezTo>
                  <a:pt x="44006" y="839949"/>
                  <a:pt x="96009" y="731298"/>
                  <a:pt x="189375" y="734889"/>
                </a:cubicBezTo>
                <a:lnTo>
                  <a:pt x="200767" y="736833"/>
                </a:lnTo>
                <a:lnTo>
                  <a:pt x="192499" y="728759"/>
                </a:lnTo>
                <a:cubicBezTo>
                  <a:pt x="134715" y="655335"/>
                  <a:pt x="192049" y="549401"/>
                  <a:pt x="321516" y="587372"/>
                </a:cubicBezTo>
                <a:cubicBezTo>
                  <a:pt x="245395" y="475976"/>
                  <a:pt x="328427" y="388713"/>
                  <a:pt x="416114" y="420980"/>
                </a:cubicBezTo>
                <a:lnTo>
                  <a:pt x="426347" y="426349"/>
                </a:lnTo>
                <a:lnTo>
                  <a:pt x="420979" y="416115"/>
                </a:lnTo>
                <a:cubicBezTo>
                  <a:pt x="388712" y="328428"/>
                  <a:pt x="475975" y="245396"/>
                  <a:pt x="587372" y="321517"/>
                </a:cubicBezTo>
                <a:cubicBezTo>
                  <a:pt x="549400" y="192050"/>
                  <a:pt x="655334" y="134716"/>
                  <a:pt x="728758" y="192500"/>
                </a:cubicBezTo>
                <a:lnTo>
                  <a:pt x="736832" y="200768"/>
                </a:lnTo>
                <a:lnTo>
                  <a:pt x="734888" y="189377"/>
                </a:lnTo>
                <a:cubicBezTo>
                  <a:pt x="731297" y="96010"/>
                  <a:pt x="839948" y="44008"/>
                  <a:pt x="922370" y="150826"/>
                </a:cubicBezTo>
                <a:cubicBezTo>
                  <a:pt x="925831" y="30947"/>
                  <a:pt x="1019818" y="408"/>
                  <a:pt x="1077165" y="49635"/>
                </a:cubicBezTo>
                <a:lnTo>
                  <a:pt x="1101686" y="86772"/>
                </a:lnTo>
                <a:lnTo>
                  <a:pt x="1102495" y="74529"/>
                </a:lnTo>
                <a:cubicBezTo>
                  <a:pt x="1112942" y="32385"/>
                  <a:pt x="1143619" y="5591"/>
                  <a:pt x="1178351" y="781"/>
                </a:cubicBezTo>
                <a:close/>
              </a:path>
            </a:pathLst>
          </a:custGeom>
          <a:solidFill>
            <a:schemeClr val="accent1"/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slide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-13335"/>
            <a:ext cx="12202160" cy="6866255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3885" y="1642745"/>
            <a:ext cx="8396605" cy="1811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73250" y="928370"/>
            <a:ext cx="8396605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椭圆 9"/>
          <p:cNvSpPr/>
          <p:nvPr/>
        </p:nvSpPr>
        <p:spPr>
          <a:xfrm>
            <a:off x="5297805" y="2729230"/>
            <a:ext cx="4459605" cy="667385"/>
          </a:xfrm>
          <a:prstGeom prst="ellipse">
            <a:avLst/>
          </a:prstGeom>
          <a:noFill/>
          <a:ln w="635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C000"/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2950" y="4445635"/>
            <a:ext cx="4563745" cy="1617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下箭头 12"/>
          <p:cNvSpPr/>
          <p:nvPr/>
        </p:nvSpPr>
        <p:spPr>
          <a:xfrm>
            <a:off x="7089140" y="3493770"/>
            <a:ext cx="477520" cy="731520"/>
          </a:xfrm>
          <a:prstGeom prst="downArrow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C000"/>
              </a:solidFill>
            </a:endParaRPr>
          </a:p>
        </p:txBody>
      </p:sp>
      <p:sp>
        <p:nvSpPr>
          <p:cNvPr id="14" name="矩形 12"/>
          <p:cNvSpPr>
            <a:spLocks noChangeArrowheads="1"/>
          </p:cNvSpPr>
          <p:nvPr/>
        </p:nvSpPr>
        <p:spPr bwMode="auto">
          <a:xfrm>
            <a:off x="7698740" y="3598545"/>
            <a:ext cx="286321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右击设置封装</a:t>
            </a:r>
            <a:endParaRPr lang="zh-CN" altLang="en-US" sz="28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357188" y="285751"/>
            <a:ext cx="8072464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一、从原理图到</a:t>
            </a:r>
            <a:r>
              <a:rPr lang="en-US" altLang="zh-CN" sz="28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PCB</a:t>
            </a:r>
            <a:r>
              <a:rPr lang="zh-CN" altLang="en-US" sz="28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最后的的完善</a:t>
            </a:r>
            <a:r>
              <a:rPr lang="en-US" altLang="zh-CN" sz="28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设置封装</a:t>
            </a:r>
            <a:endParaRPr lang="zh-CN" altLang="en-US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slide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-13335"/>
            <a:ext cx="12202160" cy="6866255"/>
          </a:xfrm>
          <a:prstGeom prst="rect">
            <a:avLst/>
          </a:prstGeom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505" y="995045"/>
            <a:ext cx="6327140" cy="5380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椭圆 15"/>
          <p:cNvSpPr/>
          <p:nvPr/>
        </p:nvSpPr>
        <p:spPr>
          <a:xfrm>
            <a:off x="2290445" y="1149350"/>
            <a:ext cx="501015" cy="49403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dirty="0" smtClean="0">
                <a:solidFill>
                  <a:srgbClr val="FF0000"/>
                </a:solidFill>
              </a:rPr>
              <a:t>1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647950" y="2302510"/>
            <a:ext cx="1861820" cy="12693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：对引脚分配焊盘</a:t>
            </a:r>
            <a:endParaRPr lang="zh-CN" altLang="en-US" sz="24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874895" y="5571490"/>
            <a:ext cx="500380" cy="49403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dirty="0" smtClean="0">
                <a:solidFill>
                  <a:srgbClr val="FF0000"/>
                </a:solidFill>
              </a:rPr>
              <a:t>3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357188" y="285751"/>
            <a:ext cx="8072464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一、从原理图到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PCB</a:t>
            </a:r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最后的的完善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设置封装</a:t>
            </a:r>
            <a:endParaRPr lang="zh-CN" altLang="en-US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69530" y="1009015"/>
            <a:ext cx="4220845" cy="535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椭圆 4"/>
          <p:cNvSpPr/>
          <p:nvPr/>
        </p:nvSpPr>
        <p:spPr>
          <a:xfrm>
            <a:off x="9369425" y="4490720"/>
            <a:ext cx="601980" cy="5715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dirty="0" smtClean="0">
                <a:solidFill>
                  <a:srgbClr val="FF0000"/>
                </a:solidFill>
              </a:rPr>
              <a:t>4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9162087" y="5460694"/>
            <a:ext cx="583413" cy="60441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dirty="0" smtClean="0">
                <a:solidFill>
                  <a:srgbClr val="FF0000"/>
                </a:solidFill>
              </a:rPr>
              <a:t>5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" name="右箭头 1"/>
          <p:cNvSpPr/>
          <p:nvPr/>
        </p:nvSpPr>
        <p:spPr>
          <a:xfrm>
            <a:off x="6787515" y="3345180"/>
            <a:ext cx="756285" cy="586740"/>
          </a:xfrm>
          <a:prstGeom prst="rightArrow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slide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080" y="-3810"/>
            <a:ext cx="12202160" cy="6866255"/>
          </a:xfrm>
          <a:prstGeom prst="rect">
            <a:avLst/>
          </a:prstGeom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57188" y="285751"/>
            <a:ext cx="8786812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一、从原理图到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PCB</a:t>
            </a:r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最后的的完善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元件编号</a:t>
            </a:r>
            <a:endParaRPr lang="zh-CN" altLang="en-US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928670"/>
            <a:ext cx="417702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36897" y="919145"/>
            <a:ext cx="3938944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4143372" y="3071810"/>
            <a:ext cx="57150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altLang="en-US" sz="3600" b="1" dirty="0" smtClean="0">
                <a:solidFill>
                  <a:srgbClr val="FF0000"/>
                </a:solidFill>
              </a:rPr>
              <a:t>？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4071934" y="1285860"/>
            <a:ext cx="726289" cy="3143273"/>
          </a:xfrm>
          <a:prstGeom prst="ellipse">
            <a:avLst/>
          </a:prstGeom>
          <a:noFill/>
          <a:ln w="635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596" y="4286256"/>
            <a:ext cx="3817647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下箭头 16"/>
          <p:cNvSpPr/>
          <p:nvPr/>
        </p:nvSpPr>
        <p:spPr>
          <a:xfrm rot="1683946">
            <a:off x="3467023" y="4010885"/>
            <a:ext cx="714380" cy="872605"/>
          </a:xfrm>
          <a:prstGeom prst="downArrow">
            <a:avLst>
              <a:gd name="adj1" fmla="val 24194"/>
              <a:gd name="adj2" fmla="val 35302"/>
            </a:avLst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饼形 17"/>
          <p:cNvSpPr/>
          <p:nvPr/>
        </p:nvSpPr>
        <p:spPr>
          <a:xfrm>
            <a:off x="2285984" y="5786454"/>
            <a:ext cx="2500330" cy="857256"/>
          </a:xfrm>
          <a:prstGeom prst="pie">
            <a:avLst>
              <a:gd name="adj1" fmla="val 320722"/>
              <a:gd name="adj2" fmla="val 20679769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缺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PCB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封装</a:t>
            </a:r>
            <a:endParaRPr lang="zh-CN" altLang="en-US" sz="28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636580" y="2215185"/>
            <a:ext cx="3607945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椭圆 19"/>
          <p:cNvSpPr/>
          <p:nvPr/>
        </p:nvSpPr>
        <p:spPr>
          <a:xfrm>
            <a:off x="4500562" y="5000636"/>
            <a:ext cx="4429156" cy="785818"/>
          </a:xfrm>
          <a:prstGeom prst="ellipse">
            <a:avLst/>
          </a:prstGeom>
          <a:noFill/>
          <a:ln w="635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注意引脚与焊盘对应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线形标注 2 8"/>
          <p:cNvSpPr/>
          <p:nvPr/>
        </p:nvSpPr>
        <p:spPr>
          <a:xfrm>
            <a:off x="8281672" y="3303593"/>
            <a:ext cx="3429024" cy="1857388"/>
          </a:xfrm>
          <a:prstGeom prst="borderCallout2">
            <a:avLst>
              <a:gd name="adj1" fmla="val 62466"/>
              <a:gd name="adj2" fmla="val 3208"/>
              <a:gd name="adj3" fmla="val 60717"/>
              <a:gd name="adj4" fmla="val -6105"/>
              <a:gd name="adj5" fmla="val 92457"/>
              <a:gd name="adj6" fmla="val -15161"/>
            </a:avLst>
          </a:prstGeom>
          <a:solidFill>
            <a:srgbClr val="0070C0"/>
          </a:solidFill>
          <a:ln w="63500" cmpd="dbl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缺元件编号：元件身份证号，若要出现在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PCB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，它必须，唯一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!!!</a:t>
            </a:r>
            <a:endParaRPr lang="en-US" altLang="zh-CN" sz="24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slide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1910" y="-23495"/>
            <a:ext cx="12228195" cy="6904990"/>
          </a:xfrm>
          <a:prstGeom prst="rect">
            <a:avLst/>
          </a:prstGeom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357188" y="285751"/>
            <a:ext cx="8786812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二、法制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规则设置</a:t>
            </a:r>
            <a:endParaRPr lang="zh-CN" altLang="en-US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490" y="1223645"/>
            <a:ext cx="6267450" cy="5550535"/>
          </a:xfrm>
          <a:prstGeom prst="rect">
            <a:avLst/>
          </a:prstGeom>
        </p:spPr>
      </p:pic>
      <p:sp>
        <p:nvSpPr>
          <p:cNvPr id="3" name="TextBox 10"/>
          <p:cNvSpPr txBox="1"/>
          <p:nvPr/>
        </p:nvSpPr>
        <p:spPr>
          <a:xfrm>
            <a:off x="8553425" y="1272220"/>
            <a:ext cx="2786082" cy="2676525"/>
          </a:xfrm>
          <a:prstGeom prst="rect">
            <a:avLst/>
          </a:prstGeom>
          <a:noFill/>
          <a:ln>
            <a:solidFill>
              <a:srgbClr val="0A794E"/>
            </a:solidFill>
          </a:ln>
        </p:spPr>
        <p:txBody>
          <a:bodyPr wrap="square" rtlCol="0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安全间距</a:t>
            </a:r>
            <a:endParaRPr lang="zh-CN" altLang="en-US" sz="28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规则应用至层、网络类</a:t>
            </a:r>
            <a:endParaRPr lang="zh-CN" altLang="en-US" sz="28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有默认规则</a:t>
            </a:r>
            <a:endParaRPr lang="zh-CN" altLang="en-US" sz="28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也可新建、删除规则</a:t>
            </a:r>
            <a:endParaRPr lang="zh-CN" altLang="en-US" sz="28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线形标注 2 5"/>
          <p:cNvSpPr/>
          <p:nvPr/>
        </p:nvSpPr>
        <p:spPr>
          <a:xfrm>
            <a:off x="8858226" y="4409133"/>
            <a:ext cx="928694" cy="57150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70629"/>
              <a:gd name="adj6" fmla="val -6699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全局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slide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15" y="-23495"/>
            <a:ext cx="12228195" cy="6904990"/>
          </a:xfrm>
          <a:prstGeom prst="rect">
            <a:avLst/>
          </a:prstGeom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357188" y="285751"/>
            <a:ext cx="8786812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二、法制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规则设置</a:t>
            </a:r>
            <a:endParaRPr lang="zh-CN" altLang="en-US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045" y="1261745"/>
            <a:ext cx="6251575" cy="552577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619365" y="1709420"/>
            <a:ext cx="3000375" cy="1814830"/>
          </a:xfrm>
          <a:prstGeom prst="rect">
            <a:avLst/>
          </a:prstGeom>
          <a:ln>
            <a:solidFill>
              <a:srgbClr val="0A794E"/>
            </a:solidFill>
          </a:ln>
        </p:spPr>
        <p:txBody>
          <a:bodyPr wrap="square">
            <a:spAutoFit/>
          </a:bodyPr>
          <a:p>
            <a:pPr lvl="0"/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某布线网络类的</a:t>
            </a:r>
            <a:endParaRPr lang="zh-CN" altLang="en-US" sz="28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/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层配置、</a:t>
            </a:r>
            <a:endParaRPr lang="zh-CN" altLang="en-US" sz="28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/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布线风格、</a:t>
            </a:r>
            <a:endParaRPr lang="zh-CN" altLang="en-US" sz="28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/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过孔类型</a:t>
            </a:r>
            <a:endParaRPr lang="zh-CN" altLang="en-US" sz="28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线形标注 2 5"/>
          <p:cNvSpPr/>
          <p:nvPr/>
        </p:nvSpPr>
        <p:spPr>
          <a:xfrm>
            <a:off x="8905248" y="3816048"/>
            <a:ext cx="1714512" cy="57150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49646"/>
              <a:gd name="adj6" fmla="val -22369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局部线宽等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slide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1910" y="-23495"/>
            <a:ext cx="12228195" cy="6904990"/>
          </a:xfrm>
          <a:prstGeom prst="rect">
            <a:avLst/>
          </a:prstGeom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357188" y="285751"/>
            <a:ext cx="8786812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二、法制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规则设置</a:t>
            </a:r>
            <a:endParaRPr lang="zh-CN" altLang="en-US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235" y="1230630"/>
            <a:ext cx="6248400" cy="542607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8276590" y="1483995"/>
            <a:ext cx="2299335" cy="1814830"/>
          </a:xfrm>
          <a:prstGeom prst="rect">
            <a:avLst/>
          </a:prstGeom>
          <a:ln>
            <a:solidFill>
              <a:srgbClr val="0A794E"/>
            </a:solidFill>
          </a:ln>
        </p:spPr>
        <p:txBody>
          <a:bodyPr wrap="square">
            <a:spAutoFit/>
          </a:bodyPr>
          <a:p>
            <a:pPr lvl="0"/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前两项中“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default</a:t>
            </a:r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”所指的设定</a:t>
            </a:r>
            <a:endParaRPr lang="zh-CN" altLang="en-US" sz="28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/>
            <a:endParaRPr lang="zh-CN" altLang="en-US" sz="28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slide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" y="-10160"/>
            <a:ext cx="12207240" cy="6876415"/>
          </a:xfrm>
          <a:prstGeom prst="rect">
            <a:avLst/>
          </a:prstGeom>
        </p:spPr>
      </p:pic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357188" y="285751"/>
            <a:ext cx="8786812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三、布局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先谋后动</a:t>
            </a:r>
            <a:endParaRPr lang="zh-CN" altLang="en-US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995" y="928370"/>
            <a:ext cx="110572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先布置与机械结构有关、占位置大、处于核心地位的关键元件；再布置其它元件。在布局过程中，可能因布局不好造成布不通或是布局质量差，则需要调整布局。</a:t>
            </a:r>
            <a:endParaRPr lang="zh-CN" altLang="en-US" sz="24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5786" y="1833554"/>
            <a:ext cx="2528256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、绘制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PCB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板框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1538" y="2614609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2D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按钮</a:t>
            </a:r>
            <a:endParaRPr lang="zh-CN" altLang="en-US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14678" y="2614609"/>
            <a:ext cx="1975760" cy="428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14546" y="2614609"/>
            <a:ext cx="585410" cy="428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直接箭头连接符 11"/>
          <p:cNvCxnSpPr>
            <a:stCxn id="33796" idx="3"/>
            <a:endCxn id="33795" idx="1"/>
          </p:cNvCxnSpPr>
          <p:nvPr/>
        </p:nvCxnSpPr>
        <p:spPr>
          <a:xfrm>
            <a:off x="2799956" y="2838436"/>
            <a:ext cx="41465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6" name="Group 2"/>
          <p:cNvGrpSpPr/>
          <p:nvPr/>
        </p:nvGrpSpPr>
        <p:grpSpPr bwMode="auto">
          <a:xfrm>
            <a:off x="785495" y="3242335"/>
            <a:ext cx="9989565" cy="3369285"/>
            <a:chOff x="1444" y="1127"/>
            <a:chExt cx="7712" cy="2187"/>
          </a:xfrm>
        </p:grpSpPr>
        <p:grpSp>
          <p:nvGrpSpPr>
            <p:cNvPr id="1027" name="Group 3"/>
            <p:cNvGrpSpPr/>
            <p:nvPr/>
          </p:nvGrpSpPr>
          <p:grpSpPr bwMode="auto">
            <a:xfrm>
              <a:off x="1444" y="1127"/>
              <a:ext cx="7712" cy="2187"/>
              <a:chOff x="1444" y="11743"/>
              <a:chExt cx="7712" cy="2187"/>
            </a:xfrm>
          </p:grpSpPr>
          <p:pic>
            <p:nvPicPr>
              <p:cNvPr id="1028" name="Picture 4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2128" y="12124"/>
                <a:ext cx="7013" cy="14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029" name="Picture 5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1444" y="12013"/>
                <a:ext cx="2336" cy="8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030" name="Text Box 6"/>
              <p:cNvSpPr txBox="1">
                <a:spLocks noChangeArrowheads="1"/>
              </p:cNvSpPr>
              <p:nvPr/>
            </p:nvSpPr>
            <p:spPr bwMode="auto">
              <a:xfrm>
                <a:off x="2140" y="13666"/>
                <a:ext cx="7016" cy="26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36000" tIns="0" rIns="91440" bIns="0" numCol="1" anchor="t" anchorCtr="0" compatLnSpc="1"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2D</a:t>
                </a:r>
                <a:r>
                  <a:rPr kumimoji="0" lang="zh-CN" altLang="en-US" sz="1400" b="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方框；</a:t>
                </a:r>
                <a:r>
                  <a:rPr kumimoji="0" lang="en-US" altLang="zh-CN" sz="1400" b="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P1</a:t>
                </a:r>
                <a:r>
                  <a:rPr kumimoji="0" lang="zh-CN" altLang="en-US" sz="1400" b="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，起点坐标</a:t>
                </a:r>
                <a:r>
                  <a:rPr kumimoji="0" lang="en-US" altLang="zh-CN" sz="1400" b="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X</a:t>
                </a:r>
                <a:r>
                  <a:rPr kumimoji="0" lang="zh-CN" altLang="en-US" sz="1400" b="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，</a:t>
                </a:r>
                <a:r>
                  <a:rPr kumimoji="0" lang="en-US" altLang="zh-CN" sz="1400" b="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Y</a:t>
                </a:r>
                <a:r>
                  <a:rPr kumimoji="0" lang="zh-CN" altLang="en-US" sz="1400" b="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；</a:t>
                </a:r>
                <a:r>
                  <a:rPr kumimoji="0" lang="en-US" altLang="zh-CN" sz="1400" b="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P2</a:t>
                </a:r>
                <a:r>
                  <a:rPr kumimoji="0" lang="zh-CN" altLang="en-US" sz="1400" b="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：终端坐标</a:t>
                </a:r>
                <a:r>
                  <a:rPr kumimoji="0" lang="en-US" altLang="zh-CN" sz="1400" b="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X</a:t>
                </a:r>
                <a:r>
                  <a:rPr kumimoji="0" lang="zh-CN" altLang="en-US" sz="1400" b="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，</a:t>
                </a:r>
                <a:r>
                  <a:rPr kumimoji="0" lang="en-US" altLang="zh-CN" sz="1400" b="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Y</a:t>
                </a:r>
                <a:r>
                  <a:rPr kumimoji="0" lang="zh-CN" altLang="en-US" sz="1400" b="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；　</a:t>
                </a:r>
                <a:r>
                  <a:rPr kumimoji="0" lang="en-US" altLang="zh-CN" sz="1400" b="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2D</a:t>
                </a:r>
                <a:r>
                  <a:rPr kumimoji="0" lang="zh-CN" altLang="en-US" sz="1400" b="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框体宽，　　　　高　　　　　　　；</a:t>
                </a:r>
                <a:r>
                  <a:rPr kumimoji="0" lang="en-US" altLang="zh-CN" sz="1400" b="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DRC</a:t>
                </a:r>
                <a:r>
                  <a:rPr kumimoji="0" lang="zh-CN" altLang="en-US" sz="1400" b="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报告</a:t>
                </a:r>
                <a:endParaRPr kumimoji="0" lang="zh-CN" altLang="en-US" sz="1400" b="0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31" name="AutoShape 7"/>
              <p:cNvSpPr>
                <a:spLocks noChangeArrowheads="1"/>
              </p:cNvSpPr>
              <p:nvPr/>
            </p:nvSpPr>
            <p:spPr bwMode="auto">
              <a:xfrm>
                <a:off x="7550" y="12976"/>
                <a:ext cx="985" cy="264"/>
              </a:xfrm>
              <a:prstGeom prst="wedgeRectCallout">
                <a:avLst>
                  <a:gd name="adj1" fmla="val -3319"/>
                  <a:gd name="adj2" fmla="val 74056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36000" tIns="0" rIns="36000" bIns="0" numCol="1" anchor="t" anchorCtr="0" compatLnSpc="1"/>
              <a:p>
                <a:pPr marL="0" marR="0" lvl="0" indent="0" algn="just" defTabSz="914400" rtl="0" eaLnBrk="1" fontAlgn="base" latinLnBrk="0" hangingPunct="1">
                  <a:lnSpc>
                    <a:spcPct val="96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b="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光标点坐标</a:t>
                </a:r>
                <a:endParaRPr kumimoji="0" lang="zh-CN" altLang="en-US" b="0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32" name="AutoShape 8"/>
              <p:cNvSpPr>
                <a:spLocks noChangeArrowheads="1"/>
              </p:cNvSpPr>
              <p:nvPr/>
            </p:nvSpPr>
            <p:spPr bwMode="auto">
              <a:xfrm>
                <a:off x="2351" y="11743"/>
                <a:ext cx="968" cy="643"/>
              </a:xfrm>
              <a:prstGeom prst="wedgeRectCallout">
                <a:avLst>
                  <a:gd name="adj1" fmla="val 56519"/>
                  <a:gd name="adj2" fmla="val 21384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36000" tIns="0" rIns="36000" bIns="0" numCol="1" anchor="t" anchorCtr="0" compatLnSpc="1"/>
              <a:p>
                <a:pPr marL="0" marR="0" lvl="0" indent="0" algn="just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altLang="zh-CN" b="0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</a:endParaRPr>
              </a:p>
              <a:p>
                <a:pPr marL="0" marR="0" lvl="0" indent="0" algn="just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①</a:t>
                </a:r>
                <a:r>
                  <a:rPr kumimoji="0" lang="zh-CN" altLang="en-US" b="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点击确定边框　第一个顶点</a:t>
                </a:r>
                <a:endParaRPr kumimoji="0" lang="zh-CN" altLang="en-US" b="0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33" name="AutoShape 9"/>
              <p:cNvSpPr>
                <a:spLocks noChangeArrowheads="1"/>
              </p:cNvSpPr>
              <p:nvPr/>
            </p:nvSpPr>
            <p:spPr bwMode="auto">
              <a:xfrm>
                <a:off x="6502" y="11962"/>
                <a:ext cx="1977" cy="718"/>
              </a:xfrm>
              <a:prstGeom prst="wedgeRectCallout">
                <a:avLst>
                  <a:gd name="adj1" fmla="val -60796"/>
                  <a:gd name="adj2" fmla="val 1991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36000" tIns="0" rIns="36000" bIns="0" numCol="1" anchor="t" anchorCtr="0" compatLnSpc="1"/>
              <a:p>
                <a:pPr marL="0" marR="0" lvl="0" indent="0" algn="just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altLang="zh-CN" b="0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</a:endParaRPr>
              </a:p>
              <a:p>
                <a:pPr marL="0" marR="0" lvl="0" indent="0" algn="just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② </a:t>
                </a:r>
                <a:r>
                  <a:rPr kumimoji="0" lang="zh-CN" altLang="en-US" b="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宋体" panose="02010600030101010101" pitchFamily="2" charset="-122"/>
                  </a:rPr>
                  <a:t>移动光标，移动到对角顶点，画出边框，左击，确认边框</a:t>
                </a:r>
                <a:endParaRPr kumimoji="0" lang="zh-CN" altLang="en-US" b="0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</a:endParaRPr>
              </a:p>
            </p:txBody>
          </p:sp>
        </p:grpSp>
        <p:sp>
          <p:nvSpPr>
            <p:cNvPr id="1035" name="AutoShape 11"/>
            <p:cNvSpPr>
              <a:spLocks noChangeArrowheads="1"/>
            </p:cNvSpPr>
            <p:nvPr/>
          </p:nvSpPr>
          <p:spPr bwMode="auto">
            <a:xfrm rot="-961311">
              <a:off x="4377" y="1928"/>
              <a:ext cx="1849" cy="140"/>
            </a:xfrm>
            <a:prstGeom prst="rightArrow">
              <a:avLst>
                <a:gd name="adj1" fmla="val 50000"/>
                <a:gd name="adj2" fmla="val 330179"/>
              </a:avLst>
            </a:prstGeom>
            <a:solidFill>
              <a:srgbClr val="000000"/>
            </a:solidFill>
            <a:ln w="9525" algn="ctr">
              <a:solidFill>
                <a:srgbClr val="FFFF99"/>
              </a:solidFill>
              <a:prstDash val="lgDashDotDot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slide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255" y="7620"/>
            <a:ext cx="12207240" cy="6876415"/>
          </a:xfrm>
          <a:prstGeom prst="rect">
            <a:avLst/>
          </a:prstGeom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57188" y="285751"/>
            <a:ext cx="8786812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三、布局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先谋后动</a:t>
            </a:r>
            <a:endParaRPr lang="zh-CN" altLang="en-US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1000108"/>
            <a:ext cx="1895071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r>
              <a:rPr lang="en-US" altLang="zh-CN" sz="2400" dirty="0" smtClean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dirty="0" smtClean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、手工布局</a:t>
            </a:r>
            <a:endParaRPr lang="zh-CN" altLang="en-US" sz="2400" dirty="0" smtClean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522270" y="2368542"/>
            <a:ext cx="1357313" cy="433388"/>
          </a:xfrm>
          <a:prstGeom prst="roundRect">
            <a:avLst>
              <a:gd name="adj" fmla="val 16667"/>
            </a:avLst>
          </a:prstGeom>
          <a:solidFill>
            <a:srgbClr val="01B1ED"/>
          </a:solidFill>
          <a:ln w="9525">
            <a:noFill/>
            <a:miter lim="800000"/>
          </a:ln>
        </p:spPr>
        <p:txBody>
          <a:bodyPr wrap="none" anchor="ctr"/>
          <a:p>
            <a:pPr algn="ctr"/>
            <a:r>
              <a:rPr lang="zh-CN" altLang="en-US" sz="2000" dirty="0" smtClean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无网表</a:t>
            </a:r>
            <a:endParaRPr lang="zh-CN" altLang="en-US" sz="2000" dirty="0" smtClean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4060173" y="1604634"/>
            <a:ext cx="1058863" cy="433387"/>
          </a:xfrm>
          <a:prstGeom prst="roundRect">
            <a:avLst>
              <a:gd name="adj" fmla="val 16667"/>
            </a:avLst>
          </a:prstGeom>
          <a:solidFill>
            <a:srgbClr val="01B1ED"/>
          </a:solidFill>
          <a:ln w="9525">
            <a:noFill/>
            <a:miter lim="800000"/>
          </a:ln>
        </p:spPr>
        <p:txBody>
          <a:bodyPr wrap="none" anchor="ctr"/>
          <a:p>
            <a:pPr algn="ctr"/>
            <a:r>
              <a:rPr lang="zh-CN" altLang="en-US" sz="2000" dirty="0" smtClean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有网表</a:t>
            </a:r>
            <a:endParaRPr lang="zh-CN" altLang="en-US" sz="2000" dirty="0" smtClean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" name="Straight Connector 89"/>
          <p:cNvCxnSpPr/>
          <p:nvPr/>
        </p:nvCxnSpPr>
        <p:spPr>
          <a:xfrm>
            <a:off x="1765300" y="1489075"/>
            <a:ext cx="2218055" cy="357505"/>
          </a:xfrm>
          <a:prstGeom prst="line">
            <a:avLst/>
          </a:prstGeom>
          <a:ln w="63500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0"/>
          <p:cNvCxnSpPr/>
          <p:nvPr/>
        </p:nvCxnSpPr>
        <p:spPr>
          <a:xfrm flipH="1">
            <a:off x="1236645" y="1489067"/>
            <a:ext cx="528638" cy="849313"/>
          </a:xfrm>
          <a:prstGeom prst="line">
            <a:avLst/>
          </a:prstGeom>
          <a:ln w="63500">
            <a:solidFill>
              <a:srgbClr val="01B1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0585" y="611505"/>
            <a:ext cx="4929505" cy="2817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3500438"/>
            <a:ext cx="5072098" cy="250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右箭头 15"/>
          <p:cNvSpPr/>
          <p:nvPr/>
        </p:nvSpPr>
        <p:spPr>
          <a:xfrm>
            <a:off x="5157778" y="1737985"/>
            <a:ext cx="642942" cy="214314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下箭头 16"/>
          <p:cNvSpPr/>
          <p:nvPr/>
        </p:nvSpPr>
        <p:spPr>
          <a:xfrm>
            <a:off x="1071538" y="2857496"/>
            <a:ext cx="214314" cy="64294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云形标注 17"/>
          <p:cNvSpPr/>
          <p:nvPr/>
        </p:nvSpPr>
        <p:spPr>
          <a:xfrm>
            <a:off x="8930646" y="319065"/>
            <a:ext cx="3143272" cy="1285884"/>
          </a:xfrm>
          <a:prstGeom prst="cloudCallout">
            <a:avLst>
              <a:gd name="adj1" fmla="val -11295"/>
              <a:gd name="adj2" fmla="val 531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dirty="0" smtClean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元件搬家：</a:t>
            </a:r>
            <a:endParaRPr lang="zh-CN" altLang="en-US" dirty="0" smtClean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dirty="0" smtClean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有元件，有连接关系的飞线、有远近的力向量</a:t>
            </a:r>
            <a:endParaRPr lang="zh-CN" altLang="en-US" dirty="0" smtClean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881364" y="611804"/>
            <a:ext cx="428628" cy="4286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云形标注 20"/>
          <p:cNvSpPr/>
          <p:nvPr/>
        </p:nvSpPr>
        <p:spPr>
          <a:xfrm>
            <a:off x="2679042" y="5812146"/>
            <a:ext cx="4143404" cy="1071594"/>
          </a:xfrm>
          <a:prstGeom prst="cloudCallout">
            <a:avLst>
              <a:gd name="adj1" fmla="val -32278"/>
              <a:gd name="adj2" fmla="val -59904"/>
            </a:avLst>
          </a:prstGeom>
          <a:solidFill>
            <a:srgbClr val="55F1B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p>
            <a:pPr algn="ctr"/>
            <a:endParaRPr lang="en-US" altLang="zh-CN" dirty="0" smtClean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dirty="0" smtClean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封装复制：</a:t>
            </a:r>
            <a:endParaRPr lang="zh-CN" altLang="en-US" dirty="0" smtClean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dirty="0" smtClean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无元件，无飞线、力向量</a:t>
            </a:r>
            <a:endParaRPr lang="zh-CN" altLang="en-US" dirty="0" smtClean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dirty="0" smtClean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可现场设置飞线</a:t>
            </a:r>
            <a:endParaRPr lang="zh-CN" altLang="en-US" dirty="0" smtClean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dirty="0" smtClean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371965" y="4330700"/>
            <a:ext cx="1508125" cy="234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" name="椭圆 22"/>
          <p:cNvSpPr/>
          <p:nvPr/>
        </p:nvSpPr>
        <p:spPr>
          <a:xfrm>
            <a:off x="500034" y="3429000"/>
            <a:ext cx="428628" cy="5000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475546" y="5135574"/>
            <a:ext cx="737759" cy="676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右箭头 19"/>
          <p:cNvSpPr/>
          <p:nvPr/>
        </p:nvSpPr>
        <p:spPr>
          <a:xfrm>
            <a:off x="6550660" y="5350510"/>
            <a:ext cx="721360" cy="285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右箭头 2"/>
          <p:cNvSpPr/>
          <p:nvPr/>
        </p:nvSpPr>
        <p:spPr>
          <a:xfrm>
            <a:off x="8435975" y="5330825"/>
            <a:ext cx="721360" cy="285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slide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" y="-10160"/>
            <a:ext cx="12207240" cy="6876415"/>
          </a:xfrm>
          <a:prstGeom prst="rect">
            <a:avLst/>
          </a:prstGeom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57188" y="285751"/>
            <a:ext cx="8786812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三、布局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先谋后动</a:t>
            </a:r>
            <a:endParaRPr lang="zh-CN" altLang="en-US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460" y="939165"/>
            <a:ext cx="9674860" cy="5735955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3568700" y="1938020"/>
            <a:ext cx="1010285" cy="2731770"/>
          </a:xfrm>
          <a:prstGeom prst="roundRect">
            <a:avLst/>
          </a:prstGeom>
          <a:noFill/>
          <a:ln w="635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767455" y="2010410"/>
            <a:ext cx="613410" cy="28670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元器件封装列表</a:t>
            </a:r>
            <a:endParaRPr lang="zh-CN" altLang="en-US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hero1副本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-5715"/>
            <a:ext cx="12223750" cy="6875145"/>
          </a:xfrm>
          <a:prstGeom prst="rect">
            <a:avLst/>
          </a:prstGeom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57188" y="285751"/>
            <a:ext cx="8786812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四、布线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自动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&amp;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手动</a:t>
            </a:r>
            <a:endParaRPr lang="zh-CN" altLang="en-US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990" y="1004570"/>
            <a:ext cx="6814185" cy="57880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hero1副本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-5715"/>
            <a:ext cx="12223750" cy="6875145"/>
          </a:xfrm>
          <a:prstGeom prst="rect">
            <a:avLst/>
          </a:prstGeom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57188" y="285751"/>
            <a:ext cx="8786812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四、布线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自动</a:t>
            </a:r>
            <a:r>
              <a:rPr lang="zh-CN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布线配置</a:t>
            </a:r>
            <a:endParaRPr lang="zh-CN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010" y="911225"/>
            <a:ext cx="6681470" cy="1719580"/>
          </a:xfrm>
          <a:prstGeom prst="rect">
            <a:avLst/>
          </a:prstGeom>
        </p:spPr>
      </p:pic>
      <p:sp>
        <p:nvSpPr>
          <p:cNvPr id="6" name="TextBox 8"/>
          <p:cNvSpPr txBox="1"/>
          <p:nvPr/>
        </p:nvSpPr>
        <p:spPr>
          <a:xfrm>
            <a:off x="698500" y="2734310"/>
            <a:ext cx="11030585" cy="39382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ts val="3000"/>
              </a:lnSpc>
            </a:pPr>
            <a:r>
              <a:rPr lang="en-US" altLang="zh-CN" sz="2000" b="1" dirty="0" err="1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@ </a:t>
            </a:r>
            <a:r>
              <a:rPr lang="zh-CN" sz="2000" b="1" dirty="0" err="1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扇出修改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：从</a:t>
            </a:r>
            <a:r>
              <a:rPr 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SMD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焊盘过孔进行逃逸布线，使布线时容易连接到焊盘。</a:t>
            </a:r>
            <a:endParaRPr lang="zh-CN" altLang="en-US" sz="20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auto">
              <a:lnSpc>
                <a:spcPts val="3000"/>
              </a:lnSpc>
            </a:pPr>
            <a:r>
              <a:rPr lang="en-US" altLang="zh-CN" sz="20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@ </a:t>
            </a:r>
            <a:r>
              <a:rPr lang="zh-CN" altLang="en-US" sz="20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布线修改：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超过</a:t>
            </a:r>
            <a:r>
              <a:rPr 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50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对布线效果没有明显的改善。</a:t>
            </a:r>
            <a:endParaRPr lang="zh-CN" altLang="en-US" sz="20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auto">
              <a:lnSpc>
                <a:spcPts val="3000"/>
              </a:lnSpc>
            </a:pPr>
            <a:r>
              <a:rPr lang="en-US" altLang="zh-CN" sz="20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@ </a:t>
            </a:r>
            <a:r>
              <a:rPr lang="zh-CN" altLang="en-US" sz="20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清除修改：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将以高过孔代价撤消、重布每个网络，以最高的代价制作安全间距和克服违规。默</a:t>
            </a:r>
            <a:endParaRPr lang="zh-CN" altLang="en-US" sz="20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auto">
              <a:lnSpc>
                <a:spcPts val="3000"/>
              </a:lnSpc>
            </a:pP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    认值对大多数板是足够用了。</a:t>
            </a:r>
            <a:endParaRPr lang="zh-CN" altLang="en-US" sz="20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auto">
              <a:lnSpc>
                <a:spcPts val="3000"/>
              </a:lnSpc>
            </a:pPr>
            <a:r>
              <a:rPr lang="en-US" altLang="zh-CN" sz="20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@ </a:t>
            </a:r>
            <a:r>
              <a:rPr lang="zh-CN" altLang="en-US" sz="20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重复次数：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重复进行</a:t>
            </a:r>
            <a:r>
              <a:rPr 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Routing Pass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Cleaning Pass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的次数。该自动布线器是基于形状的布线</a:t>
            </a:r>
            <a:endParaRPr lang="zh-CN" altLang="en-US" sz="20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auto">
              <a:lnSpc>
                <a:spcPts val="3000"/>
              </a:lnSpc>
            </a:pP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    器，所以重复布线、清除有助于达到高的布通率。默认值对大多数</a:t>
            </a:r>
            <a:r>
              <a:rPr 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PCB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足够了，但</a:t>
            </a:r>
            <a:endParaRPr lang="zh-CN" altLang="en-US" sz="20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auto">
              <a:lnSpc>
                <a:spcPts val="3000"/>
              </a:lnSpc>
            </a:pP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    对更复杂或高密度板，增加此值有好处。</a:t>
            </a:r>
            <a:endParaRPr lang="zh-CN" altLang="en-US" sz="20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auto">
              <a:lnSpc>
                <a:spcPts val="3000"/>
              </a:lnSpc>
            </a:pPr>
            <a:r>
              <a:rPr lang="en-US" altLang="zh-CN" sz="20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@ </a:t>
            </a:r>
            <a:r>
              <a:rPr lang="zh-CN" altLang="en-US" sz="20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过滤修改：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在布线器完成指定的重复布线、撤消的次数后执行，撤消任何有冲突的线。默认值</a:t>
            </a:r>
            <a:endParaRPr lang="zh-CN" altLang="en-US" sz="20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auto">
              <a:lnSpc>
                <a:spcPts val="3000"/>
              </a:lnSpc>
            </a:pP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    对大多数设计是足够的了。</a:t>
            </a:r>
            <a:endParaRPr lang="zh-CN" altLang="en-US" sz="20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auto">
              <a:lnSpc>
                <a:spcPts val="3000"/>
              </a:lnSpc>
            </a:pPr>
            <a:r>
              <a:rPr lang="en-US" altLang="zh-CN" sz="2000" b="1" dirty="0" err="1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@ </a:t>
            </a:r>
            <a:r>
              <a:rPr lang="zh-CN" sz="2000" b="1" dirty="0" err="1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重转角修改</a:t>
            </a:r>
            <a:r>
              <a:rPr lang="zh-CN" altLang="en-US" sz="20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拐角优化，是布线的最后一步，将</a:t>
            </a:r>
            <a:r>
              <a:rPr 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90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度走线改为</a:t>
            </a:r>
            <a:r>
              <a:rPr 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45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度或</a:t>
            </a:r>
            <a:r>
              <a:rPr 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135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度以减少线长。</a:t>
            </a:r>
            <a:endParaRPr lang="zh-CN" altLang="en-US" sz="20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hero1副本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875" y="-8890"/>
            <a:ext cx="12223750" cy="6875145"/>
          </a:xfrm>
          <a:prstGeom prst="rect">
            <a:avLst/>
          </a:prstGeom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57188" y="285751"/>
            <a:ext cx="8786812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四、布线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自动</a:t>
            </a:r>
            <a:r>
              <a:rPr lang="zh-CN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布线的设计规则</a:t>
            </a:r>
            <a:endParaRPr lang="zh-CN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87830"/>
            <a:ext cx="3263265" cy="34810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12285" y="1097915"/>
            <a:ext cx="7454900" cy="5220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ts val="4000"/>
              </a:lnSpc>
            </a:pPr>
            <a:r>
              <a:rPr lang="en-US" altLang="zh-CN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设计规则对布线器提供了附加的引导，并指出默认的布线运算法则。默认值对绝大多数设计是足够用的。</a:t>
            </a:r>
            <a:endParaRPr lang="zh-CN" altLang="en-US" sz="20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auto">
              <a:lnSpc>
                <a:spcPts val="4000"/>
              </a:lnSpc>
            </a:pPr>
            <a:r>
              <a:rPr lang="en-US" sz="20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      @</a:t>
            </a:r>
            <a:r>
              <a:rPr lang="zh-CN" altLang="en-US" sz="20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布线网格：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指定默认的布线网格，建议布线器优先采用网格来放置导线，但不会受限于布线网格。　</a:t>
            </a:r>
            <a:endParaRPr lang="zh-CN" altLang="en-US" sz="20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auto">
              <a:lnSpc>
                <a:spcPts val="4000"/>
              </a:lnSpc>
            </a:pPr>
            <a:r>
              <a:rPr lang="en-US" altLang="zh-CN" sz="20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      @</a:t>
            </a:r>
            <a:r>
              <a:rPr lang="zh-CN" altLang="en-US" sz="20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过孔网络：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指定默认的过孔网格，是布线器在放置过孔时优先采用的网格，但不会将过孔限制到网格。</a:t>
            </a:r>
            <a:endParaRPr lang="zh-CN" altLang="en-US" sz="20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auto">
              <a:lnSpc>
                <a:spcPts val="4000"/>
              </a:lnSpc>
            </a:pPr>
            <a:r>
              <a:rPr lang="en-US" sz="20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      @</a:t>
            </a:r>
            <a:r>
              <a:rPr lang="zh-CN" sz="20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是否允许脱离网格布线</a:t>
            </a:r>
            <a:r>
              <a:rPr lang="zh-CN" altLang="en-US" sz="20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该选项默认是打开的，决定了布线器是否基于网格布线，或在必要时非网格布线。强烈建议保留默认设置，因为关闭它在大多数情况下对布线器造成不利影响。</a:t>
            </a:r>
            <a:endParaRPr lang="zh-CN" altLang="en-US" sz="20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auto">
              <a:lnSpc>
                <a:spcPts val="4000"/>
              </a:lnSpc>
            </a:pPr>
            <a:r>
              <a:rPr lang="en-US" sz="2000" b="1" dirty="0" err="1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       @</a:t>
            </a:r>
            <a:r>
              <a:rPr lang="zh-CN" altLang="en-US" sz="2000" b="1" dirty="0" err="1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是否使用自动缩颈：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使能自动缩颈。</a:t>
            </a:r>
            <a:endParaRPr lang="zh-CN" altLang="en-US" sz="20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hero1副本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-5715"/>
            <a:ext cx="12223750" cy="6875145"/>
          </a:xfrm>
          <a:prstGeom prst="rect">
            <a:avLst/>
          </a:prstGeom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57188" y="285751"/>
            <a:ext cx="8786812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四、布线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布线冲突处理</a:t>
            </a:r>
            <a:endParaRPr lang="zh-CN" altLang="en-US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70" y="1064895"/>
            <a:ext cx="4953000" cy="240347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6171565" y="1064895"/>
            <a:ext cx="5563235" cy="2306955"/>
          </a:xfrm>
          <a:prstGeom prst="rect">
            <a:avLst/>
          </a:prstGeom>
        </p:spPr>
        <p:txBody>
          <a:bodyPr wrap="square">
            <a:spAutoFit/>
          </a:bodyPr>
          <a:p>
            <a:pPr lvl="0" fontAlgn="auto">
              <a:lnSpc>
                <a:spcPct val="150000"/>
              </a:lnSpc>
            </a:pPr>
            <a:r>
              <a:rPr lang="en-US" altLang="zh-CN" sz="24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sz="24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布线器是基于成本计算工作的，所以它首先根据理想位置布线，然后增加非法导线成本直到无冲突存在。该选项设置</a:t>
            </a:r>
            <a:r>
              <a:rPr lang="en-US" sz="24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ARES</a:t>
            </a:r>
            <a:r>
              <a:rPr lang="zh-CN" altLang="en-US" sz="24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按以下两种如何处理冲突：</a:t>
            </a:r>
            <a:endParaRPr lang="zh-CN" altLang="en-US" sz="24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6270" y="3901440"/>
            <a:ext cx="1083564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en-US" sz="24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       @</a:t>
            </a:r>
            <a:r>
              <a:rPr lang="zh-CN" altLang="en-US" sz="24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将冲突视为未连接</a:t>
            </a:r>
            <a:r>
              <a:rPr lang="zh-CN" altLang="en-US" sz="24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：当布线与其它线相交或是非法时，布线器被中止或停止布线，非法布线也被删除未完成的布线保持飞线连接状态。</a:t>
            </a:r>
            <a:endParaRPr lang="zh-CN" altLang="en-US" sz="24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en-US" altLang="zh-CN" sz="24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@</a:t>
            </a:r>
            <a:r>
              <a:rPr lang="zh-CN" altLang="en-US" sz="24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将冲突视为非法走线</a:t>
            </a:r>
            <a:r>
              <a:rPr lang="zh-CN" altLang="en-US" sz="24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：选中该项时，所有的冲突被当作非法导线（显示违反设计规则，以黄色闪显）。</a:t>
            </a:r>
            <a:endParaRPr lang="zh-CN" altLang="en-US" sz="24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hero1副本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-5715"/>
            <a:ext cx="12223750" cy="6875145"/>
          </a:xfrm>
          <a:prstGeom prst="rect">
            <a:avLst/>
          </a:prstGeom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57188" y="285751"/>
            <a:ext cx="8786812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四、布线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CRC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错误</a:t>
            </a:r>
            <a:endParaRPr lang="zh-CN" altLang="en-US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885" y="1159510"/>
            <a:ext cx="5126355" cy="2331085"/>
          </a:xfrm>
          <a:prstGeom prst="rect">
            <a:avLst/>
          </a:prstGeom>
        </p:spPr>
      </p:pic>
      <p:pic>
        <p:nvPicPr>
          <p:cNvPr id="5" name="图片 4" descr="QQ截图201707211116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035" y="3998595"/>
            <a:ext cx="5497830" cy="2458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hero1副本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-5715"/>
            <a:ext cx="12223750" cy="6875145"/>
          </a:xfrm>
          <a:prstGeom prst="rect">
            <a:avLst/>
          </a:prstGeom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57188" y="285751"/>
            <a:ext cx="8786812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四、布线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实时自动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DRC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检测</a:t>
            </a:r>
            <a:endParaRPr lang="zh-CN" altLang="en-US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220" y="1191260"/>
            <a:ext cx="9567545" cy="5168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hero1副本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-5715"/>
            <a:ext cx="12223750" cy="6875145"/>
          </a:xfrm>
          <a:prstGeom prst="rect">
            <a:avLst/>
          </a:prstGeom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57188" y="285751"/>
            <a:ext cx="8786812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四、布线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查看网络类下的线型</a:t>
            </a:r>
            <a:endParaRPr lang="zh-CN" altLang="en-US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195" y="1382395"/>
            <a:ext cx="8266430" cy="46589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hero1副本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-5715"/>
            <a:ext cx="12223750" cy="6875145"/>
          </a:xfrm>
          <a:prstGeom prst="rect">
            <a:avLst/>
          </a:prstGeom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57188" y="285751"/>
            <a:ext cx="8786812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四、布线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评估布线</a:t>
            </a:r>
            <a:endParaRPr lang="zh-CN" altLang="en-US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635" y="1116965"/>
            <a:ext cx="10069830" cy="50539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hero1副本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-5715"/>
            <a:ext cx="12223750" cy="6875145"/>
          </a:xfrm>
          <a:prstGeom prst="rect">
            <a:avLst/>
          </a:prstGeom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57188" y="285751"/>
            <a:ext cx="8786812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四、布线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敷铜（整板）</a:t>
            </a:r>
            <a:endParaRPr lang="zh-CN" altLang="en-US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205865"/>
            <a:ext cx="9559925" cy="50317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hero1副本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-5715"/>
            <a:ext cx="12223750" cy="6875145"/>
          </a:xfrm>
          <a:prstGeom prst="rect">
            <a:avLst/>
          </a:prstGeom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57188" y="285751"/>
            <a:ext cx="8786812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四、布线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敷铜（局部）</a:t>
            </a:r>
            <a:endParaRPr lang="zh-CN" altLang="en-US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145" y="1153795"/>
            <a:ext cx="9782810" cy="544893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hero1副本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875" y="-8255"/>
            <a:ext cx="12223750" cy="6875145"/>
          </a:xfrm>
          <a:prstGeom prst="rect">
            <a:avLst/>
          </a:prstGeom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57188" y="285751"/>
            <a:ext cx="8786812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四、布线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敷铜类型</a:t>
            </a:r>
            <a:endParaRPr lang="zh-CN" altLang="en-US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956945" y="2164715"/>
            <a:ext cx="4561840" cy="22847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419860" y="2165350"/>
            <a:ext cx="4561840" cy="22853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815715" y="2165985"/>
            <a:ext cx="4560570" cy="2286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204585" y="2167255"/>
            <a:ext cx="4563110" cy="22853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608695" y="2167890"/>
            <a:ext cx="4561840" cy="2286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13105" y="5591810"/>
            <a:ext cx="12217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FFFF00"/>
                </a:solidFill>
                <a:effectLst/>
              </a:rPr>
              <a:t>Solid</a:t>
            </a:r>
            <a:endParaRPr lang="en-US" altLang="zh-CN" sz="3200">
              <a:solidFill>
                <a:srgbClr val="FFFF00"/>
              </a:solidFill>
              <a:effectLst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961005" y="5591810"/>
            <a:ext cx="14160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FFFF00"/>
                </a:solidFill>
                <a:effectLst/>
              </a:rPr>
              <a:t>Outline</a:t>
            </a:r>
            <a:endParaRPr lang="en-US" altLang="zh-CN" sz="3200">
              <a:solidFill>
                <a:srgbClr val="FFFF00"/>
              </a:solidFill>
              <a:effectLst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309870" y="5591810"/>
            <a:ext cx="17183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FFFF00"/>
                </a:solidFill>
                <a:effectLst/>
              </a:rPr>
              <a:t>Hatched</a:t>
            </a:r>
            <a:endParaRPr lang="en-US" altLang="zh-CN" sz="3200">
              <a:solidFill>
                <a:srgbClr val="FFFF00"/>
              </a:solidFill>
              <a:effectLst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839710" y="5591810"/>
            <a:ext cx="15817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FFFF00"/>
                </a:solidFill>
                <a:effectLst/>
              </a:rPr>
              <a:t>Empty</a:t>
            </a:r>
            <a:endParaRPr lang="en-US" altLang="zh-CN" sz="3200">
              <a:solidFill>
                <a:srgbClr val="FFFF00"/>
              </a:solidFill>
              <a:effectLst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847580" y="5591810"/>
            <a:ext cx="20897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FFFF00"/>
                </a:solidFill>
                <a:effectLst/>
              </a:rPr>
              <a:t>Compatible</a:t>
            </a:r>
            <a:endParaRPr lang="en-US" altLang="zh-CN" sz="3200">
              <a:solidFill>
                <a:srgbClr val="FFFF00"/>
              </a:solidFill>
              <a:effectLst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hero1副本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-5715"/>
            <a:ext cx="12223750" cy="6875145"/>
          </a:xfrm>
          <a:prstGeom prst="rect">
            <a:avLst/>
          </a:prstGeom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57188" y="285751"/>
            <a:ext cx="8786812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四、布线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敷铜的几个重要尺寸</a:t>
            </a:r>
            <a:endParaRPr lang="zh-CN" altLang="en-US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600" y="1066800"/>
            <a:ext cx="7944485" cy="569087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hero1副本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-5715"/>
            <a:ext cx="12223750" cy="6875145"/>
          </a:xfrm>
          <a:prstGeom prst="rect">
            <a:avLst/>
          </a:prstGeom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57188" y="285751"/>
            <a:ext cx="8786812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四、布线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泪滴设置</a:t>
            </a:r>
            <a:endParaRPr lang="zh-CN" altLang="en-US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1442" name="Picture 4" descr="L:\LAUNCH\Proteus 8.1\Images\3D_teard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745" y="4142740"/>
            <a:ext cx="4595495" cy="258889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pic>
      <p:pic>
        <p:nvPicPr>
          <p:cNvPr id="61446" name="图片 3" descr="teardr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745" y="8890"/>
            <a:ext cx="4596130" cy="39166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44" name="文本框 55300"/>
          <p:cNvSpPr txBox="1"/>
          <p:nvPr/>
        </p:nvSpPr>
        <p:spPr>
          <a:xfrm>
            <a:off x="679768" y="1051560"/>
            <a:ext cx="4681537" cy="53232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       是焊盘与导线或者是导线与导孔之间的滴装连接过度，设置泪滴的目的是在电路板受到巨大外力的冲撞时，避免导线与焊盘或者导线与导孔的接触点断开，另外，设置泪滴也可使PCB电路板显得更加美观。</a:t>
            </a:r>
            <a:endParaRPr lang="zh-CN" altLang="en-US" sz="2000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000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       泪滴的作用是避免信号线宽突然变小而造成反射，可使走线与元件焊盘之间的连接趋于平稳过渡化，解决了焊盘与走线之间的连接容易断裂的问题。</a:t>
            </a:r>
            <a:endParaRPr lang="zh-CN" altLang="en-US" sz="2000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hero1副本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-5715"/>
            <a:ext cx="12223750" cy="6875145"/>
          </a:xfrm>
          <a:prstGeom prst="rect">
            <a:avLst/>
          </a:prstGeom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57188" y="285751"/>
            <a:ext cx="8786812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四、布线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3D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预览</a:t>
            </a:r>
            <a:endParaRPr lang="zh-CN" altLang="en-US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05" y="1073150"/>
            <a:ext cx="6156960" cy="50736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495" y="1073150"/>
            <a:ext cx="3840480" cy="3021330"/>
          </a:xfrm>
          <a:prstGeom prst="rect">
            <a:avLst/>
          </a:prstGeom>
        </p:spPr>
      </p:pic>
      <p:pic>
        <p:nvPicPr>
          <p:cNvPr id="59394" name="图片 512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7740" y="4377055"/>
            <a:ext cx="2205355" cy="20624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hero2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240" y="-6985"/>
            <a:ext cx="12211685" cy="6884035"/>
          </a:xfrm>
          <a:prstGeom prst="rect">
            <a:avLst/>
          </a:prstGeom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57188" y="285751"/>
            <a:ext cx="8786812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五、输出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交付生产加工（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Gerber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3840" y="894080"/>
            <a:ext cx="5310505" cy="60928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0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sz="20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CADCAM</a:t>
            </a:r>
            <a:r>
              <a:rPr lang="zh-CN" altLang="en-US" sz="20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输出：</a:t>
            </a:r>
            <a:r>
              <a:rPr 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Gerber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NC Drill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、工具文件等。</a:t>
            </a:r>
            <a:endParaRPr lang="zh-CN" altLang="en-US" sz="20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Gerber格式是线路板行业软件描述线路板（线路层、阻焊层、字符层等）图像及钻、铣数据的文档格式集合。 它是线路板行业图像转换的标准格式。</a:t>
            </a:r>
            <a:endParaRPr lang="zh-CN" altLang="en-US" sz="20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现存Gerber有三个版本：</a:t>
            </a:r>
            <a:endParaRPr lang="zh-CN" altLang="en-US" sz="20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Gerber X2： 最新的Gerber格式，可以插入板的层叠信息及属性；</a:t>
            </a:r>
            <a:endParaRPr lang="zh-CN" altLang="en-US" sz="20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扩展Gerber即RS-274X，被普遍使用；</a:t>
            </a:r>
            <a:endParaRPr lang="zh-CN" altLang="en-US" sz="20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r>
              <a:rPr lang="zh-CN" altLang="en-US" sz="20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标准Gerber即RS-274D，是老版本，正逐渐被废弃并被RS-274X所取代。</a:t>
            </a:r>
            <a:endParaRPr lang="zh-CN" altLang="en-US" sz="20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endParaRPr lang="zh-CN" altLang="en-US" sz="2000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025" y="1174115"/>
            <a:ext cx="6173470" cy="544131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hero2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160" y="-13335"/>
            <a:ext cx="12211685" cy="6884035"/>
          </a:xfrm>
          <a:prstGeom prst="rect">
            <a:avLst/>
          </a:prstGeom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57188" y="285751"/>
            <a:ext cx="8786812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五、输出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交付生产加工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ODB++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7505" y="937895"/>
            <a:ext cx="590042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ts val="2400"/>
              </a:lnSpc>
            </a:pPr>
            <a:r>
              <a:rPr lang="en-US" altLang="zh-CN" sz="24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4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sz="24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ODB++</a:t>
            </a:r>
            <a:r>
              <a:rPr lang="zh-CN" altLang="en-US" sz="24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输出</a:t>
            </a:r>
            <a:endParaRPr lang="zh-CN" altLang="en-US" sz="2400" b="1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fontAlgn="auto">
              <a:lnSpc>
                <a:spcPts val="2400"/>
              </a:lnSpc>
            </a:pPr>
            <a:r>
              <a:rPr 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</a:t>
            </a:r>
            <a:endParaRPr lang="en-US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fontAlgn="auto">
              <a:lnSpc>
                <a:spcPts val="2400"/>
              </a:lnSpc>
            </a:pPr>
            <a:r>
              <a:rPr 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ODB++ 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格式由</a:t>
            </a:r>
            <a:r>
              <a:rPr 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Valor Systems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开发，</a:t>
            </a:r>
            <a:r>
              <a:rPr 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ODB++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是当今智能水平最高的</a:t>
            </a:r>
            <a:r>
              <a:rPr 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CAD/CAM 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数据交换格式，它可以在单个数据库中保存</a:t>
            </a:r>
            <a:r>
              <a:rPr 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PCB 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制造和装配所必需的全部工程数据。</a:t>
            </a:r>
            <a:endParaRPr lang="zh-CN" altLang="en-US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fontAlgn="auto">
              <a:lnSpc>
                <a:spcPts val="2400"/>
              </a:lnSpc>
            </a:pPr>
            <a:endParaRPr lang="zh-CN" altLang="en-US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fontAlgn="auto">
              <a:lnSpc>
                <a:spcPts val="2400"/>
              </a:lnSpc>
            </a:pPr>
            <a:r>
              <a:rPr lang="en-US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ODB++</a:t>
            </a:r>
            <a:r>
              <a:rPr lang="zh-CN" altLang="en-US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比单个的输出格式的优势在于：</a:t>
            </a:r>
            <a:endParaRPr lang="zh-CN" altLang="en-US" b="1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fontAlgn="auto">
              <a:lnSpc>
                <a:spcPts val="2400"/>
              </a:lnSpc>
            </a:pP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它是单一、标准的格式，在</a:t>
            </a:r>
            <a:r>
              <a:rPr 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PCB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生产工业中通用。</a:t>
            </a:r>
            <a:endParaRPr lang="zh-CN" altLang="en-US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fontAlgn="auto">
              <a:lnSpc>
                <a:spcPts val="2400"/>
              </a:lnSpc>
            </a:pP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生产裸板所需的所有信息，包括层栈、工具大小 、  </a:t>
            </a:r>
            <a:endParaRPr lang="zh-CN" altLang="en-US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fontAlgn="auto">
              <a:lnSpc>
                <a:spcPts val="2400"/>
              </a:lnSpc>
            </a:pP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孔的类型都包含在数据库中 ，无需人能读懂的“工  </a:t>
            </a:r>
            <a:endParaRPr lang="zh-CN" altLang="en-US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fontAlgn="auto">
              <a:lnSpc>
                <a:spcPts val="2400"/>
              </a:lnSpc>
            </a:pP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具信息文件”。</a:t>
            </a:r>
            <a:endParaRPr lang="zh-CN" altLang="en-US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fontAlgn="auto">
              <a:lnSpc>
                <a:spcPts val="2400"/>
              </a:lnSpc>
            </a:pP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因包含了封装类型、元件放置及网表信息，因此拾、</a:t>
            </a:r>
            <a:endParaRPr lang="zh-CN" altLang="en-US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fontAlgn="auto">
              <a:lnSpc>
                <a:spcPts val="2400"/>
              </a:lnSpc>
            </a:pP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放和裸板测试装备由</a:t>
            </a:r>
            <a:r>
              <a:rPr 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ODB++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数据驱动。</a:t>
            </a:r>
            <a:endParaRPr lang="zh-CN" altLang="en-US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fontAlgn="auto">
              <a:lnSpc>
                <a:spcPts val="2400"/>
              </a:lnSpc>
            </a:pP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内电层采用多边形比</a:t>
            </a:r>
            <a:r>
              <a:rPr lang="en-US" dirty="0" err="1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rastered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更可取，这样文件会</a:t>
            </a:r>
            <a:endParaRPr lang="zh-CN" altLang="en-US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fontAlgn="auto">
              <a:lnSpc>
                <a:spcPts val="2400"/>
              </a:lnSpc>
            </a:pP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较小。</a:t>
            </a:r>
            <a:endParaRPr lang="zh-CN" altLang="en-US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fontAlgn="auto">
              <a:lnSpc>
                <a:spcPts val="2400"/>
              </a:lnSpc>
            </a:pP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从</a:t>
            </a:r>
            <a:r>
              <a:rPr 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Valor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可得到免费的</a:t>
            </a:r>
            <a:r>
              <a:rPr 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ODB++ viewer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，可应用独</a:t>
            </a:r>
            <a:endParaRPr lang="zh-CN" altLang="en-US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fontAlgn="auto">
              <a:lnSpc>
                <a:spcPts val="2400"/>
              </a:lnSpc>
            </a:pP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立软件封装查验正确性。</a:t>
            </a:r>
            <a:endParaRPr lang="zh-CN" altLang="en-US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fontAlgn="auto">
              <a:lnSpc>
                <a:spcPts val="2400"/>
              </a:lnSpc>
            </a:pPr>
            <a:endParaRPr lang="zh-CN" altLang="en-US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055" y="1012825"/>
            <a:ext cx="5459730" cy="565340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hero2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160" y="-12700"/>
            <a:ext cx="12211685" cy="6884035"/>
          </a:xfrm>
          <a:prstGeom prst="rect">
            <a:avLst/>
          </a:prstGeom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57188" y="285751"/>
            <a:ext cx="8786812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lang="zh-CN" altLang="en-US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五、输出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交付生产加工（图形输出）</a:t>
            </a:r>
            <a:endParaRPr lang="zh-CN" altLang="en-US" sz="28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75" y="1058545"/>
            <a:ext cx="4215130" cy="50723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065" y="1058545"/>
            <a:ext cx="5298440" cy="28067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065" y="4063365"/>
            <a:ext cx="5299075" cy="2640330"/>
          </a:xfrm>
          <a:prstGeom prst="rect">
            <a:avLst/>
          </a:prstGeom>
        </p:spPr>
      </p:pic>
      <p:sp>
        <p:nvSpPr>
          <p:cNvPr id="160" name=" 160"/>
          <p:cNvSpPr/>
          <p:nvPr/>
        </p:nvSpPr>
        <p:spPr>
          <a:xfrm>
            <a:off x="4956175" y="2997835"/>
            <a:ext cx="811530" cy="509270"/>
          </a:xfrm>
          <a:custGeom>
            <a:avLst/>
            <a:gdLst>
              <a:gd name="connsiteX0" fmla="*/ 2723651 w 2860172"/>
              <a:gd name="connsiteY0" fmla="*/ 817 h 2023853"/>
              <a:gd name="connsiteX1" fmla="*/ 2826935 w 2860172"/>
              <a:gd name="connsiteY1" fmla="*/ 33337 h 2023853"/>
              <a:gd name="connsiteX2" fmla="*/ 2829774 w 2860172"/>
              <a:gd name="connsiteY2" fmla="*/ 35326 h 2023853"/>
              <a:gd name="connsiteX3" fmla="*/ 2849613 w 2860172"/>
              <a:gd name="connsiteY3" fmla="*/ 185007 h 2023853"/>
              <a:gd name="connsiteX4" fmla="*/ 2807494 w 2860172"/>
              <a:gd name="connsiteY4" fmla="*/ 326285 h 2023853"/>
              <a:gd name="connsiteX5" fmla="*/ 2480152 w 2860172"/>
              <a:gd name="connsiteY5" fmla="*/ 1326140 h 2023853"/>
              <a:gd name="connsiteX6" fmla="*/ 2479216 w 2860172"/>
              <a:gd name="connsiteY6" fmla="*/ 1322755 h 2023853"/>
              <a:gd name="connsiteX7" fmla="*/ 2348905 w 2860172"/>
              <a:gd name="connsiteY7" fmla="*/ 1721466 h 2023853"/>
              <a:gd name="connsiteX8" fmla="*/ 2280556 w 2860172"/>
              <a:gd name="connsiteY8" fmla="*/ 1058272 h 2023853"/>
              <a:gd name="connsiteX9" fmla="*/ 2226338 w 2860172"/>
              <a:gd name="connsiteY9" fmla="*/ 1103673 h 2023853"/>
              <a:gd name="connsiteX10" fmla="*/ 0 w 2860172"/>
              <a:gd name="connsiteY10" fmla="*/ 2023853 h 2023853"/>
              <a:gd name="connsiteX11" fmla="*/ 1702841 w 2860172"/>
              <a:gd name="connsiteY11" fmla="*/ 735848 h 2023853"/>
              <a:gd name="connsiteX12" fmla="*/ 1811294 w 2860172"/>
              <a:gd name="connsiteY12" fmla="*/ 575004 h 2023853"/>
              <a:gd name="connsiteX13" fmla="*/ 1151281 w 2860172"/>
              <a:gd name="connsiteY13" fmla="*/ 506068 h 2023853"/>
              <a:gd name="connsiteX14" fmla="*/ 2640411 w 2860172"/>
              <a:gd name="connsiteY14" fmla="*/ 20803 h 2023853"/>
              <a:gd name="connsiteX15" fmla="*/ 2675299 w 2860172"/>
              <a:gd name="connsiteY15" fmla="*/ 10454 h 2023853"/>
              <a:gd name="connsiteX16" fmla="*/ 2723651 w 2860172"/>
              <a:gd name="connsiteY16" fmla="*/ 817 h 202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860172" h="2023853">
                <a:moveTo>
                  <a:pt x="2723651" y="817"/>
                </a:moveTo>
                <a:cubicBezTo>
                  <a:pt x="2768908" y="-3349"/>
                  <a:pt x="2804496" y="8545"/>
                  <a:pt x="2826935" y="33337"/>
                </a:cubicBezTo>
                <a:cubicBezTo>
                  <a:pt x="2828146" y="33729"/>
                  <a:pt x="2828970" y="34520"/>
                  <a:pt x="2829774" y="35326"/>
                </a:cubicBezTo>
                <a:cubicBezTo>
                  <a:pt x="2860445" y="66039"/>
                  <a:pt x="2869482" y="118360"/>
                  <a:pt x="2849613" y="185007"/>
                </a:cubicBezTo>
                <a:lnTo>
                  <a:pt x="2807494" y="326285"/>
                </a:lnTo>
                <a:lnTo>
                  <a:pt x="2480152" y="1326140"/>
                </a:lnTo>
                <a:lnTo>
                  <a:pt x="2479216" y="1322755"/>
                </a:lnTo>
                <a:lnTo>
                  <a:pt x="2348905" y="1721466"/>
                </a:lnTo>
                <a:lnTo>
                  <a:pt x="2280556" y="1058272"/>
                </a:lnTo>
                <a:lnTo>
                  <a:pt x="2226338" y="1103673"/>
                </a:lnTo>
                <a:cubicBezTo>
                  <a:pt x="1323053" y="1809646"/>
                  <a:pt x="162385" y="2005519"/>
                  <a:pt x="0" y="2023853"/>
                </a:cubicBezTo>
                <a:cubicBezTo>
                  <a:pt x="722027" y="1807246"/>
                  <a:pt x="1311081" y="1275400"/>
                  <a:pt x="1702841" y="735848"/>
                </a:cubicBezTo>
                <a:lnTo>
                  <a:pt x="1811294" y="575004"/>
                </a:lnTo>
                <a:lnTo>
                  <a:pt x="1151281" y="506068"/>
                </a:lnTo>
                <a:lnTo>
                  <a:pt x="2640411" y="20803"/>
                </a:lnTo>
                <a:lnTo>
                  <a:pt x="2675299" y="10454"/>
                </a:lnTo>
                <a:cubicBezTo>
                  <a:pt x="2692405" y="5379"/>
                  <a:pt x="2708565" y="2206"/>
                  <a:pt x="2723651" y="817"/>
                </a:cubicBezTo>
                <a:close/>
              </a:path>
            </a:pathLst>
          </a:custGeom>
          <a:gradFill>
            <a:gsLst>
              <a:gs pos="0">
                <a:srgbClr val="FBFB11"/>
              </a:gs>
              <a:gs pos="100000">
                <a:srgbClr val="83830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 160"/>
          <p:cNvSpPr/>
          <p:nvPr/>
        </p:nvSpPr>
        <p:spPr>
          <a:xfrm rot="19380000" flipV="1">
            <a:off x="5030470" y="4303395"/>
            <a:ext cx="662305" cy="775335"/>
          </a:xfrm>
          <a:custGeom>
            <a:avLst/>
            <a:gdLst>
              <a:gd name="connsiteX0" fmla="*/ 2723651 w 2860172"/>
              <a:gd name="connsiteY0" fmla="*/ 817 h 2023853"/>
              <a:gd name="connsiteX1" fmla="*/ 2826935 w 2860172"/>
              <a:gd name="connsiteY1" fmla="*/ 33337 h 2023853"/>
              <a:gd name="connsiteX2" fmla="*/ 2829774 w 2860172"/>
              <a:gd name="connsiteY2" fmla="*/ 35326 h 2023853"/>
              <a:gd name="connsiteX3" fmla="*/ 2849613 w 2860172"/>
              <a:gd name="connsiteY3" fmla="*/ 185007 h 2023853"/>
              <a:gd name="connsiteX4" fmla="*/ 2807494 w 2860172"/>
              <a:gd name="connsiteY4" fmla="*/ 326285 h 2023853"/>
              <a:gd name="connsiteX5" fmla="*/ 2480152 w 2860172"/>
              <a:gd name="connsiteY5" fmla="*/ 1326140 h 2023853"/>
              <a:gd name="connsiteX6" fmla="*/ 2479216 w 2860172"/>
              <a:gd name="connsiteY6" fmla="*/ 1322755 h 2023853"/>
              <a:gd name="connsiteX7" fmla="*/ 2348905 w 2860172"/>
              <a:gd name="connsiteY7" fmla="*/ 1721466 h 2023853"/>
              <a:gd name="connsiteX8" fmla="*/ 2280556 w 2860172"/>
              <a:gd name="connsiteY8" fmla="*/ 1058272 h 2023853"/>
              <a:gd name="connsiteX9" fmla="*/ 2226338 w 2860172"/>
              <a:gd name="connsiteY9" fmla="*/ 1103673 h 2023853"/>
              <a:gd name="connsiteX10" fmla="*/ 0 w 2860172"/>
              <a:gd name="connsiteY10" fmla="*/ 2023853 h 2023853"/>
              <a:gd name="connsiteX11" fmla="*/ 1702841 w 2860172"/>
              <a:gd name="connsiteY11" fmla="*/ 735848 h 2023853"/>
              <a:gd name="connsiteX12" fmla="*/ 1811294 w 2860172"/>
              <a:gd name="connsiteY12" fmla="*/ 575004 h 2023853"/>
              <a:gd name="connsiteX13" fmla="*/ 1151281 w 2860172"/>
              <a:gd name="connsiteY13" fmla="*/ 506068 h 2023853"/>
              <a:gd name="connsiteX14" fmla="*/ 2640411 w 2860172"/>
              <a:gd name="connsiteY14" fmla="*/ 20803 h 2023853"/>
              <a:gd name="connsiteX15" fmla="*/ 2675299 w 2860172"/>
              <a:gd name="connsiteY15" fmla="*/ 10454 h 2023853"/>
              <a:gd name="connsiteX16" fmla="*/ 2723651 w 2860172"/>
              <a:gd name="connsiteY16" fmla="*/ 817 h 202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860172" h="2023853">
                <a:moveTo>
                  <a:pt x="2723651" y="817"/>
                </a:moveTo>
                <a:cubicBezTo>
                  <a:pt x="2768908" y="-3349"/>
                  <a:pt x="2804496" y="8545"/>
                  <a:pt x="2826935" y="33337"/>
                </a:cubicBezTo>
                <a:cubicBezTo>
                  <a:pt x="2828146" y="33729"/>
                  <a:pt x="2828970" y="34520"/>
                  <a:pt x="2829774" y="35326"/>
                </a:cubicBezTo>
                <a:cubicBezTo>
                  <a:pt x="2860445" y="66039"/>
                  <a:pt x="2869482" y="118360"/>
                  <a:pt x="2849613" y="185007"/>
                </a:cubicBezTo>
                <a:lnTo>
                  <a:pt x="2807494" y="326285"/>
                </a:lnTo>
                <a:lnTo>
                  <a:pt x="2480152" y="1326140"/>
                </a:lnTo>
                <a:lnTo>
                  <a:pt x="2479216" y="1322755"/>
                </a:lnTo>
                <a:lnTo>
                  <a:pt x="2348905" y="1721466"/>
                </a:lnTo>
                <a:lnTo>
                  <a:pt x="2280556" y="1058272"/>
                </a:lnTo>
                <a:lnTo>
                  <a:pt x="2226338" y="1103673"/>
                </a:lnTo>
                <a:cubicBezTo>
                  <a:pt x="1323053" y="1809646"/>
                  <a:pt x="162385" y="2005519"/>
                  <a:pt x="0" y="2023853"/>
                </a:cubicBezTo>
                <a:cubicBezTo>
                  <a:pt x="722027" y="1807246"/>
                  <a:pt x="1311081" y="1275400"/>
                  <a:pt x="1702841" y="735848"/>
                </a:cubicBezTo>
                <a:lnTo>
                  <a:pt x="1811294" y="575004"/>
                </a:lnTo>
                <a:lnTo>
                  <a:pt x="1151281" y="506068"/>
                </a:lnTo>
                <a:lnTo>
                  <a:pt x="2640411" y="20803"/>
                </a:lnTo>
                <a:lnTo>
                  <a:pt x="2675299" y="10454"/>
                </a:lnTo>
                <a:cubicBezTo>
                  <a:pt x="2692405" y="5379"/>
                  <a:pt x="2708565" y="2206"/>
                  <a:pt x="2723651" y="817"/>
                </a:cubicBezTo>
                <a:close/>
              </a:path>
            </a:pathLst>
          </a:custGeom>
          <a:gradFill>
            <a:gsLst>
              <a:gs pos="0">
                <a:srgbClr val="FBFB11"/>
              </a:gs>
              <a:gs pos="100000">
                <a:srgbClr val="83830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2514</Words>
  <Application>WPS 演示</Application>
  <PresentationFormat>宽屏</PresentationFormat>
  <Paragraphs>208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Arial Unicode MS</vt:lpstr>
      <vt:lpstr>Calibri Light</vt:lpstr>
      <vt:lpstr>Calibri</vt:lpstr>
      <vt:lpstr>华文行楷</vt:lpstr>
      <vt:lpstr>Arial Black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lenovo</cp:lastModifiedBy>
  <cp:revision>33</cp:revision>
  <dcterms:created xsi:type="dcterms:W3CDTF">2017-07-20T09:25:00Z</dcterms:created>
  <dcterms:modified xsi:type="dcterms:W3CDTF">2017-07-21T07:03:11Z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2052-10.1.0.6660</vt:lpwstr>
  </property>
</Properties>
</file>